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FaceXFormer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261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Transformer for Multi-Task Facial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719072"/>
            <a:ext cx="8321040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8105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2025  ·  Narayan, VS, Chellappa, Patel  ·  Johns Hopkins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762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Preetom Saha Arko  ·  Md Kamruzzaman Kamrul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Purdue University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2633472" cy="868680"/>
          </a:xfrm>
          <a:prstGeom prst="rect">
            <a:avLst>
              <a:gd name="adj" fmla="val 842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803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Tasks Claimed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2834640"/>
            <a:ext cx="2633472" cy="868680"/>
          </a:xfrm>
          <a:prstGeom prst="rect">
            <a:avLst>
              <a:gd name="adj" fmla="val 842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28803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Tasks Reproduced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4408" y="32918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scope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2834640"/>
            <a:ext cx="2633472" cy="868680"/>
          </a:xfrm>
          <a:prstGeom prst="rect">
            <a:avLst>
              <a:gd name="adj" fmla="val 84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28803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129,060 Samples</a:t>
            </a:r>
          </a:p>
        </p:txBody>
      </p:sp>
      <p:sp>
        <p:nvSpPr>
          <p:cNvPr id="16" name="Text 14"/>
          <p:cNvSpPr/>
          <p:nvPr/>
        </p:nvSpPr>
        <p:spPr>
          <a:xfrm>
            <a:off x="6117336" y="32918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task-evaluations</a:t>
            </a:r>
          </a:p>
        </p:txBody>
      </p:sp>
      <p:sp>
        <p:nvSpPr>
          <p:cNvPr id="17" name="Text 15"/>
          <p:cNvSpPr/>
          <p:nvPr/>
        </p:nvSpPr>
        <p:spPr>
          <a:xfrm>
            <a:off x="41148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as a first-class scientific contribution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Released checkpoint implementation (current repo)</a:t>
            </a:r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1234440" cy="1051560"/>
          </a:xfrm>
          <a:prstGeom prst="rect">
            <a:avLst>
              <a:gd name="adj" fmla="val 6957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1978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35608" y="1143000"/>
            <a:ext cx="12801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912" y="685800"/>
            <a:ext cx="1234440" cy="1051560"/>
          </a:xfrm>
          <a:prstGeom prst="rect">
            <a:avLst>
              <a:gd name="adj" fmla="val 69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81912" y="11978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4-scale 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143000"/>
            <a:ext cx="12801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80944" y="685800"/>
            <a:ext cx="1234440" cy="1051560"/>
          </a:xfrm>
          <a:prstGeom prst="rect">
            <a:avLst>
              <a:gd name="adj" fmla="val 69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80944" y="11978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 design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983K params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33672" y="1143000"/>
            <a:ext cx="12801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685800"/>
            <a:ext cx="1234440" cy="1051560"/>
          </a:xfrm>
          <a:prstGeom prst="rect">
            <a:avLst>
              <a:gd name="adj" fmla="val 69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9976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79976" y="11978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 blocks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TSA→TFCA→FTCA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32704" y="1143000"/>
            <a:ext cx="12801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79008" y="685800"/>
            <a:ext cx="1234440" cy="1051560"/>
          </a:xfrm>
          <a:prstGeom prst="rect">
            <a:avLst>
              <a:gd name="adj" fmla="val 69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79008" y="11978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TFCA refinement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31736" y="1143000"/>
            <a:ext cx="12801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685800"/>
            <a:ext cx="1234440" cy="1051560"/>
          </a:xfrm>
          <a:prstGeom prst="rect">
            <a:avLst>
              <a:gd name="adj" fmla="val 69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777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11978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outputs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1828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Tokens  T = ⟨T₁ … Tₙ⟩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011680"/>
            <a:ext cx="402336" cy="329184"/>
          </a:xfrm>
          <a:prstGeom prst="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01168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tokens (1 per class)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432304"/>
            <a:ext cx="402336" cy="329184"/>
          </a:xfrm>
          <a:prstGeom prst="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43230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sp>
        <p:nvSpPr>
          <p:cNvPr id="34" name="Text 32"/>
          <p:cNvSpPr/>
          <p:nvPr/>
        </p:nvSpPr>
        <p:spPr>
          <a:xfrm>
            <a:off x="786384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Landmark token -&gt; MLP</a:t>
            </a:r>
          </a:p>
        </p:txBody>
      </p:sp>
      <p:sp>
        <p:nvSpPr>
          <p:cNvPr id="35" name="Shape 33"/>
          <p:cNvSpPr/>
          <p:nvPr/>
        </p:nvSpPr>
        <p:spPr>
          <a:xfrm>
            <a:off x="320040" y="2852928"/>
            <a:ext cx="402336" cy="329184"/>
          </a:xfrm>
          <a:prstGeom prst="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85292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sp>
        <p:nvSpPr>
          <p:cNvPr id="37" name="Text 35"/>
          <p:cNvSpPr/>
          <p:nvPr/>
        </p:nvSpPr>
        <p:spPr>
          <a:xfrm>
            <a:off x="786384" y="2889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Headpose token -&gt; 3-angle MLP</a:t>
            </a:r>
          </a:p>
        </p:txBody>
      </p:sp>
      <p:sp>
        <p:nvSpPr>
          <p:cNvPr id="38" name="Shape 36"/>
          <p:cNvSpPr/>
          <p:nvPr/>
        </p:nvSpPr>
        <p:spPr>
          <a:xfrm>
            <a:off x="320040" y="3273552"/>
            <a:ext cx="402336" cy="329184"/>
          </a:xfrm>
          <a:prstGeom prst="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27355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6384" y="3310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tokens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694176"/>
            <a:ext cx="402336" cy="329184"/>
          </a:xfrm>
          <a:prstGeom prst="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69417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6384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Gender / Race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114800"/>
            <a:ext cx="402336" cy="329184"/>
          </a:xfrm>
          <a:prstGeom prst="rect">
            <a:avLst>
              <a:gd name="adj" fmla="val 1111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11480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6384" y="4151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token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0" y="1828800"/>
            <a:ext cx="5257800" cy="1554480"/>
          </a:xfrm>
          <a:prstGeom prst="rect">
            <a:avLst>
              <a:gd name="adj" fmla="val 3529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22192" y="18836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FaceX Decoder Block  (×2)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822192" y="2194560"/>
            <a:ext cx="5486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0208" y="2194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 — task tokens attend each other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22192" y="2542032"/>
            <a:ext cx="5486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50208" y="2542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TFCA — task tokens query face features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822192" y="2889504"/>
            <a:ext cx="5486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50208" y="2889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FTCA — face tokens query task tokens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Released code: ImageNet-pretrained Swin-B; 8 available outputs; paper describes richer landmark/headpose heads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vs. Code: Gap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Current discrepancies after baseline fixes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" y="566928"/>
            <a:ext cx="87782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66928"/>
            <a:ext cx="228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566928"/>
            <a:ext cx="2560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Claims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566928"/>
            <a:ext cx="2560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Reality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69480" y="566928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932688"/>
            <a:ext cx="877824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932688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987552"/>
            <a:ext cx="15544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Task Scope</a:t>
            </a:r>
          </a:p>
        </p:txBody>
      </p:sp>
      <p:sp>
        <p:nvSpPr>
          <p:cNvPr id="14" name="Text 12"/>
          <p:cNvSpPr/>
          <p:nvPr/>
        </p:nvSpPr>
        <p:spPr>
          <a:xfrm>
            <a:off x="2057400" y="978408"/>
            <a:ext cx="2560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10 tasks: parsing, landmark, headpose, attribute, age, gender, race, visibility, expression, face recognition</a:t>
            </a:r>
          </a:p>
        </p:txBody>
      </p:sp>
      <p:sp>
        <p:nvSpPr>
          <p:cNvPr id="15" name="Text 13"/>
          <p:cNvSpPr/>
          <p:nvPr/>
        </p:nvSpPr>
        <p:spPr>
          <a:xfrm>
            <a:off x="4663440" y="978408"/>
            <a:ext cx="2560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8 tasks in released checkpoint/code. Expression and face recognition heads/datasets/training are absent</a:t>
            </a:r>
          </a:p>
        </p:txBody>
      </p:sp>
      <p:sp>
        <p:nvSpPr>
          <p:cNvPr id="16" name="Shape 14"/>
          <p:cNvSpPr/>
          <p:nvPr/>
        </p:nvSpPr>
        <p:spPr>
          <a:xfrm>
            <a:off x="7360920" y="1188720"/>
            <a:ext cx="1097280" cy="310896"/>
          </a:xfrm>
          <a:prstGeom prst="rect">
            <a:avLst>
              <a:gd name="adj" fmla="val 1764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188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1810512"/>
            <a:ext cx="8778240" cy="82296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810512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1865376"/>
            <a:ext cx="15544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Task Token Count</a:t>
            </a:r>
          </a:p>
        </p:txBody>
      </p:sp>
      <p:sp>
        <p:nvSpPr>
          <p:cNvPr id="21" name="Text 19"/>
          <p:cNvSpPr/>
          <p:nvPr/>
        </p:nvSpPr>
        <p:spPr>
          <a:xfrm>
            <a:off x="2057400" y="1856232"/>
            <a:ext cx="2560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Paper describes 68 landmark tokens and 9 headpose tokens / 3x3 rotation representation</a:t>
            </a:r>
          </a:p>
        </p:txBody>
      </p:sp>
      <p:sp>
        <p:nvSpPr>
          <p:cNvPr id="22" name="Text 20"/>
          <p:cNvSpPr/>
          <p:nvPr/>
        </p:nvSpPr>
        <p:spPr>
          <a:xfrm>
            <a:off x="4663440" y="1856232"/>
            <a:ext cx="2560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Released code uses 1 landmark token -&gt; 136-value MLP and 1 headpose token -&gt; 3-angle MLP</a:t>
            </a:r>
          </a:p>
        </p:txBody>
      </p:sp>
      <p:sp>
        <p:nvSpPr>
          <p:cNvPr id="23" name="Shape 21"/>
          <p:cNvSpPr/>
          <p:nvPr/>
        </p:nvSpPr>
        <p:spPr>
          <a:xfrm>
            <a:off x="7360920" y="2066544"/>
            <a:ext cx="1097280" cy="310896"/>
          </a:xfrm>
          <a:prstGeom prst="rect">
            <a:avLst>
              <a:gd name="adj" fmla="val 1764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20665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688336"/>
            <a:ext cx="877824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2688336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2743200"/>
            <a:ext cx="15544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Dataloaders / Protocols</a:t>
            </a:r>
          </a:p>
        </p:txBody>
      </p:sp>
      <p:sp>
        <p:nvSpPr>
          <p:cNvPr id="28" name="Text 26"/>
          <p:cNvSpPr/>
          <p:nvPr/>
        </p:nvSpPr>
        <p:spPr>
          <a:xfrm>
            <a:off x="2057400" y="2734056"/>
            <a:ext cx="2560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Paper references standard protocols for CelebAMask-HQ, 300W, BIWI, CelebA, UTKFace, FairFace, COFW</a:t>
            </a:r>
          </a:p>
        </p:txBody>
      </p:sp>
      <p:sp>
        <p:nvSpPr>
          <p:cNvPr id="29" name="Text 27"/>
          <p:cNvSpPr/>
          <p:nvPr/>
        </p:nvSpPr>
        <p:spPr>
          <a:xfrm>
            <a:off x="4663440" y="2734056"/>
            <a:ext cx="2560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No official dataloaders. We reconstructed loaders and fixed 300W split, CelebAMask token order, FairFace numeric labels</a:t>
            </a:r>
          </a:p>
        </p:txBody>
      </p:sp>
      <p:sp>
        <p:nvSpPr>
          <p:cNvPr id="30" name="Shape 28"/>
          <p:cNvSpPr/>
          <p:nvPr/>
        </p:nvSpPr>
        <p:spPr>
          <a:xfrm>
            <a:off x="7360920" y="2944368"/>
            <a:ext cx="1097280" cy="310896"/>
          </a:xfrm>
          <a:prstGeom prst="rect">
            <a:avLst>
              <a:gd name="adj" fmla="val 1764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2944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3566160"/>
            <a:ext cx="8778240" cy="82296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35661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Training Details</a:t>
            </a:r>
          </a:p>
        </p:txBody>
      </p:sp>
      <p:sp>
        <p:nvSpPr>
          <p:cNvPr id="34" name="Text 32"/>
          <p:cNvSpPr/>
          <p:nvPr/>
        </p:nvSpPr>
        <p:spPr>
          <a:xfrm>
            <a:off x="457200" y="3621024"/>
            <a:ext cx="15544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Loss weights, staged training, extra epochs, and some metric conventions are under-specified</a:t>
            </a:r>
          </a:p>
        </p:txBody>
      </p:sp>
      <p:sp>
        <p:nvSpPr>
          <p:cNvPr id="35" name="Text 33"/>
          <p:cNvSpPr/>
          <p:nvPr/>
        </p:nvSpPr>
        <p:spPr>
          <a:xfrm>
            <a:off x="205740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Checkpoint inference is reproducible for several tasks; full training reproduction still needs ablations and protocol validation</a:t>
            </a:r>
          </a:p>
        </p:txBody>
      </p:sp>
      <p:sp>
        <p:nvSpPr>
          <p:cNvPr id="36" name="Text 34"/>
          <p:cNvSpPr/>
          <p:nvPr/>
        </p:nvSpPr>
        <p:spPr>
          <a:xfrm>
            <a:off x="466344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t>HIGH</a:t>
            </a:r>
          </a:p>
        </p:txBody>
      </p:sp>
      <p:sp>
        <p:nvSpPr>
          <p:cNvPr id="37" name="Shape 35"/>
          <p:cNvSpPr/>
          <p:nvPr/>
        </p:nvSpPr>
        <p:spPr>
          <a:xfrm>
            <a:off x="7360920" y="3822192"/>
            <a:ext cx="1097280" cy="310896"/>
          </a:xfrm>
          <a:prstGeom prst="rect">
            <a:avLst>
              <a:gd name="adj" fmla="val 1764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3822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4261104"/>
            <a:ext cx="8778240" cy="292608"/>
          </a:xfrm>
          <a:prstGeom prst="rect">
            <a:avLst>
              <a:gd name="adj" fmla="val 125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26110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+ Remaining major unresolved issue: BIWI headpose protocol/cropping/Euler convention still far from paper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Rebuilt From Scratch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pipeline reconstruction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86968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23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Dataset Loaders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161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CelebAMask-HQ, 300W, BIWI, CelebA, LFWA, UTKFace, FairFace, COFW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08760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545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Task-Balanced Sampler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1783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Upsampling so all tasks equally represented per batch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30552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30552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67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Loss Functions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2404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Dice+CE (seg), STARLoss (landmark), Geodesic (headpose), BCE (attr/vis), L1+CE (age), CE (gender/race)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52344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52344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88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Training 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0266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DDP, 8×A100, FP16, AdamW lr=1e-4, decay @ep6,10, 12 epochs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374136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4107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3648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±18°, scale ±10%, flip, blur, grayscale, occlusion, gamma — per Appendix 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995928"/>
            <a:ext cx="41148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995928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0325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&amp; Gap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4270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Raw metric -&gt; normalized unit mapping; 300W subset reporting; checkpoint and dataset manifest per run</a:t>
            </a:r>
          </a:p>
        </p:txBody>
      </p:sp>
      <p:sp>
        <p:nvSpPr>
          <p:cNvPr id="30" name="Text 28"/>
          <p:cNvSpPr/>
          <p:nvPr/>
        </p:nvSpPr>
        <p:spPr>
          <a:xfrm>
            <a:off x="4663440" y="5943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DROPPED  (scope / compute)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886968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886968"/>
            <a:ext cx="5486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923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 Recognition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11612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RAF-DB + AffectNet — dataset licensing &amp; augmentation complexity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508760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508760"/>
            <a:ext cx="5486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5453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8032" y="1783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MS1MV3 (5.1M imgs, 93K IDs) + PartialFC/ArcFace — compute prohibitive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176272"/>
            <a:ext cx="4206240" cy="13716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2311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Infrastructure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2523744"/>
            <a:ext cx="4572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2523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NVIDIA A100 GPUs  (Purdue cluster)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2770632"/>
            <a:ext cx="4572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770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DDP  +  FP16 mixed precision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017520"/>
            <a:ext cx="4572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017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48/GPU  ·  AdamW optimizer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3264408"/>
            <a:ext cx="4572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264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epochs  +  checkpoint per epoch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621024"/>
            <a:ext cx="4206240" cy="804672"/>
          </a:xfrm>
          <a:prstGeom prst="rect">
            <a:avLst>
              <a:gd name="adj" fmla="val 6818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6758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Training Strategy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39319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3-task → 6-task → 8-task  (progressive checkpoint init)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validates sampler + loss before expanding scope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4526280"/>
            <a:ext cx="4114800" cy="384048"/>
          </a:xfrm>
          <a:prstGeom prst="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526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129,060 task-sample evaluations across 8 tasks; 12 datasets/subsets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Fresh Fixed Baseline - Released Checkpoint</a:t>
            </a:r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Full test splits - results/baseline_current_8task_fresh_fixed</a:t>
            </a:r>
          </a:p>
        </p:txBody>
      </p:sp>
      <p:sp>
        <p:nvSpPr>
          <p:cNvPr id="5" name="Shape 3"/>
          <p:cNvSpPr/>
          <p:nvPr/>
        </p:nvSpPr>
        <p:spPr>
          <a:xfrm>
            <a:off x="182880" y="566928"/>
            <a:ext cx="877824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66928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566928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566928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566928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Target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09160" y="566928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Value (norm.)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566928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23760" y="566928"/>
            <a:ext cx="16916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896112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896112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Segmentation</a:t>
            </a:r>
          </a:p>
        </p:txBody>
      </p:sp>
      <p:sp>
        <p:nvSpPr>
          <p:cNvPr id="15" name="Text 13"/>
          <p:cNvSpPr/>
          <p:nvPr/>
        </p:nvSpPr>
        <p:spPr>
          <a:xfrm>
            <a:off x="1234440" y="896112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CelebAMaskHQ (2K)</a:t>
            </a:r>
          </a:p>
        </p:txBody>
      </p:sp>
      <p:sp>
        <p:nvSpPr>
          <p:cNvPr id="16" name="Text 14"/>
          <p:cNvSpPr/>
          <p:nvPr/>
        </p:nvSpPr>
        <p:spPr>
          <a:xfrm>
            <a:off x="2697480" y="896112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F1</a:t>
            </a:r>
          </a:p>
        </p:txBody>
      </p:sp>
      <p:sp>
        <p:nvSpPr>
          <p:cNvPr id="17" name="Text 15"/>
          <p:cNvSpPr/>
          <p:nvPr/>
        </p:nvSpPr>
        <p:spPr>
          <a:xfrm>
            <a:off x="3566160" y="896112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92.01%</a:t>
            </a:r>
          </a:p>
        </p:txBody>
      </p:sp>
      <p:sp>
        <p:nvSpPr>
          <p:cNvPr id="18" name="Text 16"/>
          <p:cNvSpPr/>
          <p:nvPr/>
        </p:nvSpPr>
        <p:spPr>
          <a:xfrm>
            <a:off x="4709160" y="896112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91.77%</a:t>
            </a:r>
          </a:p>
        </p:txBody>
      </p:sp>
      <p:sp>
        <p:nvSpPr>
          <p:cNvPr id="19" name="Text 17"/>
          <p:cNvSpPr/>
          <p:nvPr/>
        </p:nvSpPr>
        <p:spPr>
          <a:xfrm>
            <a:off x="6126480" y="896112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-0.24pp</a:t>
            </a:r>
          </a:p>
        </p:txBody>
      </p:sp>
      <p:sp>
        <p:nvSpPr>
          <p:cNvPr id="20" name="Shape 18"/>
          <p:cNvSpPr/>
          <p:nvPr/>
        </p:nvSpPr>
        <p:spPr>
          <a:xfrm>
            <a:off x="7269480" y="932688"/>
            <a:ext cx="160020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9326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CLOSE</a:t>
            </a:r>
          </a:p>
        </p:txBody>
      </p:sp>
      <p:sp>
        <p:nvSpPr>
          <p:cNvPr id="22" name="Shape 20"/>
          <p:cNvSpPr/>
          <p:nvPr/>
        </p:nvSpPr>
        <p:spPr>
          <a:xfrm>
            <a:off x="182880" y="1197864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1197864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Landmark</a:t>
            </a:r>
          </a:p>
        </p:txBody>
      </p:sp>
      <p:sp>
        <p:nvSpPr>
          <p:cNvPr id="24" name="Text 22"/>
          <p:cNvSpPr/>
          <p:nvPr/>
        </p:nvSpPr>
        <p:spPr>
          <a:xfrm>
            <a:off x="1234440" y="1197864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300W full (689)</a:t>
            </a:r>
          </a:p>
        </p:txBody>
      </p:sp>
      <p:sp>
        <p:nvSpPr>
          <p:cNvPr id="25" name="Text 23"/>
          <p:cNvSpPr/>
          <p:nvPr/>
        </p:nvSpPr>
        <p:spPr>
          <a:xfrm>
            <a:off x="2697480" y="1197864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NME</a:t>
            </a:r>
          </a:p>
        </p:txBody>
      </p:sp>
      <p:sp>
        <p:nvSpPr>
          <p:cNvPr id="26" name="Text 24"/>
          <p:cNvSpPr/>
          <p:nvPr/>
        </p:nvSpPr>
        <p:spPr>
          <a:xfrm>
            <a:off x="3566160" y="1197864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4.67%</a:t>
            </a:r>
          </a:p>
        </p:txBody>
      </p:sp>
      <p:sp>
        <p:nvSpPr>
          <p:cNvPr id="27" name="Text 25"/>
          <p:cNvSpPr/>
          <p:nvPr/>
        </p:nvSpPr>
        <p:spPr>
          <a:xfrm>
            <a:off x="4709160" y="1197864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6.75%</a:t>
            </a:r>
          </a:p>
        </p:txBody>
      </p:sp>
      <p:sp>
        <p:nvSpPr>
          <p:cNvPr id="28" name="Text 26"/>
          <p:cNvSpPr/>
          <p:nvPr/>
        </p:nvSpPr>
        <p:spPr>
          <a:xfrm>
            <a:off x="6126480" y="1197864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+2.08</a:t>
            </a:r>
          </a:p>
        </p:txBody>
      </p:sp>
      <p:sp>
        <p:nvSpPr>
          <p:cNvPr id="29" name="Shape 27"/>
          <p:cNvSpPr/>
          <p:nvPr/>
        </p:nvSpPr>
        <p:spPr>
          <a:xfrm>
            <a:off x="7269480" y="1234440"/>
            <a:ext cx="160020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234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GAP</a:t>
            </a:r>
          </a:p>
        </p:txBody>
      </p:sp>
      <p:sp>
        <p:nvSpPr>
          <p:cNvPr id="31" name="Shape 29"/>
          <p:cNvSpPr/>
          <p:nvPr/>
        </p:nvSpPr>
        <p:spPr>
          <a:xfrm>
            <a:off x="182880" y="1499616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1499616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Headpose</a:t>
            </a:r>
          </a:p>
        </p:txBody>
      </p:sp>
      <p:sp>
        <p:nvSpPr>
          <p:cNvPr id="33" name="Text 31"/>
          <p:cNvSpPr/>
          <p:nvPr/>
        </p:nvSpPr>
        <p:spPr>
          <a:xfrm>
            <a:off x="1234440" y="1499616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BIWI (15,678)</a:t>
            </a:r>
          </a:p>
        </p:txBody>
      </p:sp>
      <p:sp>
        <p:nvSpPr>
          <p:cNvPr id="34" name="Text 32"/>
          <p:cNvSpPr/>
          <p:nvPr/>
        </p:nvSpPr>
        <p:spPr>
          <a:xfrm>
            <a:off x="2697480" y="1499616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 (deg)</a:t>
            </a:r>
          </a:p>
        </p:txBody>
      </p:sp>
      <p:sp>
        <p:nvSpPr>
          <p:cNvPr id="35" name="Text 33"/>
          <p:cNvSpPr/>
          <p:nvPr/>
        </p:nvSpPr>
        <p:spPr>
          <a:xfrm>
            <a:off x="3566160" y="1499616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3.52 deg</a:t>
            </a:r>
          </a:p>
        </p:txBody>
      </p:sp>
      <p:sp>
        <p:nvSpPr>
          <p:cNvPr id="36" name="Text 34"/>
          <p:cNvSpPr/>
          <p:nvPr/>
        </p:nvSpPr>
        <p:spPr>
          <a:xfrm>
            <a:off x="4709160" y="1499616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20.65 deg</a:t>
            </a:r>
          </a:p>
        </p:txBody>
      </p:sp>
      <p:sp>
        <p:nvSpPr>
          <p:cNvPr id="37" name="Text 35"/>
          <p:cNvSpPr/>
          <p:nvPr/>
        </p:nvSpPr>
        <p:spPr>
          <a:xfrm>
            <a:off x="6126480" y="1499616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+17.13 deg</a:t>
            </a:r>
          </a:p>
        </p:txBody>
      </p:sp>
      <p:sp>
        <p:nvSpPr>
          <p:cNvPr id="38" name="Shape 36"/>
          <p:cNvSpPr/>
          <p:nvPr/>
        </p:nvSpPr>
        <p:spPr>
          <a:xfrm>
            <a:off x="7269480" y="1536192"/>
            <a:ext cx="1600200" cy="228600"/>
          </a:xfrm>
          <a:prstGeom prst="rect">
            <a:avLst>
              <a:gd name="adj" fmla="val 16000"/>
            </a:avLst>
          </a:prstGeom>
          <a:solidFill>
            <a:srgbClr val="DC2626">
              <a:alpha val="18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15361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OPEN</a:t>
            </a:r>
          </a:p>
        </p:txBody>
      </p:sp>
      <p:sp>
        <p:nvSpPr>
          <p:cNvPr id="40" name="Shape 38"/>
          <p:cNvSpPr/>
          <p:nvPr/>
        </p:nvSpPr>
        <p:spPr>
          <a:xfrm>
            <a:off x="182880" y="1801368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1801368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Attribute</a:t>
            </a:r>
          </a:p>
        </p:txBody>
      </p:sp>
      <p:sp>
        <p:nvSpPr>
          <p:cNvPr id="42" name="Text 40"/>
          <p:cNvSpPr/>
          <p:nvPr/>
        </p:nvSpPr>
        <p:spPr>
          <a:xfrm>
            <a:off x="1234440" y="1801368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CelebA (19,962)</a:t>
            </a:r>
          </a:p>
        </p:txBody>
      </p:sp>
      <p:sp>
        <p:nvSpPr>
          <p:cNvPr id="43" name="Text 41"/>
          <p:cNvSpPr/>
          <p:nvPr/>
        </p:nvSpPr>
        <p:spPr>
          <a:xfrm>
            <a:off x="2697480" y="1801368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Accuracy</a:t>
            </a:r>
          </a:p>
        </p:txBody>
      </p:sp>
      <p:sp>
        <p:nvSpPr>
          <p:cNvPr id="44" name="Text 42"/>
          <p:cNvSpPr/>
          <p:nvPr/>
        </p:nvSpPr>
        <p:spPr>
          <a:xfrm>
            <a:off x="3566160" y="1801368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91.83%</a:t>
            </a:r>
          </a:p>
        </p:txBody>
      </p:sp>
      <p:sp>
        <p:nvSpPr>
          <p:cNvPr id="45" name="Text 43"/>
          <p:cNvSpPr/>
          <p:nvPr/>
        </p:nvSpPr>
        <p:spPr>
          <a:xfrm>
            <a:off x="4709160" y="1801368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91.72%</a:t>
            </a:r>
          </a:p>
        </p:txBody>
      </p:sp>
      <p:sp>
        <p:nvSpPr>
          <p:cNvPr id="46" name="Text 44"/>
          <p:cNvSpPr/>
          <p:nvPr/>
        </p:nvSpPr>
        <p:spPr>
          <a:xfrm>
            <a:off x="6126480" y="1801368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-0.11pp</a:t>
            </a:r>
          </a:p>
        </p:txBody>
      </p:sp>
      <p:sp>
        <p:nvSpPr>
          <p:cNvPr id="47" name="Shape 45"/>
          <p:cNvSpPr/>
          <p:nvPr/>
        </p:nvSpPr>
        <p:spPr>
          <a:xfrm>
            <a:off x="7269480" y="1837944"/>
            <a:ext cx="1600200" cy="228600"/>
          </a:xfrm>
          <a:prstGeom prst="rect">
            <a:avLst>
              <a:gd name="adj" fmla="val 16000"/>
            </a:avLst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18379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MATCH</a:t>
            </a:r>
          </a:p>
        </p:txBody>
      </p:sp>
      <p:sp>
        <p:nvSpPr>
          <p:cNvPr id="49" name="Shape 47"/>
          <p:cNvSpPr/>
          <p:nvPr/>
        </p:nvSpPr>
        <p:spPr>
          <a:xfrm>
            <a:off x="182880" y="2103120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103120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Attribute</a:t>
            </a:r>
          </a:p>
        </p:txBody>
      </p:sp>
      <p:sp>
        <p:nvSpPr>
          <p:cNvPr id="51" name="Text 49"/>
          <p:cNvSpPr/>
          <p:nvPr/>
        </p:nvSpPr>
        <p:spPr>
          <a:xfrm>
            <a:off x="1234440" y="2103120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LFWA (13,143)</a:t>
            </a:r>
          </a:p>
        </p:txBody>
      </p:sp>
      <p:sp>
        <p:nvSpPr>
          <p:cNvPr id="52" name="Text 50"/>
          <p:cNvSpPr/>
          <p:nvPr/>
        </p:nvSpPr>
        <p:spPr>
          <a:xfrm>
            <a:off x="2697480" y="2103120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Accuracy</a:t>
            </a:r>
          </a:p>
        </p:txBody>
      </p:sp>
      <p:sp>
        <p:nvSpPr>
          <p:cNvPr id="53" name="Text 51"/>
          <p:cNvSpPr/>
          <p:nvPr/>
        </p:nvSpPr>
        <p:spPr>
          <a:xfrm>
            <a:off x="3566160" y="2103120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54" name="Text 52"/>
          <p:cNvSpPr/>
          <p:nvPr/>
        </p:nvSpPr>
        <p:spPr>
          <a:xfrm>
            <a:off x="4709160" y="2103120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61.06%</a:t>
            </a:r>
          </a:p>
        </p:txBody>
      </p:sp>
      <p:sp>
        <p:nvSpPr>
          <p:cNvPr id="55" name="Text 53"/>
          <p:cNvSpPr/>
          <p:nvPr/>
        </p:nvSpPr>
        <p:spPr>
          <a:xfrm>
            <a:off x="6126480" y="2103120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56" name="Shape 54"/>
          <p:cNvSpPr/>
          <p:nvPr/>
        </p:nvSpPr>
        <p:spPr>
          <a:xfrm>
            <a:off x="7269480" y="2139696"/>
            <a:ext cx="160020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9480" y="2139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CROSS-DS</a:t>
            </a:r>
          </a:p>
        </p:txBody>
      </p:sp>
      <p:sp>
        <p:nvSpPr>
          <p:cNvPr id="58" name="Shape 56"/>
          <p:cNvSpPr/>
          <p:nvPr/>
        </p:nvSpPr>
        <p:spPr>
          <a:xfrm>
            <a:off x="182880" y="2404872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2404872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Age</a:t>
            </a:r>
          </a:p>
        </p:txBody>
      </p:sp>
      <p:sp>
        <p:nvSpPr>
          <p:cNvPr id="60" name="Text 58"/>
          <p:cNvSpPr/>
          <p:nvPr/>
        </p:nvSpPr>
        <p:spPr>
          <a:xfrm>
            <a:off x="1234440" y="2404872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UTKFace (3,556)</a:t>
            </a:r>
          </a:p>
        </p:txBody>
      </p:sp>
      <p:sp>
        <p:nvSpPr>
          <p:cNvPr id="61" name="Text 59"/>
          <p:cNvSpPr/>
          <p:nvPr/>
        </p:nvSpPr>
        <p:spPr>
          <a:xfrm>
            <a:off x="2697480" y="2404872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 (yrs)</a:t>
            </a:r>
          </a:p>
        </p:txBody>
      </p:sp>
      <p:sp>
        <p:nvSpPr>
          <p:cNvPr id="62" name="Text 60"/>
          <p:cNvSpPr/>
          <p:nvPr/>
        </p:nvSpPr>
        <p:spPr>
          <a:xfrm>
            <a:off x="3566160" y="2404872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4.17 yr</a:t>
            </a:r>
          </a:p>
        </p:txBody>
      </p:sp>
      <p:sp>
        <p:nvSpPr>
          <p:cNvPr id="63" name="Text 61"/>
          <p:cNvSpPr/>
          <p:nvPr/>
        </p:nvSpPr>
        <p:spPr>
          <a:xfrm>
            <a:off x="4709160" y="2404872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1.17 yr</a:t>
            </a:r>
          </a:p>
        </p:txBody>
      </p:sp>
      <p:sp>
        <p:nvSpPr>
          <p:cNvPr id="64" name="Text 62"/>
          <p:cNvSpPr/>
          <p:nvPr/>
        </p:nvSpPr>
        <p:spPr>
          <a:xfrm>
            <a:off x="6126480" y="2404872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-3.00yr</a:t>
            </a:r>
          </a:p>
        </p:txBody>
      </p:sp>
      <p:sp>
        <p:nvSpPr>
          <p:cNvPr id="65" name="Shape 63"/>
          <p:cNvSpPr/>
          <p:nvPr/>
        </p:nvSpPr>
        <p:spPr>
          <a:xfrm>
            <a:off x="7269480" y="2441448"/>
            <a:ext cx="1600200" cy="228600"/>
          </a:xfrm>
          <a:prstGeom prst="rect">
            <a:avLst>
              <a:gd name="adj" fmla="val 16000"/>
            </a:avLst>
          </a:prstGeom>
          <a:solidFill>
            <a:srgbClr val="DC2626">
              <a:alpha val="18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69480" y="24414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VERIFY</a:t>
            </a:r>
          </a:p>
        </p:txBody>
      </p:sp>
      <p:sp>
        <p:nvSpPr>
          <p:cNvPr id="67" name="Shape 65"/>
          <p:cNvSpPr/>
          <p:nvPr/>
        </p:nvSpPr>
        <p:spPr>
          <a:xfrm>
            <a:off x="182880" y="2706624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2880" y="2706624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Age</a:t>
            </a:r>
          </a:p>
        </p:txBody>
      </p:sp>
      <p:sp>
        <p:nvSpPr>
          <p:cNvPr id="69" name="Text 67"/>
          <p:cNvSpPr/>
          <p:nvPr/>
        </p:nvSpPr>
        <p:spPr>
          <a:xfrm>
            <a:off x="1234440" y="2706624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FairFace (21,908)</a:t>
            </a:r>
          </a:p>
        </p:txBody>
      </p:sp>
      <p:sp>
        <p:nvSpPr>
          <p:cNvPr id="70" name="Text 68"/>
          <p:cNvSpPr/>
          <p:nvPr/>
        </p:nvSpPr>
        <p:spPr>
          <a:xfrm>
            <a:off x="2697480" y="2706624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 (yrs)</a:t>
            </a:r>
          </a:p>
        </p:txBody>
      </p:sp>
      <p:sp>
        <p:nvSpPr>
          <p:cNvPr id="71" name="Text 69"/>
          <p:cNvSpPr/>
          <p:nvPr/>
        </p:nvSpPr>
        <p:spPr>
          <a:xfrm>
            <a:off x="3566160" y="2706624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72" name="Text 70"/>
          <p:cNvSpPr/>
          <p:nvPr/>
        </p:nvSpPr>
        <p:spPr>
          <a:xfrm>
            <a:off x="4709160" y="2706624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6.30 yr</a:t>
            </a:r>
          </a:p>
        </p:txBody>
      </p:sp>
      <p:sp>
        <p:nvSpPr>
          <p:cNvPr id="73" name="Text 71"/>
          <p:cNvSpPr/>
          <p:nvPr/>
        </p:nvSpPr>
        <p:spPr>
          <a:xfrm>
            <a:off x="6126480" y="2706624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74" name="Shape 72"/>
          <p:cNvSpPr/>
          <p:nvPr/>
        </p:nvSpPr>
        <p:spPr>
          <a:xfrm>
            <a:off x="7269480" y="2743200"/>
            <a:ext cx="1600200" cy="228600"/>
          </a:xfrm>
          <a:prstGeom prst="rect">
            <a:avLst>
              <a:gd name="adj" fmla="val 16000"/>
            </a:avLst>
          </a:prstGeom>
          <a:solidFill>
            <a:srgbClr val="DC2626">
              <a:alpha val="18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69480" y="2743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CROSS-DS</a:t>
            </a:r>
          </a:p>
        </p:txBody>
      </p:sp>
      <p:sp>
        <p:nvSpPr>
          <p:cNvPr id="76" name="Shape 74"/>
          <p:cNvSpPr/>
          <p:nvPr/>
        </p:nvSpPr>
        <p:spPr>
          <a:xfrm>
            <a:off x="182880" y="3008376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" y="3008376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Gender</a:t>
            </a:r>
          </a:p>
        </p:txBody>
      </p:sp>
      <p:sp>
        <p:nvSpPr>
          <p:cNvPr id="78" name="Text 76"/>
          <p:cNvSpPr/>
          <p:nvPr/>
        </p:nvSpPr>
        <p:spPr>
          <a:xfrm>
            <a:off x="1234440" y="3008376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UTKFace (3,556)</a:t>
            </a:r>
          </a:p>
        </p:txBody>
      </p:sp>
      <p:sp>
        <p:nvSpPr>
          <p:cNvPr id="79" name="Text 77"/>
          <p:cNvSpPr/>
          <p:nvPr/>
        </p:nvSpPr>
        <p:spPr>
          <a:xfrm>
            <a:off x="2697480" y="3008376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Accuracy</a:t>
            </a:r>
          </a:p>
        </p:txBody>
      </p:sp>
      <p:sp>
        <p:nvSpPr>
          <p:cNvPr id="80" name="Text 78"/>
          <p:cNvSpPr/>
          <p:nvPr/>
        </p:nvSpPr>
        <p:spPr>
          <a:xfrm>
            <a:off x="3566160" y="3008376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81" name="Text 79"/>
          <p:cNvSpPr/>
          <p:nvPr/>
        </p:nvSpPr>
        <p:spPr>
          <a:xfrm>
            <a:off x="4709160" y="3008376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99.18%</a:t>
            </a:r>
          </a:p>
        </p:txBody>
      </p:sp>
      <p:sp>
        <p:nvSpPr>
          <p:cNvPr id="82" name="Text 80"/>
          <p:cNvSpPr/>
          <p:nvPr/>
        </p:nvSpPr>
        <p:spPr>
          <a:xfrm>
            <a:off x="6126480" y="3008376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83" name="Shape 81"/>
          <p:cNvSpPr/>
          <p:nvPr/>
        </p:nvSpPr>
        <p:spPr>
          <a:xfrm>
            <a:off x="7269480" y="3044952"/>
            <a:ext cx="1600200" cy="228600"/>
          </a:xfrm>
          <a:prstGeom prst="rect">
            <a:avLst>
              <a:gd name="adj" fmla="val 16000"/>
            </a:avLst>
          </a:prstGeom>
          <a:solidFill>
            <a:srgbClr val="64748B">
              <a:alpha val="18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69480" y="30449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DIAG</a:t>
            </a:r>
          </a:p>
        </p:txBody>
      </p:sp>
      <p:sp>
        <p:nvSpPr>
          <p:cNvPr id="85" name="Shape 83"/>
          <p:cNvSpPr/>
          <p:nvPr/>
        </p:nvSpPr>
        <p:spPr>
          <a:xfrm>
            <a:off x="182880" y="3310128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2880" y="3310128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Gender</a:t>
            </a:r>
          </a:p>
        </p:txBody>
      </p:sp>
      <p:sp>
        <p:nvSpPr>
          <p:cNvPr id="87" name="Text 85"/>
          <p:cNvSpPr/>
          <p:nvPr/>
        </p:nvSpPr>
        <p:spPr>
          <a:xfrm>
            <a:off x="1234440" y="3310128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FairFace (21,908)</a:t>
            </a:r>
          </a:p>
        </p:txBody>
      </p:sp>
      <p:sp>
        <p:nvSpPr>
          <p:cNvPr id="88" name="Text 86"/>
          <p:cNvSpPr/>
          <p:nvPr/>
        </p:nvSpPr>
        <p:spPr>
          <a:xfrm>
            <a:off x="2697480" y="3310128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Accuracy</a:t>
            </a:r>
          </a:p>
        </p:txBody>
      </p:sp>
      <p:sp>
        <p:nvSpPr>
          <p:cNvPr id="89" name="Text 87"/>
          <p:cNvSpPr/>
          <p:nvPr/>
        </p:nvSpPr>
        <p:spPr>
          <a:xfrm>
            <a:off x="3566160" y="3310128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90" name="Text 88"/>
          <p:cNvSpPr/>
          <p:nvPr/>
        </p:nvSpPr>
        <p:spPr>
          <a:xfrm>
            <a:off x="4709160" y="3310128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93.11%</a:t>
            </a:r>
          </a:p>
        </p:txBody>
      </p:sp>
      <p:sp>
        <p:nvSpPr>
          <p:cNvPr id="91" name="Text 89"/>
          <p:cNvSpPr/>
          <p:nvPr/>
        </p:nvSpPr>
        <p:spPr>
          <a:xfrm>
            <a:off x="6126480" y="3310128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92" name="Shape 90"/>
          <p:cNvSpPr/>
          <p:nvPr/>
        </p:nvSpPr>
        <p:spPr>
          <a:xfrm>
            <a:off x="7269480" y="3346704"/>
            <a:ext cx="1600200" cy="228600"/>
          </a:xfrm>
          <a:prstGeom prst="rect">
            <a:avLst>
              <a:gd name="adj" fmla="val 16000"/>
            </a:avLst>
          </a:prstGeom>
          <a:solidFill>
            <a:srgbClr val="64748B">
              <a:alpha val="18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69480" y="33467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DIAG</a:t>
            </a:r>
          </a:p>
        </p:txBody>
      </p:sp>
      <p:sp>
        <p:nvSpPr>
          <p:cNvPr id="94" name="Shape 92"/>
          <p:cNvSpPr/>
          <p:nvPr/>
        </p:nvSpPr>
        <p:spPr>
          <a:xfrm>
            <a:off x="182880" y="3611880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82880" y="3611880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Race</a:t>
            </a:r>
          </a:p>
        </p:txBody>
      </p:sp>
      <p:sp>
        <p:nvSpPr>
          <p:cNvPr id="96" name="Text 94"/>
          <p:cNvSpPr/>
          <p:nvPr/>
        </p:nvSpPr>
        <p:spPr>
          <a:xfrm>
            <a:off x="1234440" y="3611880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UTKFace (3,556)</a:t>
            </a:r>
          </a:p>
        </p:txBody>
      </p:sp>
      <p:sp>
        <p:nvSpPr>
          <p:cNvPr id="97" name="Text 95"/>
          <p:cNvSpPr/>
          <p:nvPr/>
        </p:nvSpPr>
        <p:spPr>
          <a:xfrm>
            <a:off x="2697480" y="3611880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Accuracy</a:t>
            </a:r>
          </a:p>
        </p:txBody>
      </p:sp>
      <p:sp>
        <p:nvSpPr>
          <p:cNvPr id="98" name="Text 96"/>
          <p:cNvSpPr/>
          <p:nvPr/>
        </p:nvSpPr>
        <p:spPr>
          <a:xfrm>
            <a:off x="3566160" y="3611880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99" name="Text 97"/>
          <p:cNvSpPr/>
          <p:nvPr/>
        </p:nvSpPr>
        <p:spPr>
          <a:xfrm>
            <a:off x="4709160" y="3611880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98.03%</a:t>
            </a:r>
          </a:p>
        </p:txBody>
      </p:sp>
      <p:sp>
        <p:nvSpPr>
          <p:cNvPr id="100" name="Text 98"/>
          <p:cNvSpPr/>
          <p:nvPr/>
        </p:nvSpPr>
        <p:spPr>
          <a:xfrm>
            <a:off x="6126480" y="3611880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101" name="Shape 99"/>
          <p:cNvSpPr/>
          <p:nvPr/>
        </p:nvSpPr>
        <p:spPr>
          <a:xfrm>
            <a:off x="7269480" y="3648456"/>
            <a:ext cx="1600200" cy="228600"/>
          </a:xfrm>
          <a:prstGeom prst="rect">
            <a:avLst>
              <a:gd name="adj" fmla="val 16000"/>
            </a:avLst>
          </a:prstGeom>
          <a:solidFill>
            <a:srgbClr val="64748B">
              <a:alpha val="18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69480" y="36484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DIAG</a:t>
            </a:r>
          </a:p>
        </p:txBody>
      </p:sp>
      <p:sp>
        <p:nvSpPr>
          <p:cNvPr id="103" name="Shape 101"/>
          <p:cNvSpPr/>
          <p:nvPr/>
        </p:nvSpPr>
        <p:spPr>
          <a:xfrm>
            <a:off x="182880" y="3913632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82880" y="3913632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Race</a:t>
            </a:r>
          </a:p>
        </p:txBody>
      </p:sp>
      <p:sp>
        <p:nvSpPr>
          <p:cNvPr id="105" name="Text 103"/>
          <p:cNvSpPr/>
          <p:nvPr/>
        </p:nvSpPr>
        <p:spPr>
          <a:xfrm>
            <a:off x="1234440" y="3913632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FairFace (21,908)</a:t>
            </a:r>
          </a:p>
        </p:txBody>
      </p:sp>
      <p:sp>
        <p:nvSpPr>
          <p:cNvPr id="106" name="Text 104"/>
          <p:cNvSpPr/>
          <p:nvPr/>
        </p:nvSpPr>
        <p:spPr>
          <a:xfrm>
            <a:off x="2697480" y="3913632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Accuracy</a:t>
            </a:r>
          </a:p>
        </p:txBody>
      </p:sp>
      <p:sp>
        <p:nvSpPr>
          <p:cNvPr id="107" name="Text 105"/>
          <p:cNvSpPr/>
          <p:nvPr/>
        </p:nvSpPr>
        <p:spPr>
          <a:xfrm>
            <a:off x="3566160" y="3913632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108" name="Text 106"/>
          <p:cNvSpPr/>
          <p:nvPr/>
        </p:nvSpPr>
        <p:spPr>
          <a:xfrm>
            <a:off x="4709160" y="3913632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64.59%</a:t>
            </a:r>
          </a:p>
        </p:txBody>
      </p:sp>
      <p:sp>
        <p:nvSpPr>
          <p:cNvPr id="109" name="Text 107"/>
          <p:cNvSpPr/>
          <p:nvPr/>
        </p:nvSpPr>
        <p:spPr>
          <a:xfrm>
            <a:off x="6126480" y="3913632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110" name="Shape 108"/>
          <p:cNvSpPr/>
          <p:nvPr/>
        </p:nvSpPr>
        <p:spPr>
          <a:xfrm>
            <a:off x="7269480" y="3950208"/>
            <a:ext cx="1600200" cy="228600"/>
          </a:xfrm>
          <a:prstGeom prst="rect">
            <a:avLst>
              <a:gd name="adj" fmla="val 16000"/>
            </a:avLst>
          </a:prstGeom>
          <a:solidFill>
            <a:srgbClr val="64748B">
              <a:alpha val="18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269480" y="39502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7-to-5 MAP</a:t>
            </a:r>
          </a:p>
        </p:txBody>
      </p:sp>
      <p:sp>
        <p:nvSpPr>
          <p:cNvPr id="112" name="Shape 110"/>
          <p:cNvSpPr/>
          <p:nvPr/>
        </p:nvSpPr>
        <p:spPr>
          <a:xfrm>
            <a:off x="182880" y="4215384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82880" y="4215384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Visibility</a:t>
            </a:r>
          </a:p>
        </p:txBody>
      </p:sp>
      <p:sp>
        <p:nvSpPr>
          <p:cNvPr id="114" name="Text 112"/>
          <p:cNvSpPr/>
          <p:nvPr/>
        </p:nvSpPr>
        <p:spPr>
          <a:xfrm>
            <a:off x="1234440" y="4215384"/>
            <a:ext cx="1417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COFW (507)</a:t>
            </a:r>
          </a:p>
        </p:txBody>
      </p:sp>
      <p:sp>
        <p:nvSpPr>
          <p:cNvPr id="115" name="Text 113"/>
          <p:cNvSpPr/>
          <p:nvPr/>
        </p:nvSpPr>
        <p:spPr>
          <a:xfrm>
            <a:off x="2697480" y="4215384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Recall@P80</a:t>
            </a:r>
          </a:p>
        </p:txBody>
      </p:sp>
      <p:sp>
        <p:nvSpPr>
          <p:cNvPr id="116" name="Text 114"/>
          <p:cNvSpPr/>
          <p:nvPr/>
        </p:nvSpPr>
        <p:spPr>
          <a:xfrm>
            <a:off x="3566160" y="4215384"/>
            <a:ext cx="10972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72.56%</a:t>
            </a:r>
          </a:p>
        </p:txBody>
      </p:sp>
      <p:sp>
        <p:nvSpPr>
          <p:cNvPr id="117" name="Text 115"/>
          <p:cNvSpPr/>
          <p:nvPr/>
        </p:nvSpPr>
        <p:spPr>
          <a:xfrm>
            <a:off x="4709160" y="4215384"/>
            <a:ext cx="13716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87.13%</a:t>
            </a:r>
          </a:p>
        </p:txBody>
      </p:sp>
      <p:sp>
        <p:nvSpPr>
          <p:cNvPr id="118" name="Text 116"/>
          <p:cNvSpPr/>
          <p:nvPr/>
        </p:nvSpPr>
        <p:spPr>
          <a:xfrm>
            <a:off x="6126480" y="4215384"/>
            <a:ext cx="10515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+14.57pp</a:t>
            </a:r>
          </a:p>
        </p:txBody>
      </p:sp>
      <p:sp>
        <p:nvSpPr>
          <p:cNvPr id="119" name="Shape 117"/>
          <p:cNvSpPr/>
          <p:nvPr/>
        </p:nvSpPr>
        <p:spPr>
          <a:xfrm>
            <a:off x="7269480" y="4251960"/>
            <a:ext cx="160020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269480" y="4251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VERIFY</a:t>
            </a:r>
          </a:p>
        </p:txBody>
      </p:sp>
      <p:sp>
        <p:nvSpPr>
          <p:cNvPr id="121" name="Text 119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Note: Fresh run uses max_samples=0, batch_size=64, checkpoint SHA256 recorded in manifest. Age/visibility still need protocol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Protocol Fixes - Before vs. After</a:t>
            </a:r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Most catastrophic gaps were loader / label / metric protocol bugs, not checkpoint failure</a:t>
            </a:r>
          </a:p>
        </p:txBody>
      </p:sp>
      <p:sp>
        <p:nvSpPr>
          <p:cNvPr id="5" name="Shape 3"/>
          <p:cNvSpPr/>
          <p:nvPr/>
        </p:nvSpPr>
        <p:spPr>
          <a:xfrm>
            <a:off x="182880" y="566928"/>
            <a:ext cx="8778240" cy="3017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66928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Component</a:t>
            </a:r>
          </a:p>
        </p:txBody>
      </p:sp>
      <p:sp>
        <p:nvSpPr>
          <p:cNvPr id="7" name="Text 5"/>
          <p:cNvSpPr/>
          <p:nvPr/>
        </p:nvSpPr>
        <p:spPr>
          <a:xfrm>
            <a:off x="1234440" y="566928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Bug Found</a:t>
            </a:r>
          </a:p>
        </p:txBody>
      </p:sp>
      <p:sp>
        <p:nvSpPr>
          <p:cNvPr id="8" name="Text 6"/>
          <p:cNvSpPr/>
          <p:nvPr/>
        </p:nvSpPr>
        <p:spPr>
          <a:xfrm>
            <a:off x="2670048" y="566928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Before</a:t>
            </a:r>
          </a:p>
        </p:txBody>
      </p:sp>
      <p:sp>
        <p:nvSpPr>
          <p:cNvPr id="9" name="Text 7"/>
          <p:cNvSpPr/>
          <p:nvPr/>
        </p:nvSpPr>
        <p:spPr>
          <a:xfrm>
            <a:off x="3547872" y="566928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After</a:t>
            </a:r>
          </a:p>
        </p:txBody>
      </p:sp>
      <p:sp>
        <p:nvSpPr>
          <p:cNvPr id="10" name="Text 8"/>
          <p:cNvSpPr/>
          <p:nvPr/>
        </p:nvSpPr>
        <p:spPr>
          <a:xfrm>
            <a:off x="4681728" y="566928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Paper / Ref.</a:t>
            </a:r>
          </a:p>
        </p:txBody>
      </p:sp>
      <p:sp>
        <p:nvSpPr>
          <p:cNvPr id="11" name="Text 9"/>
          <p:cNvSpPr/>
          <p:nvPr/>
        </p:nvSpPr>
        <p:spPr>
          <a:xfrm>
            <a:off x="5925312" y="566928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Change</a:t>
            </a:r>
          </a:p>
        </p:txBody>
      </p:sp>
      <p:sp>
        <p:nvSpPr>
          <p:cNvPr id="12" name="Text 10"/>
          <p:cNvSpPr/>
          <p:nvPr/>
        </p:nvSpPr>
        <p:spPr>
          <a:xfrm>
            <a:off x="7086600" y="566928"/>
            <a:ext cx="1828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Status</a:t>
            </a:r>
          </a:p>
        </p:txBody>
      </p:sp>
      <p:sp>
        <p:nvSpPr>
          <p:cNvPr id="13" name="Shape 11"/>
          <p:cNvSpPr/>
          <p:nvPr/>
        </p:nvSpPr>
        <p:spPr>
          <a:xfrm>
            <a:off x="182880" y="896112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896112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Segmentation</a:t>
            </a:r>
          </a:p>
        </p:txBody>
      </p:sp>
      <p:sp>
        <p:nvSpPr>
          <p:cNvPr id="15" name="Text 13"/>
          <p:cNvSpPr/>
          <p:nvPr/>
        </p:nvSpPr>
        <p:spPr>
          <a:xfrm>
            <a:off x="1234440" y="896112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18 parts clamped; token order wrong</a:t>
            </a:r>
          </a:p>
        </p:txBody>
      </p:sp>
      <p:sp>
        <p:nvSpPr>
          <p:cNvPr id="16" name="Text 14"/>
          <p:cNvSpPr/>
          <p:nvPr/>
        </p:nvSpPr>
        <p:spPr>
          <a:xfrm>
            <a:off x="2670048" y="896112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23.70%</a:t>
            </a:r>
          </a:p>
        </p:txBody>
      </p:sp>
      <p:sp>
        <p:nvSpPr>
          <p:cNvPr id="17" name="Text 15"/>
          <p:cNvSpPr/>
          <p:nvPr/>
        </p:nvSpPr>
        <p:spPr>
          <a:xfrm>
            <a:off x="3547872" y="896112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91.77%</a:t>
            </a:r>
          </a:p>
        </p:txBody>
      </p:sp>
      <p:sp>
        <p:nvSpPr>
          <p:cNvPr id="18" name="Text 16"/>
          <p:cNvSpPr/>
          <p:nvPr/>
        </p:nvSpPr>
        <p:spPr>
          <a:xfrm>
            <a:off x="4681728" y="896112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92.01%</a:t>
            </a:r>
          </a:p>
        </p:txBody>
      </p:sp>
      <p:sp>
        <p:nvSpPr>
          <p:cNvPr id="19" name="Text 17"/>
          <p:cNvSpPr/>
          <p:nvPr/>
        </p:nvSpPr>
        <p:spPr>
          <a:xfrm>
            <a:off x="5925312" y="896112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+68.06pp</a:t>
            </a:r>
          </a:p>
        </p:txBody>
      </p:sp>
      <p:sp>
        <p:nvSpPr>
          <p:cNvPr id="20" name="Shape 18"/>
          <p:cNvSpPr/>
          <p:nvPr/>
        </p:nvSpPr>
        <p:spPr>
          <a:xfrm>
            <a:off x="7132320" y="932688"/>
            <a:ext cx="1737360" cy="228600"/>
          </a:xfrm>
          <a:prstGeom prst="rect">
            <a:avLst>
              <a:gd name="adj" fmla="val 16000"/>
            </a:avLst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9326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FIXED</a:t>
            </a:r>
          </a:p>
        </p:txBody>
      </p:sp>
      <p:sp>
        <p:nvSpPr>
          <p:cNvPr id="22" name="Shape 20"/>
          <p:cNvSpPr/>
          <p:nvPr/>
        </p:nvSpPr>
        <p:spPr>
          <a:xfrm>
            <a:off x="182880" y="1197864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1197864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Landmark</a:t>
            </a:r>
          </a:p>
        </p:txBody>
      </p:sp>
      <p:sp>
        <p:nvSpPr>
          <p:cNvPr id="24" name="Text 22"/>
          <p:cNvSpPr/>
          <p:nvPr/>
        </p:nvSpPr>
        <p:spPr>
          <a:xfrm>
            <a:off x="1234440" y="1197864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Incomplete 300W + coord scale</a:t>
            </a:r>
          </a:p>
        </p:txBody>
      </p:sp>
      <p:sp>
        <p:nvSpPr>
          <p:cNvPr id="25" name="Text 23"/>
          <p:cNvSpPr/>
          <p:nvPr/>
        </p:nvSpPr>
        <p:spPr>
          <a:xfrm>
            <a:off x="2670048" y="1197864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153.36</a:t>
            </a:r>
          </a:p>
        </p:txBody>
      </p:sp>
      <p:sp>
        <p:nvSpPr>
          <p:cNvPr id="26" name="Text 24"/>
          <p:cNvSpPr/>
          <p:nvPr/>
        </p:nvSpPr>
        <p:spPr>
          <a:xfrm>
            <a:off x="3547872" y="1197864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6.75</a:t>
            </a:r>
          </a:p>
        </p:txBody>
      </p:sp>
      <p:sp>
        <p:nvSpPr>
          <p:cNvPr id="27" name="Text 25"/>
          <p:cNvSpPr/>
          <p:nvPr/>
        </p:nvSpPr>
        <p:spPr>
          <a:xfrm>
            <a:off x="4681728" y="1197864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4.67</a:t>
            </a:r>
          </a:p>
        </p:txBody>
      </p:sp>
      <p:sp>
        <p:nvSpPr>
          <p:cNvPr id="28" name="Text 26"/>
          <p:cNvSpPr/>
          <p:nvPr/>
        </p:nvSpPr>
        <p:spPr>
          <a:xfrm>
            <a:off x="5925312" y="1197864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-146.61</a:t>
            </a:r>
          </a:p>
        </p:txBody>
      </p:sp>
      <p:sp>
        <p:nvSpPr>
          <p:cNvPr id="29" name="Shape 27"/>
          <p:cNvSpPr/>
          <p:nvPr/>
        </p:nvSpPr>
        <p:spPr>
          <a:xfrm>
            <a:off x="7132320" y="1234440"/>
            <a:ext cx="173736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1234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CLOSE</a:t>
            </a:r>
          </a:p>
        </p:txBody>
      </p:sp>
      <p:sp>
        <p:nvSpPr>
          <p:cNvPr id="31" name="Shape 29"/>
          <p:cNvSpPr/>
          <p:nvPr/>
        </p:nvSpPr>
        <p:spPr>
          <a:xfrm>
            <a:off x="182880" y="1499616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1499616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Headpose</a:t>
            </a:r>
          </a:p>
        </p:txBody>
      </p:sp>
      <p:sp>
        <p:nvSpPr>
          <p:cNvPr id="33" name="Text 31"/>
          <p:cNvSpPr/>
          <p:nvPr/>
        </p:nvSpPr>
        <p:spPr>
          <a:xfrm>
            <a:off x="1234440" y="1499616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pitch/yaw convention mismatch</a:t>
            </a:r>
          </a:p>
        </p:txBody>
      </p:sp>
      <p:sp>
        <p:nvSpPr>
          <p:cNvPr id="34" name="Text 32"/>
          <p:cNvSpPr/>
          <p:nvPr/>
        </p:nvSpPr>
        <p:spPr>
          <a:xfrm>
            <a:off x="2670048" y="1499616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25.18 deg</a:t>
            </a:r>
          </a:p>
        </p:txBody>
      </p:sp>
      <p:sp>
        <p:nvSpPr>
          <p:cNvPr id="35" name="Text 33"/>
          <p:cNvSpPr/>
          <p:nvPr/>
        </p:nvSpPr>
        <p:spPr>
          <a:xfrm>
            <a:off x="3547872" y="1499616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20.65 deg</a:t>
            </a:r>
          </a:p>
        </p:txBody>
      </p:sp>
      <p:sp>
        <p:nvSpPr>
          <p:cNvPr id="36" name="Text 34"/>
          <p:cNvSpPr/>
          <p:nvPr/>
        </p:nvSpPr>
        <p:spPr>
          <a:xfrm>
            <a:off x="4681728" y="1499616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3.52 deg</a:t>
            </a:r>
          </a:p>
        </p:txBody>
      </p:sp>
      <p:sp>
        <p:nvSpPr>
          <p:cNvPr id="37" name="Text 35"/>
          <p:cNvSpPr/>
          <p:nvPr/>
        </p:nvSpPr>
        <p:spPr>
          <a:xfrm>
            <a:off x="5925312" y="1499616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-4.53 deg</a:t>
            </a:r>
          </a:p>
        </p:txBody>
      </p:sp>
      <p:sp>
        <p:nvSpPr>
          <p:cNvPr id="38" name="Shape 36"/>
          <p:cNvSpPr/>
          <p:nvPr/>
        </p:nvSpPr>
        <p:spPr>
          <a:xfrm>
            <a:off x="7132320" y="1536192"/>
            <a:ext cx="173736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1536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OPEN</a:t>
            </a:r>
          </a:p>
        </p:txBody>
      </p:sp>
      <p:sp>
        <p:nvSpPr>
          <p:cNvPr id="40" name="Shape 38"/>
          <p:cNvSpPr/>
          <p:nvPr/>
        </p:nvSpPr>
        <p:spPr>
          <a:xfrm>
            <a:off x="182880" y="1801368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1801368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FairFace age</a:t>
            </a:r>
          </a:p>
        </p:txBody>
      </p:sp>
      <p:sp>
        <p:nvSpPr>
          <p:cNvPr id="42" name="Text 40"/>
          <p:cNvSpPr/>
          <p:nvPr/>
        </p:nvSpPr>
        <p:spPr>
          <a:xfrm>
            <a:off x="1234440" y="1801368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numeric labels read as strings</a:t>
            </a:r>
          </a:p>
        </p:txBody>
      </p:sp>
      <p:sp>
        <p:nvSpPr>
          <p:cNvPr id="43" name="Text 41"/>
          <p:cNvSpPr/>
          <p:nvPr/>
        </p:nvSpPr>
        <p:spPr>
          <a:xfrm>
            <a:off x="2670048" y="1801368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12.85yr</a:t>
            </a:r>
          </a:p>
        </p:txBody>
      </p:sp>
      <p:sp>
        <p:nvSpPr>
          <p:cNvPr id="44" name="Text 42"/>
          <p:cNvSpPr/>
          <p:nvPr/>
        </p:nvSpPr>
        <p:spPr>
          <a:xfrm>
            <a:off x="3547872" y="1801368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6.30yr</a:t>
            </a:r>
          </a:p>
        </p:txBody>
      </p:sp>
      <p:sp>
        <p:nvSpPr>
          <p:cNvPr id="45" name="Text 43"/>
          <p:cNvSpPr/>
          <p:nvPr/>
        </p:nvSpPr>
        <p:spPr>
          <a:xfrm>
            <a:off x="4681728" y="1801368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46" name="Text 44"/>
          <p:cNvSpPr/>
          <p:nvPr/>
        </p:nvSpPr>
        <p:spPr>
          <a:xfrm>
            <a:off x="5925312" y="1801368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-6.55yr</a:t>
            </a:r>
          </a:p>
        </p:txBody>
      </p:sp>
      <p:sp>
        <p:nvSpPr>
          <p:cNvPr id="47" name="Shape 45"/>
          <p:cNvSpPr/>
          <p:nvPr/>
        </p:nvSpPr>
        <p:spPr>
          <a:xfrm>
            <a:off x="7132320" y="1837944"/>
            <a:ext cx="1737360" cy="228600"/>
          </a:xfrm>
          <a:prstGeom prst="rect">
            <a:avLst>
              <a:gd name="adj" fmla="val 16000"/>
            </a:avLst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18379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FIXED</a:t>
            </a:r>
          </a:p>
        </p:txBody>
      </p:sp>
      <p:sp>
        <p:nvSpPr>
          <p:cNvPr id="49" name="Shape 47"/>
          <p:cNvSpPr/>
          <p:nvPr/>
        </p:nvSpPr>
        <p:spPr>
          <a:xfrm>
            <a:off x="182880" y="2103120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103120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FairFace gender</a:t>
            </a:r>
          </a:p>
        </p:txBody>
      </p:sp>
      <p:sp>
        <p:nvSpPr>
          <p:cNvPr id="51" name="Text 49"/>
          <p:cNvSpPr/>
          <p:nvPr/>
        </p:nvSpPr>
        <p:spPr>
          <a:xfrm>
            <a:off x="1234440" y="2103120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numeric labels defaulted</a:t>
            </a:r>
          </a:p>
        </p:txBody>
      </p:sp>
      <p:sp>
        <p:nvSpPr>
          <p:cNvPr id="52" name="Text 50"/>
          <p:cNvSpPr/>
          <p:nvPr/>
        </p:nvSpPr>
        <p:spPr>
          <a:xfrm>
            <a:off x="2670048" y="2103120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53.30%</a:t>
            </a:r>
          </a:p>
        </p:txBody>
      </p:sp>
      <p:sp>
        <p:nvSpPr>
          <p:cNvPr id="53" name="Text 51"/>
          <p:cNvSpPr/>
          <p:nvPr/>
        </p:nvSpPr>
        <p:spPr>
          <a:xfrm>
            <a:off x="3547872" y="2103120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93.11%</a:t>
            </a:r>
          </a:p>
        </p:txBody>
      </p:sp>
      <p:sp>
        <p:nvSpPr>
          <p:cNvPr id="54" name="Text 52"/>
          <p:cNvSpPr/>
          <p:nvPr/>
        </p:nvSpPr>
        <p:spPr>
          <a:xfrm>
            <a:off x="4681728" y="2103120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55" name="Text 53"/>
          <p:cNvSpPr/>
          <p:nvPr/>
        </p:nvSpPr>
        <p:spPr>
          <a:xfrm>
            <a:off x="5925312" y="2103120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+39.81pp</a:t>
            </a:r>
          </a:p>
        </p:txBody>
      </p:sp>
      <p:sp>
        <p:nvSpPr>
          <p:cNvPr id="56" name="Shape 54"/>
          <p:cNvSpPr/>
          <p:nvPr/>
        </p:nvSpPr>
        <p:spPr>
          <a:xfrm>
            <a:off x="7132320" y="2139696"/>
            <a:ext cx="1737360" cy="228600"/>
          </a:xfrm>
          <a:prstGeom prst="rect">
            <a:avLst>
              <a:gd name="adj" fmla="val 16000"/>
            </a:avLst>
          </a:prstGeom>
          <a:solidFill>
            <a:srgbClr val="64748B">
              <a:alpha val="18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0" y="21396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FIXED</a:t>
            </a:r>
          </a:p>
        </p:txBody>
      </p:sp>
      <p:sp>
        <p:nvSpPr>
          <p:cNvPr id="58" name="Shape 56"/>
          <p:cNvSpPr/>
          <p:nvPr/>
        </p:nvSpPr>
        <p:spPr>
          <a:xfrm>
            <a:off x="182880" y="2404872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2404872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FairFace race</a:t>
            </a:r>
          </a:p>
        </p:txBody>
      </p:sp>
      <p:sp>
        <p:nvSpPr>
          <p:cNvPr id="60" name="Text 58"/>
          <p:cNvSpPr/>
          <p:nvPr/>
        </p:nvSpPr>
        <p:spPr>
          <a:xfrm>
            <a:off x="1234440" y="2404872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wrong 7-to-5 race map</a:t>
            </a:r>
          </a:p>
        </p:txBody>
      </p:sp>
      <p:sp>
        <p:nvSpPr>
          <p:cNvPr id="61" name="Text 59"/>
          <p:cNvSpPr/>
          <p:nvPr/>
        </p:nvSpPr>
        <p:spPr>
          <a:xfrm>
            <a:off x="2670048" y="2404872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19.64%</a:t>
            </a:r>
          </a:p>
        </p:txBody>
      </p:sp>
      <p:sp>
        <p:nvSpPr>
          <p:cNvPr id="62" name="Text 60"/>
          <p:cNvSpPr/>
          <p:nvPr/>
        </p:nvSpPr>
        <p:spPr>
          <a:xfrm>
            <a:off x="3547872" y="2404872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64.59%</a:t>
            </a:r>
          </a:p>
        </p:txBody>
      </p:sp>
      <p:sp>
        <p:nvSpPr>
          <p:cNvPr id="63" name="Text 61"/>
          <p:cNvSpPr/>
          <p:nvPr/>
        </p:nvSpPr>
        <p:spPr>
          <a:xfrm>
            <a:off x="4681728" y="2404872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64" name="Text 62"/>
          <p:cNvSpPr/>
          <p:nvPr/>
        </p:nvSpPr>
        <p:spPr>
          <a:xfrm>
            <a:off x="5925312" y="2404872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+44.95pp</a:t>
            </a:r>
          </a:p>
        </p:txBody>
      </p:sp>
      <p:sp>
        <p:nvSpPr>
          <p:cNvPr id="65" name="Shape 63"/>
          <p:cNvSpPr/>
          <p:nvPr/>
        </p:nvSpPr>
        <p:spPr>
          <a:xfrm>
            <a:off x="7132320" y="2441448"/>
            <a:ext cx="1737360" cy="228600"/>
          </a:xfrm>
          <a:prstGeom prst="rect">
            <a:avLst>
              <a:gd name="adj" fmla="val 16000"/>
            </a:avLst>
          </a:prstGeom>
          <a:solidFill>
            <a:srgbClr val="DC2626">
              <a:alpha val="18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32320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PARTIAL</a:t>
            </a:r>
          </a:p>
        </p:txBody>
      </p:sp>
      <p:sp>
        <p:nvSpPr>
          <p:cNvPr id="67" name="Shape 65"/>
          <p:cNvSpPr/>
          <p:nvPr/>
        </p:nvSpPr>
        <p:spPr>
          <a:xfrm>
            <a:off x="182880" y="2706624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2880" y="2706624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Age UTKFace</a:t>
            </a:r>
          </a:p>
        </p:txBody>
      </p:sp>
      <p:sp>
        <p:nvSpPr>
          <p:cNvPr id="69" name="Text 67"/>
          <p:cNvSpPr/>
          <p:nvPr/>
        </p:nvSpPr>
        <p:spPr>
          <a:xfrm>
            <a:off x="1234440" y="2706624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bucket MAE vs true-age protocol</a:t>
            </a:r>
          </a:p>
        </p:txBody>
      </p:sp>
      <p:sp>
        <p:nvSpPr>
          <p:cNvPr id="70" name="Text 68"/>
          <p:cNvSpPr/>
          <p:nvPr/>
        </p:nvSpPr>
        <p:spPr>
          <a:xfrm>
            <a:off x="2670048" y="2706624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1.17yr</a:t>
            </a:r>
          </a:p>
        </p:txBody>
      </p:sp>
      <p:sp>
        <p:nvSpPr>
          <p:cNvPr id="71" name="Text 69"/>
          <p:cNvSpPr/>
          <p:nvPr/>
        </p:nvSpPr>
        <p:spPr>
          <a:xfrm>
            <a:off x="3547872" y="2706624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1.17yr</a:t>
            </a:r>
          </a:p>
        </p:txBody>
      </p:sp>
      <p:sp>
        <p:nvSpPr>
          <p:cNvPr id="72" name="Text 70"/>
          <p:cNvSpPr/>
          <p:nvPr/>
        </p:nvSpPr>
        <p:spPr>
          <a:xfrm>
            <a:off x="4681728" y="2706624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4.17yr</a:t>
            </a:r>
          </a:p>
        </p:txBody>
      </p:sp>
      <p:sp>
        <p:nvSpPr>
          <p:cNvPr id="73" name="Text 71"/>
          <p:cNvSpPr/>
          <p:nvPr/>
        </p:nvSpPr>
        <p:spPr>
          <a:xfrm>
            <a:off x="5925312" y="2706624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unchanged</a:t>
            </a:r>
          </a:p>
        </p:txBody>
      </p:sp>
      <p:sp>
        <p:nvSpPr>
          <p:cNvPr id="74" name="Shape 72"/>
          <p:cNvSpPr/>
          <p:nvPr/>
        </p:nvSpPr>
        <p:spPr>
          <a:xfrm>
            <a:off x="7132320" y="2743200"/>
            <a:ext cx="1737360" cy="228600"/>
          </a:xfrm>
          <a:prstGeom prst="rect">
            <a:avLst>
              <a:gd name="adj" fmla="val 16000"/>
            </a:avLst>
          </a:prstGeom>
          <a:solidFill>
            <a:srgbClr val="DC2626">
              <a:alpha val="18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3232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VERIFY</a:t>
            </a:r>
          </a:p>
        </p:txBody>
      </p:sp>
      <p:sp>
        <p:nvSpPr>
          <p:cNvPr id="76" name="Shape 74"/>
          <p:cNvSpPr/>
          <p:nvPr/>
        </p:nvSpPr>
        <p:spPr>
          <a:xfrm>
            <a:off x="182880" y="3008376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" y="3008376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Visibility</a:t>
            </a:r>
          </a:p>
        </p:txBody>
      </p:sp>
      <p:sp>
        <p:nvSpPr>
          <p:cNvPr id="78" name="Text 76"/>
          <p:cNvSpPr/>
          <p:nvPr/>
        </p:nvSpPr>
        <p:spPr>
          <a:xfrm>
            <a:off x="1234440" y="3008376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metric direction/protocol high</a:t>
            </a:r>
          </a:p>
        </p:txBody>
      </p:sp>
      <p:sp>
        <p:nvSpPr>
          <p:cNvPr id="79" name="Text 77"/>
          <p:cNvSpPr/>
          <p:nvPr/>
        </p:nvSpPr>
        <p:spPr>
          <a:xfrm>
            <a:off x="2670048" y="3008376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87.13%</a:t>
            </a:r>
          </a:p>
        </p:txBody>
      </p:sp>
      <p:sp>
        <p:nvSpPr>
          <p:cNvPr id="80" name="Text 78"/>
          <p:cNvSpPr/>
          <p:nvPr/>
        </p:nvSpPr>
        <p:spPr>
          <a:xfrm>
            <a:off x="3547872" y="3008376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87.13%</a:t>
            </a:r>
          </a:p>
        </p:txBody>
      </p:sp>
      <p:sp>
        <p:nvSpPr>
          <p:cNvPr id="81" name="Text 79"/>
          <p:cNvSpPr/>
          <p:nvPr/>
        </p:nvSpPr>
        <p:spPr>
          <a:xfrm>
            <a:off x="4681728" y="3008376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72.56%</a:t>
            </a:r>
          </a:p>
        </p:txBody>
      </p:sp>
      <p:sp>
        <p:nvSpPr>
          <p:cNvPr id="82" name="Text 80"/>
          <p:cNvSpPr/>
          <p:nvPr/>
        </p:nvSpPr>
        <p:spPr>
          <a:xfrm>
            <a:off x="5925312" y="3008376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unchanged</a:t>
            </a:r>
          </a:p>
        </p:txBody>
      </p:sp>
      <p:sp>
        <p:nvSpPr>
          <p:cNvPr id="83" name="Shape 81"/>
          <p:cNvSpPr/>
          <p:nvPr/>
        </p:nvSpPr>
        <p:spPr>
          <a:xfrm>
            <a:off x="7132320" y="3044952"/>
            <a:ext cx="1737360" cy="228600"/>
          </a:xfrm>
          <a:prstGeom prst="rect">
            <a:avLst>
              <a:gd name="adj" fmla="val 16000"/>
            </a:avLst>
          </a:prstGeom>
          <a:solidFill>
            <a:srgbClr val="64748B">
              <a:alpha val="18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32320" y="3044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VERIFY</a:t>
            </a:r>
          </a:p>
        </p:txBody>
      </p:sp>
      <p:sp>
        <p:nvSpPr>
          <p:cNvPr id="85" name="Shape 83"/>
          <p:cNvSpPr/>
          <p:nvPr/>
        </p:nvSpPr>
        <p:spPr>
          <a:xfrm>
            <a:off x="182880" y="3310128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2880" y="3310128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Attribute</a:t>
            </a:r>
          </a:p>
        </p:txBody>
      </p:sp>
      <p:sp>
        <p:nvSpPr>
          <p:cNvPr id="87" name="Text 85"/>
          <p:cNvSpPr/>
          <p:nvPr/>
        </p:nvSpPr>
        <p:spPr>
          <a:xfrm>
            <a:off x="1234440" y="3310128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stable checkpoint task</a:t>
            </a:r>
          </a:p>
        </p:txBody>
      </p:sp>
      <p:sp>
        <p:nvSpPr>
          <p:cNvPr id="88" name="Text 86"/>
          <p:cNvSpPr/>
          <p:nvPr/>
        </p:nvSpPr>
        <p:spPr>
          <a:xfrm>
            <a:off x="2670048" y="3310128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91.72%</a:t>
            </a:r>
          </a:p>
        </p:txBody>
      </p:sp>
      <p:sp>
        <p:nvSpPr>
          <p:cNvPr id="89" name="Text 87"/>
          <p:cNvSpPr/>
          <p:nvPr/>
        </p:nvSpPr>
        <p:spPr>
          <a:xfrm>
            <a:off x="3547872" y="3310128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91.72%</a:t>
            </a:r>
          </a:p>
        </p:txBody>
      </p:sp>
      <p:sp>
        <p:nvSpPr>
          <p:cNvPr id="90" name="Text 88"/>
          <p:cNvSpPr/>
          <p:nvPr/>
        </p:nvSpPr>
        <p:spPr>
          <a:xfrm>
            <a:off x="4681728" y="3310128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91.83%</a:t>
            </a:r>
          </a:p>
        </p:txBody>
      </p:sp>
      <p:sp>
        <p:nvSpPr>
          <p:cNvPr id="91" name="Text 89"/>
          <p:cNvSpPr/>
          <p:nvPr/>
        </p:nvSpPr>
        <p:spPr>
          <a:xfrm>
            <a:off x="5925312" y="3310128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-0.11pp</a:t>
            </a:r>
          </a:p>
        </p:txBody>
      </p:sp>
      <p:sp>
        <p:nvSpPr>
          <p:cNvPr id="92" name="Shape 90"/>
          <p:cNvSpPr/>
          <p:nvPr/>
        </p:nvSpPr>
        <p:spPr>
          <a:xfrm>
            <a:off x="7132320" y="3346704"/>
            <a:ext cx="173736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32320" y="33467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MATCH</a:t>
            </a:r>
          </a:p>
        </p:txBody>
      </p:sp>
      <p:sp>
        <p:nvSpPr>
          <p:cNvPr id="94" name="Shape 92"/>
          <p:cNvSpPr/>
          <p:nvPr/>
        </p:nvSpPr>
        <p:spPr>
          <a:xfrm>
            <a:off x="182880" y="3611880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82880" y="3611880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LFWA</a:t>
            </a:r>
          </a:p>
        </p:txBody>
      </p:sp>
      <p:sp>
        <p:nvSpPr>
          <p:cNvPr id="96" name="Text 94"/>
          <p:cNvSpPr/>
          <p:nvPr/>
        </p:nvSpPr>
        <p:spPr>
          <a:xfrm>
            <a:off x="1234440" y="3611880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attribute order/protocol uncertain</a:t>
            </a:r>
          </a:p>
        </p:txBody>
      </p:sp>
      <p:sp>
        <p:nvSpPr>
          <p:cNvPr id="97" name="Text 95"/>
          <p:cNvSpPr/>
          <p:nvPr/>
        </p:nvSpPr>
        <p:spPr>
          <a:xfrm>
            <a:off x="2670048" y="3611880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61.06%</a:t>
            </a:r>
          </a:p>
        </p:txBody>
      </p:sp>
      <p:sp>
        <p:nvSpPr>
          <p:cNvPr id="98" name="Text 96"/>
          <p:cNvSpPr/>
          <p:nvPr/>
        </p:nvSpPr>
        <p:spPr>
          <a:xfrm>
            <a:off x="3547872" y="3611880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61.06%</a:t>
            </a:r>
          </a:p>
        </p:txBody>
      </p:sp>
      <p:sp>
        <p:nvSpPr>
          <p:cNvPr id="99" name="Text 97"/>
          <p:cNvSpPr/>
          <p:nvPr/>
        </p:nvSpPr>
        <p:spPr>
          <a:xfrm>
            <a:off x="4681728" y="3611880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100" name="Text 98"/>
          <p:cNvSpPr/>
          <p:nvPr/>
        </p:nvSpPr>
        <p:spPr>
          <a:xfrm>
            <a:off x="5925312" y="3611880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unchanged</a:t>
            </a:r>
          </a:p>
        </p:txBody>
      </p:sp>
      <p:sp>
        <p:nvSpPr>
          <p:cNvPr id="101" name="Shape 99"/>
          <p:cNvSpPr/>
          <p:nvPr/>
        </p:nvSpPr>
        <p:spPr>
          <a:xfrm>
            <a:off x="7132320" y="3648456"/>
            <a:ext cx="1737360" cy="228600"/>
          </a:xfrm>
          <a:prstGeom prst="rect">
            <a:avLst>
              <a:gd name="adj" fmla="val 16000"/>
            </a:avLst>
          </a:prstGeom>
          <a:solidFill>
            <a:srgbClr val="64748B">
              <a:alpha val="18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32320" y="36484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VERIFY</a:t>
            </a:r>
          </a:p>
        </p:txBody>
      </p:sp>
      <p:sp>
        <p:nvSpPr>
          <p:cNvPr id="103" name="Shape 101"/>
          <p:cNvSpPr/>
          <p:nvPr/>
        </p:nvSpPr>
        <p:spPr>
          <a:xfrm>
            <a:off x="182880" y="3913632"/>
            <a:ext cx="87782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82880" y="3913632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300W subsets</a:t>
            </a:r>
          </a:p>
        </p:txBody>
      </p:sp>
      <p:sp>
        <p:nvSpPr>
          <p:cNvPr id="105" name="Text 103"/>
          <p:cNvSpPr/>
          <p:nvPr/>
        </p:nvSpPr>
        <p:spPr>
          <a:xfrm>
            <a:off x="1234440" y="3913632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common/challenge rows missing</a:t>
            </a:r>
          </a:p>
        </p:txBody>
      </p:sp>
      <p:sp>
        <p:nvSpPr>
          <p:cNvPr id="106" name="Text 104"/>
          <p:cNvSpPr/>
          <p:nvPr/>
        </p:nvSpPr>
        <p:spPr>
          <a:xfrm>
            <a:off x="2670048" y="3913632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107" name="Text 105"/>
          <p:cNvSpPr/>
          <p:nvPr/>
        </p:nvSpPr>
        <p:spPr>
          <a:xfrm>
            <a:off x="3547872" y="3913632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5.60 / 11.50</a:t>
            </a:r>
          </a:p>
        </p:txBody>
      </p:sp>
      <p:sp>
        <p:nvSpPr>
          <p:cNvPr id="108" name="Text 106"/>
          <p:cNvSpPr/>
          <p:nvPr/>
        </p:nvSpPr>
        <p:spPr>
          <a:xfrm>
            <a:off x="4681728" y="3913632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109" name="Text 107"/>
          <p:cNvSpPr/>
          <p:nvPr/>
        </p:nvSpPr>
        <p:spPr>
          <a:xfrm>
            <a:off x="5925312" y="3913632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added</a:t>
            </a:r>
          </a:p>
        </p:txBody>
      </p:sp>
      <p:sp>
        <p:nvSpPr>
          <p:cNvPr id="110" name="Shape 108"/>
          <p:cNvSpPr/>
          <p:nvPr/>
        </p:nvSpPr>
        <p:spPr>
          <a:xfrm>
            <a:off x="7132320" y="3950208"/>
            <a:ext cx="173736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132320" y="39502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ADDED</a:t>
            </a:r>
          </a:p>
        </p:txBody>
      </p:sp>
      <p:sp>
        <p:nvSpPr>
          <p:cNvPr id="112" name="Shape 110"/>
          <p:cNvSpPr/>
          <p:nvPr/>
        </p:nvSpPr>
        <p:spPr>
          <a:xfrm>
            <a:off x="182880" y="4215384"/>
            <a:ext cx="8778240" cy="301752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82880" y="4215384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Fresh run</a:t>
            </a:r>
          </a:p>
        </p:txBody>
      </p:sp>
      <p:sp>
        <p:nvSpPr>
          <p:cNvPr id="114" name="Text 112"/>
          <p:cNvSpPr/>
          <p:nvPr/>
        </p:nvSpPr>
        <p:spPr>
          <a:xfrm>
            <a:off x="1234440" y="4215384"/>
            <a:ext cx="13898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one clean full baseline missing</a:t>
            </a:r>
          </a:p>
        </p:txBody>
      </p:sp>
      <p:sp>
        <p:nvSpPr>
          <p:cNvPr id="115" name="Text 113"/>
          <p:cNvSpPr/>
          <p:nvPr/>
        </p:nvSpPr>
        <p:spPr>
          <a:xfrm>
            <a:off x="2670048" y="4215384"/>
            <a:ext cx="841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scattered</a:t>
            </a:r>
          </a:p>
        </p:txBody>
      </p:sp>
      <p:sp>
        <p:nvSpPr>
          <p:cNvPr id="116" name="Text 114"/>
          <p:cNvSpPr/>
          <p:nvPr/>
        </p:nvSpPr>
        <p:spPr>
          <a:xfrm>
            <a:off x="3547872" y="4215384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14 rows</a:t>
            </a:r>
          </a:p>
        </p:txBody>
      </p:sp>
      <p:sp>
        <p:nvSpPr>
          <p:cNvPr id="117" name="Text 115"/>
          <p:cNvSpPr/>
          <p:nvPr/>
        </p:nvSpPr>
        <p:spPr>
          <a:xfrm>
            <a:off x="4681728" y="4215384"/>
            <a:ext cx="120700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--</a:t>
            </a:r>
          </a:p>
        </p:txBody>
      </p:sp>
      <p:sp>
        <p:nvSpPr>
          <p:cNvPr id="118" name="Text 116"/>
          <p:cNvSpPr/>
          <p:nvPr/>
        </p:nvSpPr>
        <p:spPr>
          <a:xfrm>
            <a:off x="5925312" y="4215384"/>
            <a:ext cx="111556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saved</a:t>
            </a:r>
          </a:p>
        </p:txBody>
      </p:sp>
      <p:sp>
        <p:nvSpPr>
          <p:cNvPr id="119" name="Shape 117"/>
          <p:cNvSpPr/>
          <p:nvPr/>
        </p:nvSpPr>
        <p:spPr>
          <a:xfrm>
            <a:off x="7132320" y="4251960"/>
            <a:ext cx="1737360" cy="228600"/>
          </a:xfrm>
          <a:prstGeom prst="rect">
            <a:avLst>
              <a:gd name="adj" fmla="val 16000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132320" y="4251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DONE</a:t>
            </a:r>
          </a:p>
        </p:txBody>
      </p:sp>
      <p:sp>
        <p:nvSpPr>
          <p:cNvPr id="121" name="Text 119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Interpretation: segmentation and CelebA now match the paper closely; headpose remains the main unresolved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Interpreting the Current Gaps</a:t>
            </a:r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After fixing 300W, landmark scale, segmentation token order, and FairFace labels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2852928" cy="4343400"/>
          </a:xfrm>
          <a:prstGeom prst="rect">
            <a:avLst>
              <a:gd name="adj" fmla="val 2564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94360"/>
            <a:ext cx="2852928" cy="384048"/>
          </a:xfrm>
          <a:prstGeom prst="rect">
            <a:avLst>
              <a:gd name="adj" fmla="val 952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94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 - Paper-Level / Near Match</a:t>
            </a:r>
          </a:p>
        </p:txBody>
      </p:sp>
      <p:sp>
        <p:nvSpPr>
          <p:cNvPr id="8" name="Text 6"/>
          <p:cNvSpPr/>
          <p:nvPr/>
        </p:nvSpPr>
        <p:spPr>
          <a:xfrm>
            <a:off x="292608" y="10424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" y="1261872"/>
            <a:ext cx="2633472" cy="822960"/>
          </a:xfrm>
          <a:prstGeom prst="rect">
            <a:avLst>
              <a:gd name="adj" fmla="val 4444"/>
            </a:avLst>
          </a:prstGeom>
          <a:solidFill>
            <a:srgbClr val="16A34A">
              <a:alpha val="10000"/>
            </a:srgbClr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9844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Segmentation: 91.77% vs 92.01%</a:t>
            </a:r>
          </a:p>
          <a:p>
            <a:r>
              <a:t>CelebA attributes: 91.72% vs 91.83%</a:t>
            </a:r>
          </a:p>
        </p:txBody>
      </p:sp>
      <p:sp>
        <p:nvSpPr>
          <p:cNvPr id="11" name="Text 9"/>
          <p:cNvSpPr/>
          <p:nvPr/>
        </p:nvSpPr>
        <p:spPr>
          <a:xfrm>
            <a:off x="292608" y="217627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2395728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Once label protocols were fixed, these tasks matched the released checkpoint and paper numbers closely.</a:t>
            </a:r>
          </a:p>
        </p:txBody>
      </p:sp>
      <p:sp>
        <p:nvSpPr>
          <p:cNvPr id="13" name="Text 11"/>
          <p:cNvSpPr/>
          <p:nvPr/>
        </p:nvSpPr>
        <p:spPr>
          <a:xfrm>
            <a:off x="292608" y="356616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3785616"/>
            <a:ext cx="2633472" cy="914400"/>
          </a:xfrm>
          <a:prstGeom prst="rect">
            <a:avLst>
              <a:gd name="adj" fmla="val 4000"/>
            </a:avLst>
          </a:prstGeom>
          <a:solidFill>
            <a:srgbClr val="16A34A">
              <a:alpha val="12000"/>
            </a:srgbClr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82219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The checkpoint is credible for parsing and attributes; our evaluation harness is now validated for these tasks.</a:t>
            </a:r>
          </a:p>
        </p:txBody>
      </p:sp>
      <p:sp>
        <p:nvSpPr>
          <p:cNvPr id="16" name="Shape 14"/>
          <p:cNvSpPr/>
          <p:nvPr/>
        </p:nvSpPr>
        <p:spPr>
          <a:xfrm>
            <a:off x="3172968" y="594360"/>
            <a:ext cx="2852928" cy="4343400"/>
          </a:xfrm>
          <a:prstGeom prst="rect">
            <a:avLst>
              <a:gd name="adj" fmla="val 256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594360"/>
            <a:ext cx="2852928" cy="384048"/>
          </a:xfrm>
          <a:prstGeom prst="rect">
            <a:avLst>
              <a:gd name="adj" fmla="val 95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594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 - Plausible but Behind</a:t>
            </a:r>
          </a:p>
        </p:txBody>
      </p:sp>
      <p:sp>
        <p:nvSpPr>
          <p:cNvPr id="19" name="Text 17"/>
          <p:cNvSpPr/>
          <p:nvPr/>
        </p:nvSpPr>
        <p:spPr>
          <a:xfrm>
            <a:off x="3282696" y="10424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82696" y="1261872"/>
            <a:ext cx="2633472" cy="822960"/>
          </a:xfrm>
          <a:prstGeom prst="rect">
            <a:avLst>
              <a:gd name="adj" fmla="val 4444"/>
            </a:avLst>
          </a:prstGeom>
          <a:solidFill>
            <a:srgbClr val="D97706">
              <a:alpha val="10000"/>
            </a:srgbClr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29844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300W full: 6.75 NME vs 4.67</a:t>
            </a:r>
          </a:p>
          <a:p>
            <a:r>
              <a:t>Common: 5.60 NME; Challenging: 11.50 NME</a:t>
            </a:r>
          </a:p>
        </p:txBody>
      </p:sp>
      <p:sp>
        <p:nvSpPr>
          <p:cNvPr id="22" name="Text 20"/>
          <p:cNvSpPr/>
          <p:nvPr/>
        </p:nvSpPr>
        <p:spPr>
          <a:xfrm>
            <a:off x="3282696" y="217627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82696" y="2395728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The remaining landmark gap is concentrated in the IBUG/challenging subset, likely due to alignment/crop protocol differences.</a:t>
            </a:r>
          </a:p>
        </p:txBody>
      </p:sp>
      <p:sp>
        <p:nvSpPr>
          <p:cNvPr id="24" name="Text 22"/>
          <p:cNvSpPr/>
          <p:nvPr/>
        </p:nvSpPr>
        <p:spPr>
          <a:xfrm>
            <a:off x="3282696" y="356616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82696" y="3785616"/>
            <a:ext cx="2633472" cy="914400"/>
          </a:xfrm>
          <a:prstGeom prst="rect">
            <a:avLst>
              <a:gd name="adj" fmla="val 4000"/>
            </a:avLst>
          </a:prstGeom>
          <a:solidFill>
            <a:srgbClr val="D97706">
              <a:alpha val="12000"/>
            </a:srgbClr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82219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Report as partially reproduced, not fully paper-matched.</a:t>
            </a:r>
          </a:p>
        </p:txBody>
      </p:sp>
      <p:sp>
        <p:nvSpPr>
          <p:cNvPr id="27" name="Shape 25"/>
          <p:cNvSpPr/>
          <p:nvPr/>
        </p:nvSpPr>
        <p:spPr>
          <a:xfrm>
            <a:off x="6163056" y="594360"/>
            <a:ext cx="2852928" cy="4343400"/>
          </a:xfrm>
          <a:prstGeom prst="rect">
            <a:avLst>
              <a:gd name="adj" fmla="val 2564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594360"/>
            <a:ext cx="2852928" cy="384048"/>
          </a:xfrm>
          <a:prstGeom prst="rect">
            <a:avLst>
              <a:gd name="adj" fmla="val 952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5943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 - Still Unresolved / Protocol Caveats</a:t>
            </a:r>
          </a:p>
        </p:txBody>
      </p:sp>
      <p:sp>
        <p:nvSpPr>
          <p:cNvPr id="30" name="Text 28"/>
          <p:cNvSpPr/>
          <p:nvPr/>
        </p:nvSpPr>
        <p:spPr>
          <a:xfrm>
            <a:off x="6272784" y="10424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72784" y="1261872"/>
            <a:ext cx="2633472" cy="822960"/>
          </a:xfrm>
          <a:prstGeom prst="rect">
            <a:avLst>
              <a:gd name="adj" fmla="val 4444"/>
            </a:avLst>
          </a:prstGeom>
          <a:solidFill>
            <a:srgbClr val="DC2626">
              <a:alpha val="10000"/>
            </a:srgbClr>
          </a:solidFill>
          <a:ln w="508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1298448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Headpose: 20.65 deg vs 3.52 deg</a:t>
            </a:r>
          </a:p>
          <a:p>
            <a:r>
              <a:t>Age: bucket-center MAE may not match paper</a:t>
            </a:r>
          </a:p>
          <a:p>
            <a:r>
              <a:t>Visibility: above-paper result needs metric/protocol verification</a:t>
            </a:r>
          </a:p>
        </p:txBody>
      </p:sp>
      <p:sp>
        <p:nvSpPr>
          <p:cNvPr id="33" name="Text 31"/>
          <p:cNvSpPr/>
          <p:nvPr/>
        </p:nvSpPr>
        <p:spPr>
          <a:xfrm>
            <a:off x="6272784" y="217627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72784" y="2395728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Headpose likely depends on BIWI crop/alignment and Euler conversion. Age/visibility need exact metric protocol checks before strong claims.</a:t>
            </a:r>
          </a:p>
        </p:txBody>
      </p:sp>
      <p:sp>
        <p:nvSpPr>
          <p:cNvPr id="35" name="Text 33"/>
          <p:cNvSpPr/>
          <p:nvPr/>
        </p:nvSpPr>
        <p:spPr>
          <a:xfrm>
            <a:off x="6272784" y="356616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72784" y="3785616"/>
            <a:ext cx="2633472" cy="914400"/>
          </a:xfrm>
          <a:prstGeom prst="rect">
            <a:avLst>
              <a:gd name="adj" fmla="val 4000"/>
            </a:avLst>
          </a:prstGeom>
          <a:solidFill>
            <a:srgbClr val="DC2626">
              <a:alpha val="12000"/>
            </a:srgbClr>
          </a:solidFill>
          <a:ln w="508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382219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Next technical work should prioritize BIWI headpose, then true-age MAE and visibility protocol validation.</a:t>
            </a:r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Key insight: several apparent failures were reproducibility-protocol bugs. The remaining headline failure is headpose.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Ablation Status After Baseline Fixes</a:t>
            </a:r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Old ablation numbers are stale until rerun with corrected loaders and metrics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201168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Current baseline fixed</a:t>
            </a:r>
          </a:p>
        </p:txBody>
      </p:sp>
      <p:sp>
        <p:nvSpPr>
          <p:cNvPr id="7" name="Shape 5"/>
          <p:cNvSpPr/>
          <p:nvPr/>
        </p:nvSpPr>
        <p:spPr>
          <a:xfrm>
            <a:off x="2468880" y="594360"/>
            <a:ext cx="201168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594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Ablations pending</a:t>
            </a:r>
          </a:p>
        </p:txBody>
      </p:sp>
      <p:sp>
        <p:nvSpPr>
          <p:cNvPr id="9" name="Shape 7"/>
          <p:cNvSpPr/>
          <p:nvPr/>
        </p:nvSpPr>
        <p:spPr>
          <a:xfrm>
            <a:off x="182880" y="859536"/>
            <a:ext cx="8778240" cy="3017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59536"/>
            <a:ext cx="10058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Area</a:t>
            </a:r>
          </a:p>
        </p:txBody>
      </p:sp>
      <p:sp>
        <p:nvSpPr>
          <p:cNvPr id="11" name="Text 9"/>
          <p:cNvSpPr/>
          <p:nvPr/>
        </p:nvSpPr>
        <p:spPr>
          <a:xfrm>
            <a:off x="1234440" y="859536"/>
            <a:ext cx="13258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Dataset</a:t>
            </a:r>
          </a:p>
        </p:txBody>
      </p:sp>
      <p:sp>
        <p:nvSpPr>
          <p:cNvPr id="12" name="Text 10"/>
          <p:cNvSpPr/>
          <p:nvPr/>
        </p:nvSpPr>
        <p:spPr>
          <a:xfrm>
            <a:off x="2606040" y="859536"/>
            <a:ext cx="80467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Metric</a:t>
            </a:r>
          </a:p>
        </p:txBody>
      </p:sp>
      <p:sp>
        <p:nvSpPr>
          <p:cNvPr id="13" name="Text 11"/>
          <p:cNvSpPr/>
          <p:nvPr/>
        </p:nvSpPr>
        <p:spPr>
          <a:xfrm>
            <a:off x="3456432" y="859536"/>
            <a:ext cx="102412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Current Baseline</a:t>
            </a:r>
          </a:p>
        </p:txBody>
      </p:sp>
      <p:sp>
        <p:nvSpPr>
          <p:cNvPr id="14" name="Text 12"/>
          <p:cNvSpPr/>
          <p:nvPr/>
        </p:nvSpPr>
        <p:spPr>
          <a:xfrm>
            <a:off x="4526280" y="859536"/>
            <a:ext cx="107899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Missing Value</a:t>
            </a:r>
          </a:p>
        </p:txBody>
      </p:sp>
      <p:sp>
        <p:nvSpPr>
          <p:cNvPr id="15" name="Text 13"/>
          <p:cNvSpPr/>
          <p:nvPr/>
        </p:nvSpPr>
        <p:spPr>
          <a:xfrm>
            <a:off x="5650992" y="859536"/>
            <a:ext cx="116128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Required Update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0" y="859536"/>
            <a:ext cx="20574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Note</a:t>
            </a:r>
          </a:p>
        </p:txBody>
      </p:sp>
      <p:sp>
        <p:nvSpPr>
          <p:cNvPr id="17" name="Shape 15"/>
          <p:cNvSpPr/>
          <p:nvPr/>
        </p:nvSpPr>
        <p:spPr>
          <a:xfrm>
            <a:off x="182880" y="1188720"/>
            <a:ext cx="877824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1188720"/>
            <a:ext cx="10058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Augmentation</a:t>
            </a:r>
          </a:p>
        </p:txBody>
      </p:sp>
      <p:sp>
        <p:nvSpPr>
          <p:cNvPr id="19" name="Text 17"/>
          <p:cNvSpPr/>
          <p:nvPr/>
        </p:nvSpPr>
        <p:spPr>
          <a:xfrm>
            <a:off x="1234440" y="1188720"/>
            <a:ext cx="13258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8-task eval</a:t>
            </a:r>
          </a:p>
        </p:txBody>
      </p:sp>
      <p:sp>
        <p:nvSpPr>
          <p:cNvPr id="20" name="Text 18"/>
          <p:cNvSpPr/>
          <p:nvPr/>
        </p:nvSpPr>
        <p:spPr>
          <a:xfrm>
            <a:off x="2606040" y="1188720"/>
            <a:ext cx="80467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task metrics</a:t>
            </a:r>
          </a:p>
        </p:txBody>
      </p:sp>
      <p:sp>
        <p:nvSpPr>
          <p:cNvPr id="21" name="Text 19"/>
          <p:cNvSpPr/>
          <p:nvPr/>
        </p:nvSpPr>
        <p:spPr>
          <a:xfrm>
            <a:off x="3456432" y="1188720"/>
            <a:ext cx="102412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fresh fixed</a:t>
            </a:r>
          </a:p>
        </p:txBody>
      </p:sp>
      <p:sp>
        <p:nvSpPr>
          <p:cNvPr id="22" name="Text 20"/>
          <p:cNvSpPr/>
          <p:nvPr/>
        </p:nvSpPr>
        <p:spPr>
          <a:xfrm>
            <a:off x="4526280" y="1188720"/>
            <a:ext cx="107899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with/without</a:t>
            </a:r>
          </a:p>
        </p:txBody>
      </p:sp>
      <p:sp>
        <p:nvSpPr>
          <p:cNvPr id="23" name="Text 21"/>
          <p:cNvSpPr/>
          <p:nvPr/>
        </p:nvSpPr>
        <p:spPr>
          <a:xfrm>
            <a:off x="5650992" y="1188720"/>
            <a:ext cx="116128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rerun</a:t>
            </a:r>
          </a:p>
        </p:txBody>
      </p:sp>
      <p:sp>
        <p:nvSpPr>
          <p:cNvPr id="24" name="Shape 22"/>
          <p:cNvSpPr/>
          <p:nvPr/>
        </p:nvSpPr>
        <p:spPr>
          <a:xfrm>
            <a:off x="6903720" y="1234440"/>
            <a:ext cx="1965960" cy="265176"/>
          </a:xfrm>
          <a:prstGeom prst="rect">
            <a:avLst>
              <a:gd name="adj" fmla="val 13793"/>
            </a:avLst>
          </a:prstGeom>
          <a:solidFill>
            <a:srgbClr val="64748B">
              <a:alpha val="12000"/>
            </a:srgbClr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123444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old values invalid</a:t>
            </a:r>
          </a:p>
        </p:txBody>
      </p:sp>
      <p:sp>
        <p:nvSpPr>
          <p:cNvPr id="26" name="Shape 24"/>
          <p:cNvSpPr/>
          <p:nvPr/>
        </p:nvSpPr>
        <p:spPr>
          <a:xfrm>
            <a:off x="182880" y="1545336"/>
            <a:ext cx="8778240" cy="35661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1545336"/>
            <a:ext cx="10058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Attention</a:t>
            </a:r>
          </a:p>
        </p:txBody>
      </p:sp>
      <p:sp>
        <p:nvSpPr>
          <p:cNvPr id="28" name="Text 26"/>
          <p:cNvSpPr/>
          <p:nvPr/>
        </p:nvSpPr>
        <p:spPr>
          <a:xfrm>
            <a:off x="1234440" y="1545336"/>
            <a:ext cx="13258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core model</a:t>
            </a:r>
          </a:p>
        </p:txBody>
      </p:sp>
      <p:sp>
        <p:nvSpPr>
          <p:cNvPr id="29" name="Text 27"/>
          <p:cNvSpPr/>
          <p:nvPr/>
        </p:nvSpPr>
        <p:spPr>
          <a:xfrm>
            <a:off x="2606040" y="1545336"/>
            <a:ext cx="80467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task metrics</a:t>
            </a:r>
          </a:p>
        </p:txBody>
      </p:sp>
      <p:sp>
        <p:nvSpPr>
          <p:cNvPr id="30" name="Text 28"/>
          <p:cNvSpPr/>
          <p:nvPr/>
        </p:nvSpPr>
        <p:spPr>
          <a:xfrm>
            <a:off x="3456432" y="1545336"/>
            <a:ext cx="102412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baseline only</a:t>
            </a:r>
          </a:p>
        </p:txBody>
      </p:sp>
      <p:sp>
        <p:nvSpPr>
          <p:cNvPr id="31" name="Text 29"/>
          <p:cNvSpPr/>
          <p:nvPr/>
        </p:nvSpPr>
        <p:spPr>
          <a:xfrm>
            <a:off x="4526280" y="1545336"/>
            <a:ext cx="107899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standard CA</a:t>
            </a:r>
          </a:p>
        </p:txBody>
      </p:sp>
      <p:sp>
        <p:nvSpPr>
          <p:cNvPr id="32" name="Text 30"/>
          <p:cNvSpPr/>
          <p:nvPr/>
        </p:nvSpPr>
        <p:spPr>
          <a:xfrm>
            <a:off x="5650992" y="1545336"/>
            <a:ext cx="116128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implement toggle</a:t>
            </a:r>
          </a:p>
        </p:txBody>
      </p:sp>
      <p:sp>
        <p:nvSpPr>
          <p:cNvPr id="33" name="Shape 31"/>
          <p:cNvSpPr/>
          <p:nvPr/>
        </p:nvSpPr>
        <p:spPr>
          <a:xfrm>
            <a:off x="6903720" y="1591056"/>
            <a:ext cx="1965960" cy="265176"/>
          </a:xfrm>
          <a:prstGeom prst="rect">
            <a:avLst>
              <a:gd name="adj" fmla="val 13793"/>
            </a:avLst>
          </a:prstGeom>
          <a:solidFill>
            <a:srgbClr val="64748B">
              <a:alpha val="12000"/>
            </a:srgbClr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1152" y="159105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paper ablation</a:t>
            </a:r>
          </a:p>
        </p:txBody>
      </p:sp>
      <p:sp>
        <p:nvSpPr>
          <p:cNvPr id="35" name="Shape 33"/>
          <p:cNvSpPr/>
          <p:nvPr/>
        </p:nvSpPr>
        <p:spPr>
          <a:xfrm>
            <a:off x="182880" y="1901952"/>
            <a:ext cx="877824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1901952"/>
            <a:ext cx="10058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Sampling</a:t>
            </a:r>
          </a:p>
        </p:txBody>
      </p:sp>
      <p:sp>
        <p:nvSpPr>
          <p:cNvPr id="37" name="Text 35"/>
          <p:cNvSpPr/>
          <p:nvPr/>
        </p:nvSpPr>
        <p:spPr>
          <a:xfrm>
            <a:off x="1234440" y="1901952"/>
            <a:ext cx="13258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multi-task</a:t>
            </a:r>
          </a:p>
        </p:txBody>
      </p:sp>
      <p:sp>
        <p:nvSpPr>
          <p:cNvPr id="38" name="Text 36"/>
          <p:cNvSpPr/>
          <p:nvPr/>
        </p:nvSpPr>
        <p:spPr>
          <a:xfrm>
            <a:off x="2606040" y="1901952"/>
            <a:ext cx="80467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task metrics</a:t>
            </a:r>
          </a:p>
        </p:txBody>
      </p:sp>
      <p:sp>
        <p:nvSpPr>
          <p:cNvPr id="39" name="Text 37"/>
          <p:cNvSpPr/>
          <p:nvPr/>
        </p:nvSpPr>
        <p:spPr>
          <a:xfrm>
            <a:off x="3456432" y="1901952"/>
            <a:ext cx="102412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balanced only</a:t>
            </a:r>
          </a:p>
        </p:txBody>
      </p:sp>
      <p:sp>
        <p:nvSpPr>
          <p:cNvPr id="40" name="Text 38"/>
          <p:cNvSpPr/>
          <p:nvPr/>
        </p:nvSpPr>
        <p:spPr>
          <a:xfrm>
            <a:off x="4526280" y="1901952"/>
            <a:ext cx="107899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unbalanced</a:t>
            </a:r>
          </a:p>
        </p:txBody>
      </p:sp>
      <p:sp>
        <p:nvSpPr>
          <p:cNvPr id="41" name="Text 39"/>
          <p:cNvSpPr/>
          <p:nvPr/>
        </p:nvSpPr>
        <p:spPr>
          <a:xfrm>
            <a:off x="5650992" y="1901952"/>
            <a:ext cx="116128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rerun</a:t>
            </a:r>
          </a:p>
        </p:txBody>
      </p:sp>
      <p:sp>
        <p:nvSpPr>
          <p:cNvPr id="42" name="Shape 40"/>
          <p:cNvSpPr/>
          <p:nvPr/>
        </p:nvSpPr>
        <p:spPr>
          <a:xfrm>
            <a:off x="6903720" y="1947672"/>
            <a:ext cx="1965960" cy="265176"/>
          </a:xfrm>
          <a:prstGeom prst="rect">
            <a:avLst>
              <a:gd name="adj" fmla="val 13793"/>
            </a:avLst>
          </a:prstGeom>
          <a:solidFill>
            <a:srgbClr val="D97706">
              <a:alpha val="12000"/>
            </a:srgbClr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194767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important for small sets</a:t>
            </a:r>
          </a:p>
        </p:txBody>
      </p:sp>
      <p:sp>
        <p:nvSpPr>
          <p:cNvPr id="44" name="Shape 42"/>
          <p:cNvSpPr/>
          <p:nvPr/>
        </p:nvSpPr>
        <p:spPr>
          <a:xfrm>
            <a:off x="182880" y="2258568"/>
            <a:ext cx="8778240" cy="35661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2258568"/>
            <a:ext cx="10058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Single-task</a:t>
            </a:r>
          </a:p>
        </p:txBody>
      </p:sp>
      <p:sp>
        <p:nvSpPr>
          <p:cNvPr id="46" name="Text 44"/>
          <p:cNvSpPr/>
          <p:nvPr/>
        </p:nvSpPr>
        <p:spPr>
          <a:xfrm>
            <a:off x="1234440" y="2258568"/>
            <a:ext cx="13258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per task</a:t>
            </a:r>
          </a:p>
        </p:txBody>
      </p:sp>
      <p:sp>
        <p:nvSpPr>
          <p:cNvPr id="47" name="Text 45"/>
          <p:cNvSpPr/>
          <p:nvPr/>
        </p:nvSpPr>
        <p:spPr>
          <a:xfrm>
            <a:off x="2606040" y="2258568"/>
            <a:ext cx="80467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paper metrics</a:t>
            </a:r>
          </a:p>
        </p:txBody>
      </p:sp>
      <p:sp>
        <p:nvSpPr>
          <p:cNvPr id="48" name="Text 46"/>
          <p:cNvSpPr/>
          <p:nvPr/>
        </p:nvSpPr>
        <p:spPr>
          <a:xfrm>
            <a:off x="3456432" y="2258568"/>
            <a:ext cx="102412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not run</a:t>
            </a:r>
          </a:p>
        </p:txBody>
      </p:sp>
      <p:sp>
        <p:nvSpPr>
          <p:cNvPr id="49" name="Text 47"/>
          <p:cNvSpPr/>
          <p:nvPr/>
        </p:nvSpPr>
        <p:spPr>
          <a:xfrm>
            <a:off x="4526280" y="2258568"/>
            <a:ext cx="107899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single-task models</a:t>
            </a:r>
          </a:p>
        </p:txBody>
      </p:sp>
      <p:sp>
        <p:nvSpPr>
          <p:cNvPr id="50" name="Text 48"/>
          <p:cNvSpPr/>
          <p:nvPr/>
        </p:nvSpPr>
        <p:spPr>
          <a:xfrm>
            <a:off x="5650992" y="2258568"/>
            <a:ext cx="116128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cloud train</a:t>
            </a:r>
          </a:p>
        </p:txBody>
      </p:sp>
      <p:sp>
        <p:nvSpPr>
          <p:cNvPr id="51" name="Shape 49"/>
          <p:cNvSpPr/>
          <p:nvPr/>
        </p:nvSpPr>
        <p:spPr>
          <a:xfrm>
            <a:off x="6903720" y="2304288"/>
            <a:ext cx="1965960" cy="265176"/>
          </a:xfrm>
          <a:prstGeom prst="rect">
            <a:avLst>
              <a:gd name="adj" fmla="val 13793"/>
            </a:avLst>
          </a:prstGeom>
          <a:solidFill>
            <a:srgbClr val="16A34A">
              <a:alpha val="12000"/>
            </a:srgbClr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31152" y="230428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costly but valuable</a:t>
            </a:r>
          </a:p>
        </p:txBody>
      </p:sp>
      <p:sp>
        <p:nvSpPr>
          <p:cNvPr id="53" name="Shape 51"/>
          <p:cNvSpPr/>
          <p:nvPr/>
        </p:nvSpPr>
        <p:spPr>
          <a:xfrm>
            <a:off x="182880" y="2615184"/>
            <a:ext cx="877824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2615184"/>
            <a:ext cx="10058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Headpose</a:t>
            </a:r>
          </a:p>
        </p:txBody>
      </p:sp>
      <p:sp>
        <p:nvSpPr>
          <p:cNvPr id="55" name="Text 53"/>
          <p:cNvSpPr/>
          <p:nvPr/>
        </p:nvSpPr>
        <p:spPr>
          <a:xfrm>
            <a:off x="1234440" y="2615184"/>
            <a:ext cx="13258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BIWI</a:t>
            </a:r>
          </a:p>
        </p:txBody>
      </p:sp>
      <p:sp>
        <p:nvSpPr>
          <p:cNvPr id="56" name="Text 54"/>
          <p:cNvSpPr/>
          <p:nvPr/>
        </p:nvSpPr>
        <p:spPr>
          <a:xfrm>
            <a:off x="2606040" y="2615184"/>
            <a:ext cx="80467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</a:t>
            </a:r>
          </a:p>
        </p:txBody>
      </p:sp>
      <p:sp>
        <p:nvSpPr>
          <p:cNvPr id="57" name="Text 55"/>
          <p:cNvSpPr/>
          <p:nvPr/>
        </p:nvSpPr>
        <p:spPr>
          <a:xfrm>
            <a:off x="3456432" y="2615184"/>
            <a:ext cx="102412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20.65 deg</a:t>
            </a:r>
          </a:p>
        </p:txBody>
      </p:sp>
      <p:sp>
        <p:nvSpPr>
          <p:cNvPr id="58" name="Text 56"/>
          <p:cNvSpPr/>
          <p:nvPr/>
        </p:nvSpPr>
        <p:spPr>
          <a:xfrm>
            <a:off x="4526280" y="2615184"/>
            <a:ext cx="107899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crop/Euler variants</a:t>
            </a:r>
          </a:p>
        </p:txBody>
      </p:sp>
      <p:sp>
        <p:nvSpPr>
          <p:cNvPr id="59" name="Text 57"/>
          <p:cNvSpPr/>
          <p:nvPr/>
        </p:nvSpPr>
        <p:spPr>
          <a:xfrm>
            <a:off x="5650992" y="2615184"/>
            <a:ext cx="116128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debug</a:t>
            </a:r>
          </a:p>
        </p:txBody>
      </p:sp>
      <p:sp>
        <p:nvSpPr>
          <p:cNvPr id="60" name="Shape 58"/>
          <p:cNvSpPr/>
          <p:nvPr/>
        </p:nvSpPr>
        <p:spPr>
          <a:xfrm>
            <a:off x="6903720" y="2660904"/>
            <a:ext cx="1965960" cy="265176"/>
          </a:xfrm>
          <a:prstGeom prst="rect">
            <a:avLst>
              <a:gd name="adj" fmla="val 13793"/>
            </a:avLst>
          </a:prstGeom>
          <a:solidFill>
            <a:srgbClr val="64748B">
              <a:alpha val="12000"/>
            </a:srgbClr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31152" y="26609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largest gap</a:t>
            </a:r>
          </a:p>
        </p:txBody>
      </p:sp>
      <p:sp>
        <p:nvSpPr>
          <p:cNvPr id="62" name="Shape 60"/>
          <p:cNvSpPr/>
          <p:nvPr/>
        </p:nvSpPr>
        <p:spPr>
          <a:xfrm>
            <a:off x="182880" y="2971800"/>
            <a:ext cx="8778240" cy="356616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2971800"/>
            <a:ext cx="10058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Age</a:t>
            </a:r>
          </a:p>
        </p:txBody>
      </p:sp>
      <p:sp>
        <p:nvSpPr>
          <p:cNvPr id="64" name="Text 62"/>
          <p:cNvSpPr/>
          <p:nvPr/>
        </p:nvSpPr>
        <p:spPr>
          <a:xfrm>
            <a:off x="1234440" y="2971800"/>
            <a:ext cx="13258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UTKFace</a:t>
            </a:r>
          </a:p>
        </p:txBody>
      </p:sp>
      <p:sp>
        <p:nvSpPr>
          <p:cNvPr id="65" name="Text 63"/>
          <p:cNvSpPr/>
          <p:nvPr/>
        </p:nvSpPr>
        <p:spPr>
          <a:xfrm>
            <a:off x="2606040" y="2971800"/>
            <a:ext cx="80467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</a:t>
            </a:r>
          </a:p>
        </p:txBody>
      </p:sp>
      <p:sp>
        <p:nvSpPr>
          <p:cNvPr id="66" name="Text 64"/>
          <p:cNvSpPr/>
          <p:nvPr/>
        </p:nvSpPr>
        <p:spPr>
          <a:xfrm>
            <a:off x="3456432" y="2971800"/>
            <a:ext cx="102412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1.17 bucket</a:t>
            </a:r>
          </a:p>
        </p:txBody>
      </p:sp>
      <p:sp>
        <p:nvSpPr>
          <p:cNvPr id="67" name="Text 65"/>
          <p:cNvSpPr/>
          <p:nvPr/>
        </p:nvSpPr>
        <p:spPr>
          <a:xfrm>
            <a:off x="4526280" y="2971800"/>
            <a:ext cx="107899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true-age MAE</a:t>
            </a:r>
          </a:p>
        </p:txBody>
      </p:sp>
      <p:sp>
        <p:nvSpPr>
          <p:cNvPr id="68" name="Text 66"/>
          <p:cNvSpPr/>
          <p:nvPr/>
        </p:nvSpPr>
        <p:spPr>
          <a:xfrm>
            <a:off x="5650992" y="2971800"/>
            <a:ext cx="116128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add metric</a:t>
            </a:r>
          </a:p>
        </p:txBody>
      </p:sp>
      <p:sp>
        <p:nvSpPr>
          <p:cNvPr id="69" name="Shape 67"/>
          <p:cNvSpPr/>
          <p:nvPr/>
        </p:nvSpPr>
        <p:spPr>
          <a:xfrm>
            <a:off x="6903720" y="3017520"/>
            <a:ext cx="1965960" cy="265176"/>
          </a:xfrm>
          <a:prstGeom prst="rect">
            <a:avLst>
              <a:gd name="adj" fmla="val 13793"/>
            </a:avLst>
          </a:prstGeom>
          <a:solidFill>
            <a:srgbClr val="D97706">
              <a:alpha val="12000"/>
            </a:srgbClr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31152" y="301752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protocol caveat</a:t>
            </a:r>
          </a:p>
        </p:txBody>
      </p:sp>
      <p:sp>
        <p:nvSpPr>
          <p:cNvPr id="71" name="Shape 69"/>
          <p:cNvSpPr/>
          <p:nvPr/>
        </p:nvSpPr>
        <p:spPr>
          <a:xfrm>
            <a:off x="182880" y="3328416"/>
            <a:ext cx="8778240" cy="35661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2880" y="3328416"/>
            <a:ext cx="10058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LFWA</a:t>
            </a:r>
          </a:p>
        </p:txBody>
      </p:sp>
      <p:sp>
        <p:nvSpPr>
          <p:cNvPr id="73" name="Text 71"/>
          <p:cNvSpPr/>
          <p:nvPr/>
        </p:nvSpPr>
        <p:spPr>
          <a:xfrm>
            <a:off x="1234440" y="3328416"/>
            <a:ext cx="132588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attributes</a:t>
            </a:r>
          </a:p>
        </p:txBody>
      </p:sp>
      <p:sp>
        <p:nvSpPr>
          <p:cNvPr id="74" name="Text 72"/>
          <p:cNvSpPr/>
          <p:nvPr/>
        </p:nvSpPr>
        <p:spPr>
          <a:xfrm>
            <a:off x="2606040" y="3328416"/>
            <a:ext cx="80467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Accuracy</a:t>
            </a:r>
          </a:p>
        </p:txBody>
      </p:sp>
      <p:sp>
        <p:nvSpPr>
          <p:cNvPr id="75" name="Text 73"/>
          <p:cNvSpPr/>
          <p:nvPr/>
        </p:nvSpPr>
        <p:spPr>
          <a:xfrm>
            <a:off x="3456432" y="3328416"/>
            <a:ext cx="102412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61.06%</a:t>
            </a:r>
          </a:p>
        </p:txBody>
      </p:sp>
      <p:sp>
        <p:nvSpPr>
          <p:cNvPr id="76" name="Text 74"/>
          <p:cNvSpPr/>
          <p:nvPr/>
        </p:nvSpPr>
        <p:spPr>
          <a:xfrm>
            <a:off x="4526280" y="3328416"/>
            <a:ext cx="1078992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mapped attrs</a:t>
            </a:r>
          </a:p>
        </p:txBody>
      </p:sp>
      <p:sp>
        <p:nvSpPr>
          <p:cNvPr id="77" name="Text 75"/>
          <p:cNvSpPr/>
          <p:nvPr/>
        </p:nvSpPr>
        <p:spPr>
          <a:xfrm>
            <a:off x="5650992" y="3328416"/>
            <a:ext cx="1161288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verify order</a:t>
            </a:r>
          </a:p>
        </p:txBody>
      </p:sp>
      <p:sp>
        <p:nvSpPr>
          <p:cNvPr id="78" name="Shape 76"/>
          <p:cNvSpPr/>
          <p:nvPr/>
        </p:nvSpPr>
        <p:spPr>
          <a:xfrm>
            <a:off x="6903720" y="3374136"/>
            <a:ext cx="1965960" cy="265176"/>
          </a:xfrm>
          <a:prstGeom prst="rect">
            <a:avLst>
              <a:gd name="adj" fmla="val 13793"/>
            </a:avLst>
          </a:prstGeom>
          <a:solidFill>
            <a:srgbClr val="64748B">
              <a:alpha val="12000"/>
            </a:srgbClr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931152" y="337413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cross-dataset gap</a:t>
            </a:r>
          </a:p>
        </p:txBody>
      </p:sp>
      <p:sp>
        <p:nvSpPr>
          <p:cNvPr id="80" name="Shape 78"/>
          <p:cNvSpPr/>
          <p:nvPr/>
        </p:nvSpPr>
        <p:spPr>
          <a:xfrm>
            <a:off x="182880" y="3749040"/>
            <a:ext cx="8778240" cy="566928"/>
          </a:xfrm>
          <a:prstGeom prst="rect">
            <a:avLst>
              <a:gd name="adj" fmla="val 9677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7472" y="37947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Key finding:</a:t>
            </a:r>
          </a:p>
        </p:txBody>
      </p:sp>
      <p:sp>
        <p:nvSpPr>
          <p:cNvPr id="82" name="Text 80"/>
          <p:cNvSpPr/>
          <p:nvPr/>
        </p:nvSpPr>
        <p:spPr>
          <a:xfrm>
            <a:off x="1298448" y="37947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Ablation slides should not use the old 12-epoch numbers until rerun after the protocol fixes. Otherwise they will mix real model effects with fixed data/metric bugs.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Remaining Work Before Final Write-Up</a:t>
            </a:r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8778240" cy="365760"/>
          </a:xfrm>
          <a:prstGeom prst="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Priority order after the fresh fixed baseline</a:t>
            </a:r>
          </a:p>
        </p:txBody>
      </p:sp>
      <p:sp>
        <p:nvSpPr>
          <p:cNvPr id="6" name="Text 4"/>
          <p:cNvSpPr/>
          <p:nvPr/>
        </p:nvSpPr>
        <p:spPr>
          <a:xfrm>
            <a:off x="182880" y="107899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1 - Resolve / Verify Remaining Metrics</a:t>
            </a:r>
          </a:p>
        </p:txBody>
      </p:sp>
      <p:sp>
        <p:nvSpPr>
          <p:cNvPr id="7" name="Shape 5"/>
          <p:cNvSpPr/>
          <p:nvPr/>
        </p:nvSpPr>
        <p:spPr>
          <a:xfrm>
            <a:off x="182880" y="1371600"/>
            <a:ext cx="8778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371600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Item</a:t>
            </a:r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132588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Metric</a:t>
            </a:r>
          </a:p>
        </p:txBody>
      </p:sp>
      <p:sp>
        <p:nvSpPr>
          <p:cNvPr id="10" name="Text 8"/>
          <p:cNvSpPr/>
          <p:nvPr/>
        </p:nvSpPr>
        <p:spPr>
          <a:xfrm>
            <a:off x="2560320" y="1371600"/>
            <a:ext cx="777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Current</a:t>
            </a:r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Needed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Next Step</a:t>
            </a:r>
          </a:p>
        </p:txBody>
      </p:sp>
      <p:sp>
        <p:nvSpPr>
          <p:cNvPr id="13" name="Text 11"/>
          <p:cNvSpPr/>
          <p:nvPr/>
        </p:nvSpPr>
        <p:spPr>
          <a:xfrm>
            <a:off x="749808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/>
        </p:txBody>
      </p:sp>
      <p:sp>
        <p:nvSpPr>
          <p:cNvPr id="14" name="Shape 12"/>
          <p:cNvSpPr/>
          <p:nvPr/>
        </p:nvSpPr>
        <p:spPr>
          <a:xfrm>
            <a:off x="182880" y="1664208"/>
            <a:ext cx="87782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BIWI Euler</a:t>
            </a:r>
          </a:p>
        </p:txBody>
      </p:sp>
      <p:sp>
        <p:nvSpPr>
          <p:cNvPr id="16" name="Text 14"/>
          <p:cNvSpPr/>
          <p:nvPr/>
        </p:nvSpPr>
        <p:spPr>
          <a:xfrm>
            <a:off x="2560320" y="1664208"/>
            <a:ext cx="777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</a:t>
            </a:r>
          </a:p>
        </p:txBody>
      </p:sp>
      <p:sp>
        <p:nvSpPr>
          <p:cNvPr id="17" name="Shape 15"/>
          <p:cNvSpPr/>
          <p:nvPr/>
        </p:nvSpPr>
        <p:spPr>
          <a:xfrm>
            <a:off x="3456432" y="1709928"/>
            <a:ext cx="191109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70992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20.65 deg</a:t>
            </a:r>
          </a:p>
        </p:txBody>
      </p:sp>
      <p:sp>
        <p:nvSpPr>
          <p:cNvPr id="19" name="Shape 17"/>
          <p:cNvSpPr/>
          <p:nvPr/>
        </p:nvSpPr>
        <p:spPr>
          <a:xfrm>
            <a:off x="5559552" y="1709928"/>
            <a:ext cx="18196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170992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paper convention</a:t>
            </a:r>
          </a:p>
        </p:txBody>
      </p:sp>
      <p:sp>
        <p:nvSpPr>
          <p:cNvPr id="21" name="Shape 19"/>
          <p:cNvSpPr/>
          <p:nvPr/>
        </p:nvSpPr>
        <p:spPr>
          <a:xfrm>
            <a:off x="7571232" y="1709928"/>
            <a:ext cx="12710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17099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scipy Rotation check</a:t>
            </a:r>
          </a:p>
        </p:txBody>
      </p:sp>
      <p:sp>
        <p:nvSpPr>
          <p:cNvPr id="23" name="Shape 21"/>
          <p:cNvSpPr/>
          <p:nvPr/>
        </p:nvSpPr>
        <p:spPr>
          <a:xfrm>
            <a:off x="182880" y="1938528"/>
            <a:ext cx="8778240" cy="2743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193852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Face crop</a:t>
            </a:r>
          </a:p>
        </p:txBody>
      </p:sp>
      <p:sp>
        <p:nvSpPr>
          <p:cNvPr id="25" name="Text 23"/>
          <p:cNvSpPr/>
          <p:nvPr/>
        </p:nvSpPr>
        <p:spPr>
          <a:xfrm>
            <a:off x="256032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</a:t>
            </a:r>
          </a:p>
        </p:txBody>
      </p:sp>
      <p:sp>
        <p:nvSpPr>
          <p:cNvPr id="26" name="Shape 24"/>
          <p:cNvSpPr/>
          <p:nvPr/>
        </p:nvSpPr>
        <p:spPr>
          <a:xfrm>
            <a:off x="3456432" y="1984248"/>
            <a:ext cx="191109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198424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20.65 deg</a:t>
            </a:r>
          </a:p>
        </p:txBody>
      </p:sp>
      <p:sp>
        <p:nvSpPr>
          <p:cNvPr id="28" name="Shape 26"/>
          <p:cNvSpPr/>
          <p:nvPr/>
        </p:nvSpPr>
        <p:spPr>
          <a:xfrm>
            <a:off x="5559552" y="1984248"/>
            <a:ext cx="18196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198424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official crop</a:t>
            </a:r>
          </a:p>
        </p:txBody>
      </p:sp>
      <p:sp>
        <p:nvSpPr>
          <p:cNvPr id="30" name="Shape 28"/>
          <p:cNvSpPr/>
          <p:nvPr/>
        </p:nvSpPr>
        <p:spPr>
          <a:xfrm>
            <a:off x="7571232" y="1984248"/>
            <a:ext cx="12710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198424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test MTCNN/margin</a:t>
            </a:r>
          </a:p>
        </p:txBody>
      </p:sp>
      <p:sp>
        <p:nvSpPr>
          <p:cNvPr id="32" name="Shape 30"/>
          <p:cNvSpPr/>
          <p:nvPr/>
        </p:nvSpPr>
        <p:spPr>
          <a:xfrm>
            <a:off x="182880" y="2212848"/>
            <a:ext cx="87782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Headpose order</a:t>
            </a:r>
          </a:p>
        </p:txBody>
      </p:sp>
      <p:sp>
        <p:nvSpPr>
          <p:cNvPr id="34" name="Text 32"/>
          <p:cNvSpPr/>
          <p:nvPr/>
        </p:nvSpPr>
        <p:spPr>
          <a:xfrm>
            <a:off x="256032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</a:t>
            </a:r>
          </a:p>
        </p:txBody>
      </p:sp>
      <p:sp>
        <p:nvSpPr>
          <p:cNvPr id="35" name="Shape 33"/>
          <p:cNvSpPr/>
          <p:nvPr/>
        </p:nvSpPr>
        <p:spPr>
          <a:xfrm>
            <a:off x="3456432" y="2258568"/>
            <a:ext cx="191109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225856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ambiguous</a:t>
            </a:r>
          </a:p>
        </p:txBody>
      </p:sp>
      <p:sp>
        <p:nvSpPr>
          <p:cNvPr id="37" name="Shape 35"/>
          <p:cNvSpPr/>
          <p:nvPr/>
        </p:nvSpPr>
        <p:spPr>
          <a:xfrm>
            <a:off x="5559552" y="2258568"/>
            <a:ext cx="18196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225856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official output order</a:t>
            </a:r>
          </a:p>
        </p:txBody>
      </p:sp>
      <p:sp>
        <p:nvSpPr>
          <p:cNvPr id="39" name="Shape 37"/>
          <p:cNvSpPr/>
          <p:nvPr/>
        </p:nvSpPr>
        <p:spPr>
          <a:xfrm>
            <a:off x="7571232" y="2258568"/>
            <a:ext cx="12710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71232" y="225856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document choice</a:t>
            </a:r>
          </a:p>
        </p:txBody>
      </p:sp>
      <p:sp>
        <p:nvSpPr>
          <p:cNvPr id="41" name="Shape 39"/>
          <p:cNvSpPr/>
          <p:nvPr/>
        </p:nvSpPr>
        <p:spPr>
          <a:xfrm>
            <a:off x="182880" y="2487168"/>
            <a:ext cx="8778240" cy="2743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Age metric</a:t>
            </a:r>
          </a:p>
        </p:txBody>
      </p:sp>
      <p:sp>
        <p:nvSpPr>
          <p:cNvPr id="43" name="Text 41"/>
          <p:cNvSpPr/>
          <p:nvPr/>
        </p:nvSpPr>
        <p:spPr>
          <a:xfrm>
            <a:off x="2560320" y="2487168"/>
            <a:ext cx="777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MAE</a:t>
            </a:r>
          </a:p>
        </p:txBody>
      </p:sp>
      <p:sp>
        <p:nvSpPr>
          <p:cNvPr id="44" name="Shape 42"/>
          <p:cNvSpPr/>
          <p:nvPr/>
        </p:nvSpPr>
        <p:spPr>
          <a:xfrm>
            <a:off x="3456432" y="2532888"/>
            <a:ext cx="191109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56432" y="253288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1.17 bucket</a:t>
            </a:r>
          </a:p>
        </p:txBody>
      </p:sp>
      <p:sp>
        <p:nvSpPr>
          <p:cNvPr id="46" name="Shape 44"/>
          <p:cNvSpPr/>
          <p:nvPr/>
        </p:nvSpPr>
        <p:spPr>
          <a:xfrm>
            <a:off x="5559552" y="2532888"/>
            <a:ext cx="18196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9552" y="25328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true-age MAE</a:t>
            </a:r>
          </a:p>
        </p:txBody>
      </p:sp>
      <p:sp>
        <p:nvSpPr>
          <p:cNvPr id="48" name="Shape 46"/>
          <p:cNvSpPr/>
          <p:nvPr/>
        </p:nvSpPr>
        <p:spPr>
          <a:xfrm>
            <a:off x="7571232" y="2532888"/>
            <a:ext cx="12710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1232" y="253288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add parallel metric</a:t>
            </a:r>
          </a:p>
        </p:txBody>
      </p:sp>
      <p:sp>
        <p:nvSpPr>
          <p:cNvPr id="50" name="Shape 48"/>
          <p:cNvSpPr/>
          <p:nvPr/>
        </p:nvSpPr>
        <p:spPr>
          <a:xfrm>
            <a:off x="182880" y="2761488"/>
            <a:ext cx="87782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276148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Visibility</a:t>
            </a:r>
          </a:p>
        </p:txBody>
      </p:sp>
      <p:sp>
        <p:nvSpPr>
          <p:cNvPr id="52" name="Text 50"/>
          <p:cNvSpPr/>
          <p:nvPr/>
        </p:nvSpPr>
        <p:spPr>
          <a:xfrm>
            <a:off x="2560320" y="2761488"/>
            <a:ext cx="777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Recall@P80</a:t>
            </a:r>
          </a:p>
        </p:txBody>
      </p:sp>
      <p:sp>
        <p:nvSpPr>
          <p:cNvPr id="53" name="Shape 51"/>
          <p:cNvSpPr/>
          <p:nvPr/>
        </p:nvSpPr>
        <p:spPr>
          <a:xfrm>
            <a:off x="3456432" y="2807208"/>
            <a:ext cx="191109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56432" y="280720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87.13%</a:t>
            </a:r>
          </a:p>
        </p:txBody>
      </p:sp>
      <p:sp>
        <p:nvSpPr>
          <p:cNvPr id="55" name="Shape 53"/>
          <p:cNvSpPr/>
          <p:nvPr/>
        </p:nvSpPr>
        <p:spPr>
          <a:xfrm>
            <a:off x="5559552" y="2807208"/>
            <a:ext cx="18196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59552" y="280720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paper protocol</a:t>
            </a:r>
          </a:p>
        </p:txBody>
      </p:sp>
      <p:sp>
        <p:nvSpPr>
          <p:cNvPr id="57" name="Shape 55"/>
          <p:cNvSpPr/>
          <p:nvPr/>
        </p:nvSpPr>
        <p:spPr>
          <a:xfrm>
            <a:off x="7571232" y="2807208"/>
            <a:ext cx="12710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71232" y="280720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verify positive class</a:t>
            </a:r>
          </a:p>
        </p:txBody>
      </p:sp>
      <p:sp>
        <p:nvSpPr>
          <p:cNvPr id="59" name="Shape 57"/>
          <p:cNvSpPr/>
          <p:nvPr/>
        </p:nvSpPr>
        <p:spPr>
          <a:xfrm>
            <a:off x="182880" y="3035808"/>
            <a:ext cx="8778240" cy="2743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303580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LFWA attrs</a:t>
            </a:r>
          </a:p>
        </p:txBody>
      </p:sp>
      <p:sp>
        <p:nvSpPr>
          <p:cNvPr id="61" name="Text 59"/>
          <p:cNvSpPr/>
          <p:nvPr/>
        </p:nvSpPr>
        <p:spPr>
          <a:xfrm>
            <a:off x="2560320" y="3035808"/>
            <a:ext cx="777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Accuracy</a:t>
            </a:r>
          </a:p>
        </p:txBody>
      </p:sp>
      <p:sp>
        <p:nvSpPr>
          <p:cNvPr id="62" name="Shape 60"/>
          <p:cNvSpPr/>
          <p:nvPr/>
        </p:nvSpPr>
        <p:spPr>
          <a:xfrm>
            <a:off x="3456432" y="3081528"/>
            <a:ext cx="191109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56432" y="308152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61.06%</a:t>
            </a:r>
          </a:p>
        </p:txBody>
      </p:sp>
      <p:sp>
        <p:nvSpPr>
          <p:cNvPr id="64" name="Shape 62"/>
          <p:cNvSpPr/>
          <p:nvPr/>
        </p:nvSpPr>
        <p:spPr>
          <a:xfrm>
            <a:off x="5559552" y="3081528"/>
            <a:ext cx="18196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59552" y="308152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name mapping</a:t>
            </a:r>
          </a:p>
        </p:txBody>
      </p:sp>
      <p:sp>
        <p:nvSpPr>
          <p:cNvPr id="66" name="Shape 64"/>
          <p:cNvSpPr/>
          <p:nvPr/>
        </p:nvSpPr>
        <p:spPr>
          <a:xfrm>
            <a:off x="7571232" y="3081528"/>
            <a:ext cx="12710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30815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align 40 attrs</a:t>
            </a:r>
          </a:p>
        </p:txBody>
      </p:sp>
      <p:sp>
        <p:nvSpPr>
          <p:cNvPr id="68" name="Text 66"/>
          <p:cNvSpPr/>
          <p:nvPr/>
        </p:nvSpPr>
        <p:spPr>
          <a:xfrm>
            <a:off x="182880" y="33832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2 - Experiments Still Missing</a:t>
            </a:r>
          </a:p>
        </p:txBody>
      </p:sp>
      <p:sp>
        <p:nvSpPr>
          <p:cNvPr id="69" name="Shape 67"/>
          <p:cNvSpPr/>
          <p:nvPr/>
        </p:nvSpPr>
        <p:spPr>
          <a:xfrm>
            <a:off x="182880" y="3657600"/>
            <a:ext cx="8778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3657600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Work Item</a:t>
            </a:r>
          </a:p>
        </p:txBody>
      </p:sp>
      <p:sp>
        <p:nvSpPr>
          <p:cNvPr id="71" name="Text 69"/>
          <p:cNvSpPr/>
          <p:nvPr/>
        </p:nvSpPr>
        <p:spPr>
          <a:xfrm>
            <a:off x="1188720" y="3657600"/>
            <a:ext cx="132588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/>
        </p:txBody>
      </p:sp>
      <p:sp>
        <p:nvSpPr>
          <p:cNvPr id="72" name="Text 70"/>
          <p:cNvSpPr/>
          <p:nvPr/>
        </p:nvSpPr>
        <p:spPr>
          <a:xfrm>
            <a:off x="2560320" y="3657600"/>
            <a:ext cx="27889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Current</a:t>
            </a:r>
          </a:p>
        </p:txBody>
      </p:sp>
      <p:sp>
        <p:nvSpPr>
          <p:cNvPr id="73" name="Text 71"/>
          <p:cNvSpPr/>
          <p:nvPr/>
        </p:nvSpPr>
        <p:spPr>
          <a:xfrm>
            <a:off x="539496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Needed</a:t>
            </a:r>
          </a:p>
        </p:txBody>
      </p:sp>
      <p:sp>
        <p:nvSpPr>
          <p:cNvPr id="74" name="Text 72"/>
          <p:cNvSpPr/>
          <p:nvPr/>
        </p:nvSpPr>
        <p:spPr>
          <a:xfrm>
            <a:off x="758952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Output</a:t>
            </a:r>
          </a:p>
        </p:txBody>
      </p:sp>
      <p:sp>
        <p:nvSpPr>
          <p:cNvPr id="75" name="Shape 73"/>
          <p:cNvSpPr/>
          <p:nvPr/>
        </p:nvSpPr>
        <p:spPr>
          <a:xfrm>
            <a:off x="182880" y="3950208"/>
            <a:ext cx="87782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395020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Single-task baseline</a:t>
            </a:r>
          </a:p>
        </p:txBody>
      </p:sp>
      <p:sp>
        <p:nvSpPr>
          <p:cNvPr id="77" name="Shape 75"/>
          <p:cNvSpPr/>
          <p:nvPr/>
        </p:nvSpPr>
        <p:spPr>
          <a:xfrm>
            <a:off x="2633472" y="3995928"/>
            <a:ext cx="26426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33472" y="39959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not run</a:t>
            </a:r>
          </a:p>
        </p:txBody>
      </p:sp>
      <p:sp>
        <p:nvSpPr>
          <p:cNvPr id="79" name="Shape 77"/>
          <p:cNvSpPr/>
          <p:nvPr/>
        </p:nvSpPr>
        <p:spPr>
          <a:xfrm>
            <a:off x="5468112" y="3995928"/>
            <a:ext cx="200253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68112" y="39959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train/eval</a:t>
            </a:r>
          </a:p>
        </p:txBody>
      </p:sp>
      <p:sp>
        <p:nvSpPr>
          <p:cNvPr id="81" name="Shape 79"/>
          <p:cNvSpPr/>
          <p:nvPr/>
        </p:nvSpPr>
        <p:spPr>
          <a:xfrm>
            <a:off x="7662672" y="3995928"/>
            <a:ext cx="11338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62672" y="399592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compare vs MTL</a:t>
            </a:r>
          </a:p>
        </p:txBody>
      </p:sp>
      <p:sp>
        <p:nvSpPr>
          <p:cNvPr id="83" name="Shape 81"/>
          <p:cNvSpPr/>
          <p:nvPr/>
        </p:nvSpPr>
        <p:spPr>
          <a:xfrm>
            <a:off x="182880" y="4224528"/>
            <a:ext cx="8778240" cy="27432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82880" y="422452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Ablation reruns</a:t>
            </a:r>
          </a:p>
        </p:txBody>
      </p:sp>
      <p:sp>
        <p:nvSpPr>
          <p:cNvPr id="85" name="Shape 83"/>
          <p:cNvSpPr/>
          <p:nvPr/>
        </p:nvSpPr>
        <p:spPr>
          <a:xfrm>
            <a:off x="2633472" y="4270248"/>
            <a:ext cx="26426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33472" y="427024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stale</a:t>
            </a:r>
          </a:p>
        </p:txBody>
      </p:sp>
      <p:sp>
        <p:nvSpPr>
          <p:cNvPr id="87" name="Shape 85"/>
          <p:cNvSpPr/>
          <p:nvPr/>
        </p:nvSpPr>
        <p:spPr>
          <a:xfrm>
            <a:off x="5468112" y="4270248"/>
            <a:ext cx="200253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68112" y="427024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rerun</a:t>
            </a:r>
          </a:p>
        </p:txBody>
      </p:sp>
      <p:sp>
        <p:nvSpPr>
          <p:cNvPr id="89" name="Shape 87"/>
          <p:cNvSpPr/>
          <p:nvPr/>
        </p:nvSpPr>
        <p:spPr>
          <a:xfrm>
            <a:off x="7662672" y="4270248"/>
            <a:ext cx="11338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62672" y="427024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clean tables</a:t>
            </a:r>
          </a:p>
        </p:txBody>
      </p:sp>
      <p:sp>
        <p:nvSpPr>
          <p:cNvPr id="91" name="Shape 89"/>
          <p:cNvSpPr/>
          <p:nvPr/>
        </p:nvSpPr>
        <p:spPr>
          <a:xfrm>
            <a:off x="182880" y="4498848"/>
            <a:ext cx="87782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82880" y="4498848"/>
            <a:ext cx="9601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t>Full 10-task gap</a:t>
            </a:r>
          </a:p>
        </p:txBody>
      </p:sp>
      <p:sp>
        <p:nvSpPr>
          <p:cNvPr id="93" name="Shape 91"/>
          <p:cNvSpPr/>
          <p:nvPr/>
        </p:nvSpPr>
        <p:spPr>
          <a:xfrm>
            <a:off x="2633472" y="4544568"/>
            <a:ext cx="264261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33472" y="45445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absent</a:t>
            </a:r>
          </a:p>
        </p:txBody>
      </p:sp>
      <p:sp>
        <p:nvSpPr>
          <p:cNvPr id="95" name="Shape 93"/>
          <p:cNvSpPr/>
          <p:nvPr/>
        </p:nvSpPr>
        <p:spPr>
          <a:xfrm>
            <a:off x="5468112" y="4544568"/>
            <a:ext cx="200253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68112" y="454456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document</a:t>
            </a:r>
          </a:p>
        </p:txBody>
      </p:sp>
      <p:sp>
        <p:nvSpPr>
          <p:cNvPr id="97" name="Shape 95"/>
          <p:cNvSpPr/>
          <p:nvPr/>
        </p:nvSpPr>
        <p:spPr>
          <a:xfrm>
            <a:off x="7662672" y="4544568"/>
            <a:ext cx="1133856" cy="182880"/>
          </a:xfrm>
          <a:prstGeom prst="rect">
            <a:avLst>
              <a:gd name="adj" fmla="val 15000"/>
            </a:avLst>
          </a:prstGeom>
          <a:solidFill>
            <a:srgbClr val="EDE9FE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662672" y="454456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scope limitation</a:t>
            </a:r>
          </a:p>
        </p:txBody>
      </p:sp>
      <p:sp>
        <p:nvSpPr>
          <p:cNvPr id="99" name="Text 97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Recommendation: present the fixed checkpoint baseline now; label headpose, age, visibility, and ablations as remaining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What This Project Reveals</a:t>
            </a:r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Reproducibility findings after full fixed checkpoint evaluation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987552"/>
          </a:xfrm>
          <a:prstGeom prst="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54864" cy="9875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2801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Weights are not reproducibility</a:t>
            </a:r>
          </a:p>
        </p:txBody>
      </p:sp>
      <p:sp>
        <p:nvSpPr>
          <p:cNvPr id="9" name="Text 7"/>
          <p:cNvSpPr/>
          <p:nvPr/>
        </p:nvSpPr>
        <p:spPr>
          <a:xfrm>
            <a:off x="1078992" y="159105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The checkpoint was strong, but without official dataloaders/protocols it initially appeared to fail. Correct 300W, CelebAMask-HQ, and FairFace handling changed the story.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8321040" cy="987552"/>
          </a:xfrm>
          <a:prstGeom prst="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286000"/>
            <a:ext cx="54864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377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Metric and Label Protocols Are Infrastructure</a:t>
            </a:r>
          </a:p>
        </p:txBody>
      </p:sp>
      <p:sp>
        <p:nvSpPr>
          <p:cNvPr id="14" name="Text 12"/>
          <p:cNvSpPr/>
          <p:nvPr/>
        </p:nvSpPr>
        <p:spPr>
          <a:xfrm>
            <a:off x="1078992" y="268833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Segmentation jumped from 23.70% to 91.77% after token-order mapping. Landmark dropped from 153.36 NME to 6.75 after dataset/coordinate fixes.</a:t>
            </a:r>
          </a:p>
        </p:txBody>
      </p:sp>
      <p:sp>
        <p:nvSpPr>
          <p:cNvPr id="15" name="Shape 13"/>
          <p:cNvSpPr/>
          <p:nvPr/>
        </p:nvSpPr>
        <p:spPr>
          <a:xfrm>
            <a:off x="411480" y="3383280"/>
            <a:ext cx="8321040" cy="987552"/>
          </a:xfrm>
          <a:prstGeom prst="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383280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34747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Some Tasks Still Need Paper-Faithful Protocols</a:t>
            </a:r>
          </a:p>
        </p:txBody>
      </p:sp>
      <p:sp>
        <p:nvSpPr>
          <p:cNvPr id="19" name="Text 17"/>
          <p:cNvSpPr/>
          <p:nvPr/>
        </p:nvSpPr>
        <p:spPr>
          <a:xfrm>
            <a:off x="1078992" y="378561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Headpose remains far from paper at 20.65 deg vs 3.52 deg. Age and visibility are promising but require exact metric verification before strong reproduction claims.</a:t>
            </a:r>
          </a:p>
        </p:txBody>
      </p:sp>
      <p:sp>
        <p:nvSpPr>
          <p:cNvPr id="20" name="Shape 18"/>
          <p:cNvSpPr/>
          <p:nvPr/>
        </p:nvSpPr>
        <p:spPr>
          <a:xfrm>
            <a:off x="411480" y="4507992"/>
            <a:ext cx="8321040" cy="411480"/>
          </a:xfrm>
          <a:prstGeom prst="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079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Current conclusion: FaceXFormer is substantially reproducible for parsing and attributes, partially reproduced for landmarks, and still unresolved for BIWI headpose.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Reproducing FaceXFormer</dc:title>
  <dc:subject>PptxGenJS Presentation</dc:subject>
  <dc:creator>PptxGenJS</dc:creator>
  <cp:lastModifiedBy>PptxGenJS</cp:lastModifiedBy>
  <cp:revision>1</cp:revision>
  <dcterms:created xsi:type="dcterms:W3CDTF">2026-04-27T19:46:15Z</dcterms:created>
  <dcterms:modified xsi:type="dcterms:W3CDTF">2026-04-27T19:46:15Z</dcterms:modified>
</cp:coreProperties>
</file>