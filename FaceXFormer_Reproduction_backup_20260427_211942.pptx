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7B"/>
          </a:solidFill>
          <a:ln w="12700">
            <a:solidFill>
              <a:srgbClr val="0E7C7B"/>
            </a:solidFill>
            <a:prstDash val="solid"/>
          </a:ln>
        </p:spPr>
      </p:sp>
      <p:sp>
        <p:nvSpPr>
          <p:cNvPr id="3" name="Text 1"/>
          <p:cNvSpPr/>
          <p:nvPr/>
        </p:nvSpPr>
        <p:spPr>
          <a:xfrm>
            <a:off x="411480" y="502920"/>
            <a:ext cx="8412480" cy="77724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Reproducing FaceXFormer</a:t>
            </a:r>
            <a:endParaRPr lang="en-US" sz="3800" dirty="0"/>
          </a:p>
        </p:txBody>
      </p:sp>
      <p:sp>
        <p:nvSpPr>
          <p:cNvPr id="4" name="Text 2"/>
          <p:cNvSpPr/>
          <p:nvPr/>
        </p:nvSpPr>
        <p:spPr>
          <a:xfrm>
            <a:off x="411480" y="1261872"/>
            <a:ext cx="8412480" cy="384048"/>
          </a:xfrm>
          <a:prstGeom prst="rect">
            <a:avLst/>
          </a:prstGeom>
          <a:noFill/>
          <a:ln/>
        </p:spPr>
        <p:txBody>
          <a:bodyPr wrap="square" lIns="0" tIns="0" rIns="0" bIns="0" rtlCol="0" anchor="ctr"/>
          <a:lstStyle/>
          <a:p>
            <a:pPr indent="0" marL="0">
              <a:buNone/>
            </a:pPr>
            <a:r>
              <a:rPr lang="en-US" sz="1800" i="1" dirty="0">
                <a:solidFill>
                  <a:srgbClr val="7DD3D2"/>
                </a:solidFill>
                <a:latin typeface="Calibri" pitchFamily="34" charset="0"/>
                <a:ea typeface="Calibri" pitchFamily="34" charset="-122"/>
                <a:cs typeface="Calibri" pitchFamily="34" charset="-120"/>
              </a:rPr>
              <a:t>A Unified Transformer for Multi-Task Facial Analysis</a:t>
            </a:r>
            <a:endParaRPr lang="en-US" sz="1800" dirty="0"/>
          </a:p>
        </p:txBody>
      </p:sp>
      <p:sp>
        <p:nvSpPr>
          <p:cNvPr id="5" name="Shape 3"/>
          <p:cNvSpPr/>
          <p:nvPr/>
        </p:nvSpPr>
        <p:spPr>
          <a:xfrm>
            <a:off x="411480" y="1719072"/>
            <a:ext cx="8321040" cy="22860"/>
          </a:xfrm>
          <a:prstGeom prst="rect">
            <a:avLst/>
          </a:prstGeom>
          <a:solidFill>
            <a:srgbClr val="0E7C7B"/>
          </a:solidFill>
          <a:ln w="12700">
            <a:solidFill>
              <a:srgbClr val="0E7C7B"/>
            </a:solidFill>
            <a:prstDash val="solid"/>
          </a:ln>
        </p:spPr>
      </p:sp>
      <p:sp>
        <p:nvSpPr>
          <p:cNvPr id="6" name="Text 4"/>
          <p:cNvSpPr/>
          <p:nvPr/>
        </p:nvSpPr>
        <p:spPr>
          <a:xfrm>
            <a:off x="411480" y="1810512"/>
            <a:ext cx="84124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ICCV 2025  ·  Narayan, VS, Chellappa, Patel  ·  Johns Hopkins University</a:t>
            </a:r>
            <a:endParaRPr lang="en-US" sz="1100" dirty="0"/>
          </a:p>
        </p:txBody>
      </p:sp>
      <p:sp>
        <p:nvSpPr>
          <p:cNvPr id="7" name="Text 5"/>
          <p:cNvSpPr/>
          <p:nvPr/>
        </p:nvSpPr>
        <p:spPr>
          <a:xfrm>
            <a:off x="411480" y="2176272"/>
            <a:ext cx="8412480" cy="45720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Presented by  Preetom Saha Arko  ·  Md Kamruzzaman Kamrul</a:t>
            </a:r>
            <a:endParaRPr lang="en-US" sz="1300" dirty="0"/>
          </a:p>
          <a:p>
            <a:pPr indent="0" marL="0">
              <a:buNone/>
            </a:pPr>
            <a:r>
              <a:rPr lang="en-US" sz="1300" dirty="0">
                <a:solidFill>
                  <a:srgbClr val="CBD5E1"/>
                </a:solidFill>
                <a:latin typeface="Calibri" pitchFamily="34" charset="0"/>
                <a:ea typeface="Calibri" pitchFamily="34" charset="-122"/>
                <a:cs typeface="Calibri" pitchFamily="34" charset="-120"/>
              </a:rPr>
              <a:t>Purdue University</a:t>
            </a:r>
            <a:endParaRPr lang="en-US" sz="1300" dirty="0"/>
          </a:p>
        </p:txBody>
      </p:sp>
      <p:sp>
        <p:nvSpPr>
          <p:cNvPr id="8" name="Shape 6"/>
          <p:cNvSpPr/>
          <p:nvPr/>
        </p:nvSpPr>
        <p:spPr>
          <a:xfrm>
            <a:off x="411480" y="2834640"/>
            <a:ext cx="2633472" cy="868680"/>
          </a:xfrm>
          <a:prstGeom prst="rect">
            <a:avLst>
              <a:gd name="adj" fmla="val 8421"/>
            </a:avLst>
          </a:prstGeom>
          <a:solidFill>
            <a:srgbClr val="0E7C7B"/>
          </a:solidFill>
          <a:ln w="12700">
            <a:solidFill>
              <a:srgbClr val="0E7C7B"/>
            </a:solidFill>
            <a:prstDash val="solid"/>
          </a:ln>
        </p:spPr>
      </p:sp>
      <p:sp>
        <p:nvSpPr>
          <p:cNvPr id="9" name="Text 7"/>
          <p:cNvSpPr/>
          <p:nvPr/>
        </p:nvSpPr>
        <p:spPr>
          <a:xfrm>
            <a:off x="411480" y="2880360"/>
            <a:ext cx="26334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 Tasks Claimed</a:t>
            </a:r>
            <a:endParaRPr lang="en-US" sz="1400" dirty="0"/>
          </a:p>
        </p:txBody>
      </p:sp>
      <p:sp>
        <p:nvSpPr>
          <p:cNvPr id="10" name="Text 8"/>
          <p:cNvSpPr/>
          <p:nvPr/>
        </p:nvSpPr>
        <p:spPr>
          <a:xfrm>
            <a:off x="411480" y="3291840"/>
            <a:ext cx="2633472"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paper</a:t>
            </a:r>
            <a:endParaRPr lang="en-US" sz="1000" dirty="0"/>
          </a:p>
        </p:txBody>
      </p:sp>
      <p:sp>
        <p:nvSpPr>
          <p:cNvPr id="11" name="Shape 9"/>
          <p:cNvSpPr/>
          <p:nvPr/>
        </p:nvSpPr>
        <p:spPr>
          <a:xfrm>
            <a:off x="3264408" y="2834640"/>
            <a:ext cx="2633472" cy="868680"/>
          </a:xfrm>
          <a:prstGeom prst="rect">
            <a:avLst>
              <a:gd name="adj" fmla="val 8421"/>
            </a:avLst>
          </a:prstGeom>
          <a:solidFill>
            <a:srgbClr val="0891B2"/>
          </a:solidFill>
          <a:ln w="12700">
            <a:solidFill>
              <a:srgbClr val="0891B2"/>
            </a:solidFill>
            <a:prstDash val="solid"/>
          </a:ln>
        </p:spPr>
      </p:sp>
      <p:sp>
        <p:nvSpPr>
          <p:cNvPr id="12" name="Text 10"/>
          <p:cNvSpPr/>
          <p:nvPr/>
        </p:nvSpPr>
        <p:spPr>
          <a:xfrm>
            <a:off x="3264408" y="2880360"/>
            <a:ext cx="26334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 Tasks Reproduced</a:t>
            </a:r>
            <a:endParaRPr lang="en-US" sz="1400" dirty="0"/>
          </a:p>
        </p:txBody>
      </p:sp>
      <p:sp>
        <p:nvSpPr>
          <p:cNvPr id="13" name="Text 11"/>
          <p:cNvSpPr/>
          <p:nvPr/>
        </p:nvSpPr>
        <p:spPr>
          <a:xfrm>
            <a:off x="3264408" y="3291840"/>
            <a:ext cx="2633472"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our scope</a:t>
            </a:r>
            <a:endParaRPr lang="en-US" sz="1000" dirty="0"/>
          </a:p>
        </p:txBody>
      </p:sp>
      <p:sp>
        <p:nvSpPr>
          <p:cNvPr id="14" name="Shape 12"/>
          <p:cNvSpPr/>
          <p:nvPr/>
        </p:nvSpPr>
        <p:spPr>
          <a:xfrm>
            <a:off x="6117336" y="2834640"/>
            <a:ext cx="2633472" cy="868680"/>
          </a:xfrm>
          <a:prstGeom prst="rect">
            <a:avLst>
              <a:gd name="adj" fmla="val 8421"/>
            </a:avLst>
          </a:prstGeom>
          <a:solidFill>
            <a:srgbClr val="7C3AED"/>
          </a:solidFill>
          <a:ln w="12700">
            <a:solidFill>
              <a:srgbClr val="7C3AED"/>
            </a:solidFill>
            <a:prstDash val="solid"/>
          </a:ln>
        </p:spPr>
      </p:sp>
      <p:sp>
        <p:nvSpPr>
          <p:cNvPr id="15" name="Text 13"/>
          <p:cNvSpPr/>
          <p:nvPr/>
        </p:nvSpPr>
        <p:spPr>
          <a:xfrm>
            <a:off x="6117336" y="2880360"/>
            <a:ext cx="26334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127,735 Samples</a:t>
            </a:r>
            <a:endParaRPr lang="en-US" sz="1400" dirty="0"/>
          </a:p>
        </p:txBody>
      </p:sp>
      <p:sp>
        <p:nvSpPr>
          <p:cNvPr id="16" name="Text 14"/>
          <p:cNvSpPr/>
          <p:nvPr/>
        </p:nvSpPr>
        <p:spPr>
          <a:xfrm>
            <a:off x="6117336" y="3291840"/>
            <a:ext cx="2633472"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evaluated</a:t>
            </a:r>
            <a:endParaRPr lang="en-US" sz="1000" dirty="0"/>
          </a:p>
        </p:txBody>
      </p:sp>
      <p:sp>
        <p:nvSpPr>
          <p:cNvPr id="17" name="Text 15"/>
          <p:cNvSpPr/>
          <p:nvPr/>
        </p:nvSpPr>
        <p:spPr>
          <a:xfrm>
            <a:off x="411480" y="3840480"/>
            <a:ext cx="8412480" cy="274320"/>
          </a:xfrm>
          <a:prstGeom prst="rect">
            <a:avLst/>
          </a:prstGeom>
          <a:noFill/>
          <a:ln/>
        </p:spPr>
        <p:txBody>
          <a:bodyPr wrap="square" lIns="0" tIns="0" rIns="0" bIns="0" rtlCol="0" anchor="ctr"/>
          <a:lstStyle/>
          <a:p>
            <a:pPr algn="ctr" indent="0" marL="0">
              <a:buNone/>
            </a:pPr>
            <a:r>
              <a:rPr lang="en-US" sz="1200" i="1" dirty="0">
                <a:solidFill>
                  <a:srgbClr val="475569"/>
                </a:solidFill>
                <a:latin typeface="Calibri" pitchFamily="34" charset="0"/>
                <a:ea typeface="Calibri" pitchFamily="34" charset="-122"/>
                <a:cs typeface="Calibri" pitchFamily="34" charset="-120"/>
              </a:rPr>
              <a:t>Reproducibility as a first-class scientific contribution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sp>
      <p:sp>
        <p:nvSpPr>
          <p:cNvPr id="3" name="Text 1"/>
          <p:cNvSpPr/>
          <p:nvPr/>
        </p:nvSpPr>
        <p:spPr>
          <a:xfrm>
            <a:off x="320040" y="0"/>
            <a:ext cx="64008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Architecture Overview</a:t>
            </a:r>
            <a:endParaRPr lang="en-US" sz="2000" dirty="0"/>
          </a:p>
        </p:txBody>
      </p:sp>
      <p:sp>
        <p:nvSpPr>
          <p:cNvPr id="4" name="Text 2"/>
          <p:cNvSpPr/>
          <p:nvPr/>
        </p:nvSpPr>
        <p:spPr>
          <a:xfrm>
            <a:off x="6583680" y="0"/>
            <a:ext cx="2377440" cy="502920"/>
          </a:xfrm>
          <a:prstGeom prst="rect">
            <a:avLst/>
          </a:prstGeom>
          <a:noFill/>
          <a:ln/>
        </p:spPr>
        <p:txBody>
          <a:bodyPr wrap="square" lIns="0" tIns="0" rIns="0" bIns="0" rtlCol="0" anchor="ctr"/>
          <a:lstStyle/>
          <a:p>
            <a:pPr algn="r" indent="0" marL="0">
              <a:buNone/>
            </a:pPr>
            <a:r>
              <a:rPr lang="en-US" sz="1000" dirty="0">
                <a:solidFill>
                  <a:srgbClr val="7DD3D2"/>
                </a:solidFill>
                <a:latin typeface="Calibri" pitchFamily="34" charset="0"/>
                <a:ea typeface="Calibri" pitchFamily="34" charset="-122"/>
                <a:cs typeface="Calibri" pitchFamily="34" charset="-120"/>
              </a:rPr>
              <a:t>FaceXFormer Pipeline</a:t>
            </a:r>
            <a:endParaRPr lang="en-US" sz="1000" dirty="0"/>
          </a:p>
        </p:txBody>
      </p:sp>
      <p:sp>
        <p:nvSpPr>
          <p:cNvPr id="5" name="Shape 3"/>
          <p:cNvSpPr/>
          <p:nvPr/>
        </p:nvSpPr>
        <p:spPr>
          <a:xfrm>
            <a:off x="182880" y="685800"/>
            <a:ext cx="1234440" cy="1051560"/>
          </a:xfrm>
          <a:prstGeom prst="rect">
            <a:avLst>
              <a:gd name="adj" fmla="val 6957"/>
            </a:avLst>
          </a:prstGeom>
          <a:solidFill>
            <a:srgbClr val="334155"/>
          </a:solidFill>
          <a:ln w="12700">
            <a:solidFill>
              <a:srgbClr val="334155"/>
            </a:solidFill>
            <a:prstDash val="solid"/>
          </a:ln>
        </p:spPr>
      </p:sp>
      <p:sp>
        <p:nvSpPr>
          <p:cNvPr id="6" name="Text 4"/>
          <p:cNvSpPr/>
          <p:nvPr/>
        </p:nvSpPr>
        <p:spPr>
          <a:xfrm>
            <a:off x="182880" y="777240"/>
            <a:ext cx="12344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Image</a:t>
            </a:r>
            <a:endParaRPr lang="en-US" sz="1200" dirty="0"/>
          </a:p>
        </p:txBody>
      </p:sp>
      <p:sp>
        <p:nvSpPr>
          <p:cNvPr id="7" name="Text 5"/>
          <p:cNvSpPr/>
          <p:nvPr/>
        </p:nvSpPr>
        <p:spPr>
          <a:xfrm>
            <a:off x="182880" y="1197864"/>
            <a:ext cx="1234440" cy="475488"/>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224×224</a:t>
            </a:r>
            <a:endParaRPr lang="en-US" sz="900" dirty="0"/>
          </a:p>
        </p:txBody>
      </p:sp>
      <p:sp>
        <p:nvSpPr>
          <p:cNvPr id="8" name="Shape 6"/>
          <p:cNvSpPr/>
          <p:nvPr/>
        </p:nvSpPr>
        <p:spPr>
          <a:xfrm>
            <a:off x="1435608" y="1143000"/>
            <a:ext cx="128016" cy="36576"/>
          </a:xfrm>
          <a:prstGeom prst="rect">
            <a:avLst/>
          </a:prstGeom>
          <a:solidFill>
            <a:srgbClr val="94A3B8"/>
          </a:solidFill>
          <a:ln w="12700">
            <a:solidFill>
              <a:srgbClr val="94A3B8"/>
            </a:solidFill>
            <a:prstDash val="solid"/>
          </a:ln>
        </p:spPr>
      </p:sp>
      <p:sp>
        <p:nvSpPr>
          <p:cNvPr id="9" name="Shape 7"/>
          <p:cNvSpPr/>
          <p:nvPr/>
        </p:nvSpPr>
        <p:spPr>
          <a:xfrm>
            <a:off x="1581912" y="685800"/>
            <a:ext cx="1234440" cy="1051560"/>
          </a:xfrm>
          <a:prstGeom prst="rect">
            <a:avLst>
              <a:gd name="adj" fmla="val 6957"/>
            </a:avLst>
          </a:prstGeom>
          <a:solidFill>
            <a:srgbClr val="0E7C7B"/>
          </a:solidFill>
          <a:ln w="12700">
            <a:solidFill>
              <a:srgbClr val="0E7C7B"/>
            </a:solidFill>
            <a:prstDash val="solid"/>
          </a:ln>
        </p:spPr>
      </p:sp>
      <p:sp>
        <p:nvSpPr>
          <p:cNvPr id="10" name="Text 8"/>
          <p:cNvSpPr/>
          <p:nvPr/>
        </p:nvSpPr>
        <p:spPr>
          <a:xfrm>
            <a:off x="1581912" y="777240"/>
            <a:ext cx="12344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Swin-B</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Encoder</a:t>
            </a:r>
            <a:endParaRPr lang="en-US" sz="1200" dirty="0"/>
          </a:p>
        </p:txBody>
      </p:sp>
      <p:sp>
        <p:nvSpPr>
          <p:cNvPr id="11" name="Text 9"/>
          <p:cNvSpPr/>
          <p:nvPr/>
        </p:nvSpPr>
        <p:spPr>
          <a:xfrm>
            <a:off x="1581912" y="1197864"/>
            <a:ext cx="1234440" cy="475488"/>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4-scale features</a:t>
            </a:r>
            <a:endParaRPr lang="en-US" sz="900" dirty="0"/>
          </a:p>
        </p:txBody>
      </p:sp>
      <p:sp>
        <p:nvSpPr>
          <p:cNvPr id="12" name="Shape 10"/>
          <p:cNvSpPr/>
          <p:nvPr/>
        </p:nvSpPr>
        <p:spPr>
          <a:xfrm>
            <a:off x="2834640" y="1143000"/>
            <a:ext cx="128016" cy="36576"/>
          </a:xfrm>
          <a:prstGeom prst="rect">
            <a:avLst/>
          </a:prstGeom>
          <a:solidFill>
            <a:srgbClr val="94A3B8"/>
          </a:solidFill>
          <a:ln w="12700">
            <a:solidFill>
              <a:srgbClr val="94A3B8"/>
            </a:solidFill>
            <a:prstDash val="solid"/>
          </a:ln>
        </p:spPr>
      </p:sp>
      <p:sp>
        <p:nvSpPr>
          <p:cNvPr id="13" name="Shape 11"/>
          <p:cNvSpPr/>
          <p:nvPr/>
        </p:nvSpPr>
        <p:spPr>
          <a:xfrm>
            <a:off x="2980944" y="685800"/>
            <a:ext cx="1234440" cy="1051560"/>
          </a:xfrm>
          <a:prstGeom prst="rect">
            <a:avLst>
              <a:gd name="adj" fmla="val 6957"/>
            </a:avLst>
          </a:prstGeom>
          <a:solidFill>
            <a:srgbClr val="0891B2"/>
          </a:solidFill>
          <a:ln w="12700">
            <a:solidFill>
              <a:srgbClr val="0891B2"/>
            </a:solidFill>
            <a:prstDash val="solid"/>
          </a:ln>
        </p:spPr>
      </p:sp>
      <p:sp>
        <p:nvSpPr>
          <p:cNvPr id="14" name="Text 12"/>
          <p:cNvSpPr/>
          <p:nvPr/>
        </p:nvSpPr>
        <p:spPr>
          <a:xfrm>
            <a:off x="2980944" y="777240"/>
            <a:ext cx="12344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MLP</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Fusion</a:t>
            </a:r>
            <a:endParaRPr lang="en-US" sz="1200" dirty="0"/>
          </a:p>
        </p:txBody>
      </p:sp>
      <p:sp>
        <p:nvSpPr>
          <p:cNvPr id="15" name="Text 13"/>
          <p:cNvSpPr/>
          <p:nvPr/>
        </p:nvSpPr>
        <p:spPr>
          <a:xfrm>
            <a:off x="2980944" y="1197864"/>
            <a:ext cx="1234440" cy="475488"/>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SegFormer design</a:t>
            </a:r>
            <a:endParaRPr lang="en-US" sz="900" dirty="0"/>
          </a:p>
          <a:p>
            <a:pPr algn="ctr" indent="0" marL="0">
              <a:buNone/>
            </a:pPr>
            <a:r>
              <a:rPr lang="en-US" sz="900" dirty="0">
                <a:solidFill>
                  <a:srgbClr val="E2E8F0"/>
                </a:solidFill>
                <a:latin typeface="Calibri" pitchFamily="34" charset="0"/>
                <a:ea typeface="Calibri" pitchFamily="34" charset="-122"/>
                <a:cs typeface="Calibri" pitchFamily="34" charset="-120"/>
              </a:rPr>
              <a:t>983K params</a:t>
            </a:r>
            <a:endParaRPr lang="en-US" sz="900" dirty="0"/>
          </a:p>
        </p:txBody>
      </p:sp>
      <p:sp>
        <p:nvSpPr>
          <p:cNvPr id="16" name="Shape 14"/>
          <p:cNvSpPr/>
          <p:nvPr/>
        </p:nvSpPr>
        <p:spPr>
          <a:xfrm>
            <a:off x="4233672" y="1143000"/>
            <a:ext cx="128016" cy="36576"/>
          </a:xfrm>
          <a:prstGeom prst="rect">
            <a:avLst/>
          </a:prstGeom>
          <a:solidFill>
            <a:srgbClr val="94A3B8"/>
          </a:solidFill>
          <a:ln w="12700">
            <a:solidFill>
              <a:srgbClr val="94A3B8"/>
            </a:solidFill>
            <a:prstDash val="solid"/>
          </a:ln>
        </p:spPr>
      </p:sp>
      <p:sp>
        <p:nvSpPr>
          <p:cNvPr id="17" name="Shape 15"/>
          <p:cNvSpPr/>
          <p:nvPr/>
        </p:nvSpPr>
        <p:spPr>
          <a:xfrm>
            <a:off x="4379976" y="685800"/>
            <a:ext cx="1234440" cy="1051560"/>
          </a:xfrm>
          <a:prstGeom prst="rect">
            <a:avLst>
              <a:gd name="adj" fmla="val 6957"/>
            </a:avLst>
          </a:prstGeom>
          <a:solidFill>
            <a:srgbClr val="7C3AED"/>
          </a:solidFill>
          <a:ln w="12700">
            <a:solidFill>
              <a:srgbClr val="7C3AED"/>
            </a:solidFill>
            <a:prstDash val="solid"/>
          </a:ln>
        </p:spPr>
      </p:sp>
      <p:sp>
        <p:nvSpPr>
          <p:cNvPr id="18" name="Text 16"/>
          <p:cNvSpPr/>
          <p:nvPr/>
        </p:nvSpPr>
        <p:spPr>
          <a:xfrm>
            <a:off x="4379976" y="777240"/>
            <a:ext cx="12344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FaceX</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Decoder</a:t>
            </a:r>
            <a:endParaRPr lang="en-US" sz="1200" dirty="0"/>
          </a:p>
        </p:txBody>
      </p:sp>
      <p:sp>
        <p:nvSpPr>
          <p:cNvPr id="19" name="Text 17"/>
          <p:cNvSpPr/>
          <p:nvPr/>
        </p:nvSpPr>
        <p:spPr>
          <a:xfrm>
            <a:off x="4379976" y="1197864"/>
            <a:ext cx="1234440" cy="475488"/>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N=2 blocks</a:t>
            </a:r>
            <a:endParaRPr lang="en-US" sz="900" dirty="0"/>
          </a:p>
          <a:p>
            <a:pPr algn="ctr" indent="0" marL="0">
              <a:buNone/>
            </a:pPr>
            <a:r>
              <a:rPr lang="en-US" sz="900" dirty="0">
                <a:solidFill>
                  <a:srgbClr val="E2E8F0"/>
                </a:solidFill>
                <a:latin typeface="Calibri" pitchFamily="34" charset="0"/>
                <a:ea typeface="Calibri" pitchFamily="34" charset="-122"/>
                <a:cs typeface="Calibri" pitchFamily="34" charset="-120"/>
              </a:rPr>
              <a:t>TSA→TFCA→FTCA</a:t>
            </a:r>
            <a:endParaRPr lang="en-US" sz="900" dirty="0"/>
          </a:p>
        </p:txBody>
      </p:sp>
      <p:sp>
        <p:nvSpPr>
          <p:cNvPr id="20" name="Shape 18"/>
          <p:cNvSpPr/>
          <p:nvPr/>
        </p:nvSpPr>
        <p:spPr>
          <a:xfrm>
            <a:off x="5632704" y="1143000"/>
            <a:ext cx="128016" cy="36576"/>
          </a:xfrm>
          <a:prstGeom prst="rect">
            <a:avLst/>
          </a:prstGeom>
          <a:solidFill>
            <a:srgbClr val="94A3B8"/>
          </a:solidFill>
          <a:ln w="12700">
            <a:solidFill>
              <a:srgbClr val="94A3B8"/>
            </a:solidFill>
            <a:prstDash val="solid"/>
          </a:ln>
        </p:spPr>
      </p:sp>
      <p:sp>
        <p:nvSpPr>
          <p:cNvPr id="21" name="Shape 19"/>
          <p:cNvSpPr/>
          <p:nvPr/>
        </p:nvSpPr>
        <p:spPr>
          <a:xfrm>
            <a:off x="5779008" y="685800"/>
            <a:ext cx="1234440" cy="1051560"/>
          </a:xfrm>
          <a:prstGeom prst="rect">
            <a:avLst>
              <a:gd name="adj" fmla="val 6957"/>
            </a:avLst>
          </a:prstGeom>
          <a:solidFill>
            <a:srgbClr val="D97706"/>
          </a:solidFill>
          <a:ln w="12700">
            <a:solidFill>
              <a:srgbClr val="D97706"/>
            </a:solidFill>
            <a:prstDash val="solid"/>
          </a:ln>
        </p:spPr>
      </p:sp>
      <p:sp>
        <p:nvSpPr>
          <p:cNvPr id="22" name="Text 20"/>
          <p:cNvSpPr/>
          <p:nvPr/>
        </p:nvSpPr>
        <p:spPr>
          <a:xfrm>
            <a:off x="5779008" y="777240"/>
            <a:ext cx="12344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Unified</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Head</a:t>
            </a:r>
            <a:endParaRPr lang="en-US" sz="1200" dirty="0"/>
          </a:p>
        </p:txBody>
      </p:sp>
      <p:sp>
        <p:nvSpPr>
          <p:cNvPr id="23" name="Text 21"/>
          <p:cNvSpPr/>
          <p:nvPr/>
        </p:nvSpPr>
        <p:spPr>
          <a:xfrm>
            <a:off x="5779008" y="1197864"/>
            <a:ext cx="1234440" cy="475488"/>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TFCA refinement</a:t>
            </a:r>
            <a:endParaRPr lang="en-US" sz="900" dirty="0"/>
          </a:p>
        </p:txBody>
      </p:sp>
      <p:sp>
        <p:nvSpPr>
          <p:cNvPr id="24" name="Shape 22"/>
          <p:cNvSpPr/>
          <p:nvPr/>
        </p:nvSpPr>
        <p:spPr>
          <a:xfrm>
            <a:off x="7031736" y="1143000"/>
            <a:ext cx="128016" cy="36576"/>
          </a:xfrm>
          <a:prstGeom prst="rect">
            <a:avLst/>
          </a:prstGeom>
          <a:solidFill>
            <a:srgbClr val="94A3B8"/>
          </a:solidFill>
          <a:ln w="12700">
            <a:solidFill>
              <a:srgbClr val="94A3B8"/>
            </a:solidFill>
            <a:prstDash val="solid"/>
          </a:ln>
        </p:spPr>
      </p:sp>
      <p:sp>
        <p:nvSpPr>
          <p:cNvPr id="25" name="Shape 23"/>
          <p:cNvSpPr/>
          <p:nvPr/>
        </p:nvSpPr>
        <p:spPr>
          <a:xfrm>
            <a:off x="7178040" y="685800"/>
            <a:ext cx="1234440" cy="1051560"/>
          </a:xfrm>
          <a:prstGeom prst="rect">
            <a:avLst>
              <a:gd name="adj" fmla="val 6957"/>
            </a:avLst>
          </a:prstGeom>
          <a:solidFill>
            <a:srgbClr val="16A34A"/>
          </a:solidFill>
          <a:ln w="12700">
            <a:solidFill>
              <a:srgbClr val="16A34A"/>
            </a:solidFill>
            <a:prstDash val="solid"/>
          </a:ln>
        </p:spPr>
      </p:sp>
      <p:sp>
        <p:nvSpPr>
          <p:cNvPr id="26" name="Text 24"/>
          <p:cNvSpPr/>
          <p:nvPr/>
        </p:nvSpPr>
        <p:spPr>
          <a:xfrm>
            <a:off x="7178040" y="777240"/>
            <a:ext cx="12344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Predictions</a:t>
            </a:r>
            <a:endParaRPr lang="en-US" sz="1200" dirty="0"/>
          </a:p>
        </p:txBody>
      </p:sp>
      <p:sp>
        <p:nvSpPr>
          <p:cNvPr id="27" name="Text 25"/>
          <p:cNvSpPr/>
          <p:nvPr/>
        </p:nvSpPr>
        <p:spPr>
          <a:xfrm>
            <a:off x="7178040" y="1197864"/>
            <a:ext cx="1234440" cy="475488"/>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8 outputs</a:t>
            </a:r>
            <a:endParaRPr lang="en-US" sz="900" dirty="0"/>
          </a:p>
        </p:txBody>
      </p:sp>
      <p:sp>
        <p:nvSpPr>
          <p:cNvPr id="28" name="Text 26"/>
          <p:cNvSpPr/>
          <p:nvPr/>
        </p:nvSpPr>
        <p:spPr>
          <a:xfrm>
            <a:off x="320040" y="1828800"/>
            <a:ext cx="3200400" cy="20116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Task Tokens  T = ⟨T₁ … Tₙ⟩</a:t>
            </a:r>
            <a:endParaRPr lang="en-US" sz="1000" dirty="0"/>
          </a:p>
        </p:txBody>
      </p:sp>
      <p:sp>
        <p:nvSpPr>
          <p:cNvPr id="29" name="Shape 27"/>
          <p:cNvSpPr/>
          <p:nvPr/>
        </p:nvSpPr>
        <p:spPr>
          <a:xfrm>
            <a:off x="320040" y="2011680"/>
            <a:ext cx="402336" cy="329184"/>
          </a:xfrm>
          <a:prstGeom prst="rect">
            <a:avLst>
              <a:gd name="adj" fmla="val 11111"/>
            </a:avLst>
          </a:prstGeom>
          <a:solidFill>
            <a:srgbClr val="0E7C7B"/>
          </a:solidFill>
          <a:ln w="12700">
            <a:solidFill>
              <a:srgbClr val="0E7C7B"/>
            </a:solidFill>
            <a:prstDash val="solid"/>
          </a:ln>
        </p:spPr>
      </p:sp>
      <p:sp>
        <p:nvSpPr>
          <p:cNvPr id="30" name="Text 28"/>
          <p:cNvSpPr/>
          <p:nvPr/>
        </p:nvSpPr>
        <p:spPr>
          <a:xfrm>
            <a:off x="320040" y="2011680"/>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31" name="Text 29"/>
          <p:cNvSpPr/>
          <p:nvPr/>
        </p:nvSpPr>
        <p:spPr>
          <a:xfrm>
            <a:off x="786384" y="2048256"/>
            <a:ext cx="2468880" cy="2560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Seg tokens (1 per class)</a:t>
            </a:r>
            <a:endParaRPr lang="en-US" sz="1000" dirty="0"/>
          </a:p>
        </p:txBody>
      </p:sp>
      <p:sp>
        <p:nvSpPr>
          <p:cNvPr id="32" name="Shape 30"/>
          <p:cNvSpPr/>
          <p:nvPr/>
        </p:nvSpPr>
        <p:spPr>
          <a:xfrm>
            <a:off x="320040" y="2432304"/>
            <a:ext cx="402336" cy="329184"/>
          </a:xfrm>
          <a:prstGeom prst="rect">
            <a:avLst>
              <a:gd name="adj" fmla="val 11111"/>
            </a:avLst>
          </a:prstGeom>
          <a:solidFill>
            <a:srgbClr val="0891B2"/>
          </a:solidFill>
          <a:ln w="12700">
            <a:solidFill>
              <a:srgbClr val="0891B2"/>
            </a:solidFill>
            <a:prstDash val="solid"/>
          </a:ln>
        </p:spPr>
      </p:sp>
      <p:sp>
        <p:nvSpPr>
          <p:cNvPr id="33" name="Text 31"/>
          <p:cNvSpPr/>
          <p:nvPr/>
        </p:nvSpPr>
        <p:spPr>
          <a:xfrm>
            <a:off x="320040" y="2432304"/>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68</a:t>
            </a:r>
            <a:endParaRPr lang="en-US" sz="1000" dirty="0"/>
          </a:p>
        </p:txBody>
      </p:sp>
      <p:sp>
        <p:nvSpPr>
          <p:cNvPr id="34" name="Text 32"/>
          <p:cNvSpPr/>
          <p:nvPr/>
        </p:nvSpPr>
        <p:spPr>
          <a:xfrm>
            <a:off x="786384" y="2468880"/>
            <a:ext cx="2468880" cy="2560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Landmark tokens</a:t>
            </a:r>
            <a:endParaRPr lang="en-US" sz="1000" dirty="0"/>
          </a:p>
        </p:txBody>
      </p:sp>
      <p:sp>
        <p:nvSpPr>
          <p:cNvPr id="35" name="Shape 33"/>
          <p:cNvSpPr/>
          <p:nvPr/>
        </p:nvSpPr>
        <p:spPr>
          <a:xfrm>
            <a:off x="320040" y="2852928"/>
            <a:ext cx="402336" cy="329184"/>
          </a:xfrm>
          <a:prstGeom prst="rect">
            <a:avLst>
              <a:gd name="adj" fmla="val 11111"/>
            </a:avLst>
          </a:prstGeom>
          <a:solidFill>
            <a:srgbClr val="7C3AED"/>
          </a:solidFill>
          <a:ln w="12700">
            <a:solidFill>
              <a:srgbClr val="7C3AED"/>
            </a:solidFill>
            <a:prstDash val="solid"/>
          </a:ln>
        </p:spPr>
      </p:sp>
      <p:sp>
        <p:nvSpPr>
          <p:cNvPr id="36" name="Text 34"/>
          <p:cNvSpPr/>
          <p:nvPr/>
        </p:nvSpPr>
        <p:spPr>
          <a:xfrm>
            <a:off x="320040" y="2852928"/>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37" name="Text 35"/>
          <p:cNvSpPr/>
          <p:nvPr/>
        </p:nvSpPr>
        <p:spPr>
          <a:xfrm>
            <a:off x="786384" y="2889504"/>
            <a:ext cx="2468880" cy="2560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Headpose tokens (3×3 matrix)</a:t>
            </a:r>
            <a:endParaRPr lang="en-US" sz="1000" dirty="0"/>
          </a:p>
        </p:txBody>
      </p:sp>
      <p:sp>
        <p:nvSpPr>
          <p:cNvPr id="38" name="Shape 36"/>
          <p:cNvSpPr/>
          <p:nvPr/>
        </p:nvSpPr>
        <p:spPr>
          <a:xfrm>
            <a:off x="320040" y="3273552"/>
            <a:ext cx="402336" cy="329184"/>
          </a:xfrm>
          <a:prstGeom prst="rect">
            <a:avLst>
              <a:gd name="adj" fmla="val 11111"/>
            </a:avLst>
          </a:prstGeom>
          <a:solidFill>
            <a:srgbClr val="16A34A"/>
          </a:solidFill>
          <a:ln w="12700">
            <a:solidFill>
              <a:srgbClr val="16A34A"/>
            </a:solidFill>
            <a:prstDash val="solid"/>
          </a:ln>
        </p:spPr>
      </p:sp>
      <p:sp>
        <p:nvSpPr>
          <p:cNvPr id="39" name="Text 37"/>
          <p:cNvSpPr/>
          <p:nvPr/>
        </p:nvSpPr>
        <p:spPr>
          <a:xfrm>
            <a:off x="320040" y="3273552"/>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40</a:t>
            </a:r>
            <a:endParaRPr lang="en-US" sz="1000" dirty="0"/>
          </a:p>
        </p:txBody>
      </p:sp>
      <p:sp>
        <p:nvSpPr>
          <p:cNvPr id="40" name="Text 38"/>
          <p:cNvSpPr/>
          <p:nvPr/>
        </p:nvSpPr>
        <p:spPr>
          <a:xfrm>
            <a:off x="786384" y="3310128"/>
            <a:ext cx="2468880" cy="2560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Attribute tokens</a:t>
            </a:r>
            <a:endParaRPr lang="en-US" sz="1000" dirty="0"/>
          </a:p>
        </p:txBody>
      </p:sp>
      <p:sp>
        <p:nvSpPr>
          <p:cNvPr id="41" name="Shape 39"/>
          <p:cNvSpPr/>
          <p:nvPr/>
        </p:nvSpPr>
        <p:spPr>
          <a:xfrm>
            <a:off x="320040" y="3694176"/>
            <a:ext cx="402336" cy="329184"/>
          </a:xfrm>
          <a:prstGeom prst="rect">
            <a:avLst>
              <a:gd name="adj" fmla="val 11111"/>
            </a:avLst>
          </a:prstGeom>
          <a:solidFill>
            <a:srgbClr val="D97706"/>
          </a:solidFill>
          <a:ln w="12700">
            <a:solidFill>
              <a:srgbClr val="D97706"/>
            </a:solidFill>
            <a:prstDash val="solid"/>
          </a:ln>
        </p:spPr>
      </p:sp>
      <p:sp>
        <p:nvSpPr>
          <p:cNvPr id="42" name="Text 40"/>
          <p:cNvSpPr/>
          <p:nvPr/>
        </p:nvSpPr>
        <p:spPr>
          <a:xfrm>
            <a:off x="320040" y="3694176"/>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3" name="Text 41"/>
          <p:cNvSpPr/>
          <p:nvPr/>
        </p:nvSpPr>
        <p:spPr>
          <a:xfrm>
            <a:off x="786384" y="3730752"/>
            <a:ext cx="2468880" cy="2560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Age / Gender / Race</a:t>
            </a:r>
            <a:endParaRPr lang="en-US" sz="1000" dirty="0"/>
          </a:p>
        </p:txBody>
      </p:sp>
      <p:sp>
        <p:nvSpPr>
          <p:cNvPr id="44" name="Shape 42"/>
          <p:cNvSpPr/>
          <p:nvPr/>
        </p:nvSpPr>
        <p:spPr>
          <a:xfrm>
            <a:off x="320040" y="4114800"/>
            <a:ext cx="402336" cy="329184"/>
          </a:xfrm>
          <a:prstGeom prst="rect">
            <a:avLst>
              <a:gd name="adj" fmla="val 11111"/>
            </a:avLst>
          </a:prstGeom>
          <a:solidFill>
            <a:srgbClr val="334155"/>
          </a:solidFill>
          <a:ln w="12700">
            <a:solidFill>
              <a:srgbClr val="334155"/>
            </a:solidFill>
            <a:prstDash val="solid"/>
          </a:ln>
        </p:spPr>
      </p:sp>
      <p:sp>
        <p:nvSpPr>
          <p:cNvPr id="45" name="Text 43"/>
          <p:cNvSpPr/>
          <p:nvPr/>
        </p:nvSpPr>
        <p:spPr>
          <a:xfrm>
            <a:off x="320040" y="4114800"/>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6" name="Text 44"/>
          <p:cNvSpPr/>
          <p:nvPr/>
        </p:nvSpPr>
        <p:spPr>
          <a:xfrm>
            <a:off x="786384" y="4151376"/>
            <a:ext cx="2468880" cy="2560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Visibility token</a:t>
            </a:r>
            <a:endParaRPr lang="en-US" sz="1000" dirty="0"/>
          </a:p>
        </p:txBody>
      </p:sp>
      <p:sp>
        <p:nvSpPr>
          <p:cNvPr id="47" name="Shape 45"/>
          <p:cNvSpPr/>
          <p:nvPr/>
        </p:nvSpPr>
        <p:spPr>
          <a:xfrm>
            <a:off x="3657600" y="1828800"/>
            <a:ext cx="5257800" cy="1554480"/>
          </a:xfrm>
          <a:prstGeom prst="rect">
            <a:avLst>
              <a:gd name="adj" fmla="val 3529"/>
            </a:avLst>
          </a:prstGeom>
          <a:solidFill>
            <a:srgbClr val="EDE9FE"/>
          </a:solidFill>
          <a:ln w="9525">
            <a:solidFill>
              <a:srgbClr val="7C3AED"/>
            </a:solidFill>
            <a:prstDash val="solid"/>
          </a:ln>
        </p:spPr>
      </p:sp>
      <p:sp>
        <p:nvSpPr>
          <p:cNvPr id="48" name="Text 46"/>
          <p:cNvSpPr/>
          <p:nvPr/>
        </p:nvSpPr>
        <p:spPr>
          <a:xfrm>
            <a:off x="3822192" y="1883664"/>
            <a:ext cx="4937760" cy="256032"/>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FaceX Decoder Block  (×2)</a:t>
            </a:r>
            <a:endParaRPr lang="en-US" sz="1100" dirty="0"/>
          </a:p>
        </p:txBody>
      </p:sp>
      <p:sp>
        <p:nvSpPr>
          <p:cNvPr id="49" name="Shape 47"/>
          <p:cNvSpPr/>
          <p:nvPr/>
        </p:nvSpPr>
        <p:spPr>
          <a:xfrm>
            <a:off x="3822192" y="2194560"/>
            <a:ext cx="54864" cy="237744"/>
          </a:xfrm>
          <a:prstGeom prst="rect">
            <a:avLst/>
          </a:prstGeom>
          <a:solidFill>
            <a:srgbClr val="7C3AED"/>
          </a:solidFill>
          <a:ln w="12700">
            <a:solidFill>
              <a:srgbClr val="7C3AED"/>
            </a:solidFill>
            <a:prstDash val="solid"/>
          </a:ln>
        </p:spPr>
      </p:sp>
      <p:sp>
        <p:nvSpPr>
          <p:cNvPr id="50" name="Text 48"/>
          <p:cNvSpPr/>
          <p:nvPr/>
        </p:nvSpPr>
        <p:spPr>
          <a:xfrm>
            <a:off x="3950208" y="2194560"/>
            <a:ext cx="4754880" cy="256032"/>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TSA  — task tokens attend each other</a:t>
            </a:r>
            <a:endParaRPr lang="en-US" sz="1050" dirty="0"/>
          </a:p>
        </p:txBody>
      </p:sp>
      <p:sp>
        <p:nvSpPr>
          <p:cNvPr id="51" name="Shape 49"/>
          <p:cNvSpPr/>
          <p:nvPr/>
        </p:nvSpPr>
        <p:spPr>
          <a:xfrm>
            <a:off x="3822192" y="2542032"/>
            <a:ext cx="54864" cy="237744"/>
          </a:xfrm>
          <a:prstGeom prst="rect">
            <a:avLst/>
          </a:prstGeom>
          <a:solidFill>
            <a:srgbClr val="7C3AED"/>
          </a:solidFill>
          <a:ln w="12700">
            <a:solidFill>
              <a:srgbClr val="7C3AED"/>
            </a:solidFill>
            <a:prstDash val="solid"/>
          </a:ln>
        </p:spPr>
      </p:sp>
      <p:sp>
        <p:nvSpPr>
          <p:cNvPr id="52" name="Text 50"/>
          <p:cNvSpPr/>
          <p:nvPr/>
        </p:nvSpPr>
        <p:spPr>
          <a:xfrm>
            <a:off x="3950208" y="2542032"/>
            <a:ext cx="4754880" cy="256032"/>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TFCA — task tokens query face features</a:t>
            </a:r>
            <a:endParaRPr lang="en-US" sz="1050" dirty="0"/>
          </a:p>
        </p:txBody>
      </p:sp>
      <p:sp>
        <p:nvSpPr>
          <p:cNvPr id="53" name="Shape 51"/>
          <p:cNvSpPr/>
          <p:nvPr/>
        </p:nvSpPr>
        <p:spPr>
          <a:xfrm>
            <a:off x="3822192" y="2889504"/>
            <a:ext cx="54864" cy="237744"/>
          </a:xfrm>
          <a:prstGeom prst="rect">
            <a:avLst/>
          </a:prstGeom>
          <a:solidFill>
            <a:srgbClr val="7C3AED"/>
          </a:solidFill>
          <a:ln w="12700">
            <a:solidFill>
              <a:srgbClr val="7C3AED"/>
            </a:solidFill>
            <a:prstDash val="solid"/>
          </a:ln>
        </p:spPr>
      </p:sp>
      <p:sp>
        <p:nvSpPr>
          <p:cNvPr id="54" name="Text 52"/>
          <p:cNvSpPr/>
          <p:nvPr/>
        </p:nvSpPr>
        <p:spPr>
          <a:xfrm>
            <a:off x="3950208" y="2889504"/>
            <a:ext cx="4754880" cy="256032"/>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FTCA — face tokens query task tokens</a:t>
            </a:r>
            <a:endParaRPr lang="en-US" sz="1050" dirty="0"/>
          </a:p>
        </p:txBody>
      </p:sp>
      <p:sp>
        <p:nvSpPr>
          <p:cNvPr id="55" name="Text 53"/>
          <p:cNvSpPr/>
          <p:nvPr/>
        </p:nvSpPr>
        <p:spPr>
          <a:xfrm>
            <a:off x="320040" y="4800600"/>
            <a:ext cx="8503920" cy="2011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Backbone: ImageNet-pretrained Swin-B  ·  33.21 FPS real-time inference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sp>
      <p:sp>
        <p:nvSpPr>
          <p:cNvPr id="3" name="Text 1"/>
          <p:cNvSpPr/>
          <p:nvPr/>
        </p:nvSpPr>
        <p:spPr>
          <a:xfrm>
            <a:off x="320040" y="0"/>
            <a:ext cx="64008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Paper vs. Code: Gap Analysis</a:t>
            </a:r>
            <a:endParaRPr lang="en-US" sz="2000" dirty="0"/>
          </a:p>
        </p:txBody>
      </p:sp>
      <p:sp>
        <p:nvSpPr>
          <p:cNvPr id="4" name="Text 2"/>
          <p:cNvSpPr/>
          <p:nvPr/>
        </p:nvSpPr>
        <p:spPr>
          <a:xfrm>
            <a:off x="6583680" y="0"/>
            <a:ext cx="2377440" cy="502920"/>
          </a:xfrm>
          <a:prstGeom prst="rect">
            <a:avLst/>
          </a:prstGeom>
          <a:noFill/>
          <a:ln/>
        </p:spPr>
        <p:txBody>
          <a:bodyPr wrap="square" lIns="0" tIns="0" rIns="0" bIns="0" rtlCol="0" anchor="ctr"/>
          <a:lstStyle/>
          <a:p>
            <a:pPr algn="r" indent="0" marL="0">
              <a:buNone/>
            </a:pPr>
            <a:r>
              <a:rPr lang="en-US" sz="1000" dirty="0">
                <a:solidFill>
                  <a:srgbClr val="7DD3D2"/>
                </a:solidFill>
                <a:latin typeface="Calibri" pitchFamily="34" charset="0"/>
                <a:ea typeface="Calibri" pitchFamily="34" charset="-122"/>
                <a:cs typeface="Calibri" pitchFamily="34" charset="-120"/>
              </a:rPr>
              <a:t>4 critical findings</a:t>
            </a:r>
            <a:endParaRPr lang="en-US" sz="1000" dirty="0"/>
          </a:p>
        </p:txBody>
      </p:sp>
      <p:sp>
        <p:nvSpPr>
          <p:cNvPr id="5" name="Shape 3"/>
          <p:cNvSpPr/>
          <p:nvPr/>
        </p:nvSpPr>
        <p:spPr>
          <a:xfrm>
            <a:off x="182880" y="566928"/>
            <a:ext cx="8778240" cy="329184"/>
          </a:xfrm>
          <a:prstGeom prst="rect">
            <a:avLst/>
          </a:prstGeom>
          <a:solidFill>
            <a:srgbClr val="0D1B2A"/>
          </a:solidFill>
          <a:ln w="12700">
            <a:solidFill>
              <a:srgbClr val="0D1B2A"/>
            </a:solidFill>
            <a:prstDash val="solid"/>
          </a:ln>
        </p:spPr>
      </p:sp>
      <p:sp>
        <p:nvSpPr>
          <p:cNvPr id="6" name="Text 4"/>
          <p:cNvSpPr/>
          <p:nvPr/>
        </p:nvSpPr>
        <p:spPr>
          <a:xfrm>
            <a:off x="182880" y="566928"/>
            <a:ext cx="228600" cy="329184"/>
          </a:xfrm>
          <a:prstGeom prst="rect">
            <a:avLst/>
          </a:prstGeom>
          <a:noFill/>
          <a:ln/>
        </p:spPr>
        <p:txBody>
          <a:bodyPr wrap="square" lIns="50800" tIns="50800" rIns="50800" bIns="5080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457200" y="566928"/>
            <a:ext cx="1554480" cy="329184"/>
          </a:xfrm>
          <a:prstGeom prst="rect">
            <a:avLst/>
          </a:prstGeom>
          <a:noFill/>
          <a:ln/>
        </p:spPr>
        <p:txBody>
          <a:bodyPr wrap="square" lIns="50800" tIns="50800" rIns="50800" bIns="5080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Component</a:t>
            </a:r>
            <a:endParaRPr lang="en-US" sz="1000" dirty="0"/>
          </a:p>
        </p:txBody>
      </p:sp>
      <p:sp>
        <p:nvSpPr>
          <p:cNvPr id="8" name="Text 6"/>
          <p:cNvSpPr/>
          <p:nvPr/>
        </p:nvSpPr>
        <p:spPr>
          <a:xfrm>
            <a:off x="2057400" y="566928"/>
            <a:ext cx="2560320" cy="329184"/>
          </a:xfrm>
          <a:prstGeom prst="rect">
            <a:avLst/>
          </a:prstGeom>
          <a:noFill/>
          <a:ln/>
        </p:spPr>
        <p:txBody>
          <a:bodyPr wrap="square" lIns="50800" tIns="50800" rIns="50800" bIns="5080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Paper Claims</a:t>
            </a:r>
            <a:endParaRPr lang="en-US" sz="1000" dirty="0"/>
          </a:p>
        </p:txBody>
      </p:sp>
      <p:sp>
        <p:nvSpPr>
          <p:cNvPr id="9" name="Text 7"/>
          <p:cNvSpPr/>
          <p:nvPr/>
        </p:nvSpPr>
        <p:spPr>
          <a:xfrm>
            <a:off x="4663440" y="566928"/>
            <a:ext cx="2560320" cy="329184"/>
          </a:xfrm>
          <a:prstGeom prst="rect">
            <a:avLst/>
          </a:prstGeom>
          <a:noFill/>
          <a:ln/>
        </p:spPr>
        <p:txBody>
          <a:bodyPr wrap="square" lIns="50800" tIns="50800" rIns="50800" bIns="5080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Repo Reality</a:t>
            </a:r>
            <a:endParaRPr lang="en-US" sz="1000" dirty="0"/>
          </a:p>
        </p:txBody>
      </p:sp>
      <p:sp>
        <p:nvSpPr>
          <p:cNvPr id="10" name="Text 8"/>
          <p:cNvSpPr/>
          <p:nvPr/>
        </p:nvSpPr>
        <p:spPr>
          <a:xfrm>
            <a:off x="7269480" y="566928"/>
            <a:ext cx="1463040" cy="329184"/>
          </a:xfrm>
          <a:prstGeom prst="rect">
            <a:avLst/>
          </a:prstGeom>
          <a:noFill/>
          <a:ln/>
        </p:spPr>
        <p:txBody>
          <a:bodyPr wrap="square" lIns="50800" tIns="50800" rIns="50800" bIns="5080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p>
        </p:txBody>
      </p:sp>
      <p:sp>
        <p:nvSpPr>
          <p:cNvPr id="11" name="Shape 9"/>
          <p:cNvSpPr/>
          <p:nvPr/>
        </p:nvSpPr>
        <p:spPr>
          <a:xfrm>
            <a:off x="182880" y="932688"/>
            <a:ext cx="8778240" cy="822960"/>
          </a:xfrm>
          <a:prstGeom prst="rect">
            <a:avLst>
              <a:gd name="adj" fmla="val 4444"/>
            </a:avLst>
          </a:prstGeom>
          <a:solidFill>
            <a:srgbClr val="FFFFFF"/>
          </a:solidFill>
          <a:ln w="6350">
            <a:solidFill>
              <a:srgbClr val="CBD5E1"/>
            </a:solidFill>
            <a:prstDash val="solid"/>
          </a:ln>
        </p:spPr>
      </p:sp>
      <p:sp>
        <p:nvSpPr>
          <p:cNvPr id="12" name="Text 10"/>
          <p:cNvSpPr/>
          <p:nvPr/>
        </p:nvSpPr>
        <p:spPr>
          <a:xfrm>
            <a:off x="182880" y="932688"/>
            <a:ext cx="228600" cy="822960"/>
          </a:xfrm>
          <a:prstGeom prst="rect">
            <a:avLst/>
          </a:prstGeom>
          <a:noFill/>
          <a:ln/>
        </p:spPr>
        <p:txBody>
          <a:bodyPr wrap="square" lIns="0" tIns="0" rIns="0" bIns="0" rtlCol="0" anchor="ctr"/>
          <a:lstStyle/>
          <a:p>
            <a:pPr algn="ctr" indent="0" marL="0">
              <a:buNone/>
            </a:pPr>
            <a:r>
              <a:rPr lang="en-US" sz="1200" b="1" dirty="0">
                <a:solidFill>
                  <a:srgbClr val="0E7C7B"/>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457200" y="987552"/>
            <a:ext cx="1554480" cy="713232"/>
          </a:xfrm>
          <a:prstGeom prst="rect">
            <a:avLst/>
          </a:prstGeom>
          <a:noFill/>
          <a:ln/>
        </p:spPr>
        <p:txBody>
          <a:bodyPr wrap="square" lIns="50800" tIns="50800" rIns="50800" bIns="5080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Task Scope</a:t>
            </a:r>
            <a:endParaRPr lang="en-US" sz="1000" dirty="0"/>
          </a:p>
        </p:txBody>
      </p:sp>
      <p:sp>
        <p:nvSpPr>
          <p:cNvPr id="14" name="Text 12"/>
          <p:cNvSpPr/>
          <p:nvPr/>
        </p:nvSpPr>
        <p:spPr>
          <a:xfrm>
            <a:off x="2057400" y="978408"/>
            <a:ext cx="2560320" cy="731520"/>
          </a:xfrm>
          <a:prstGeom prst="rect">
            <a:avLst/>
          </a:prstGeom>
          <a:noFill/>
          <a:ln/>
        </p:spPr>
        <p:txBody>
          <a:bodyPr wrap="square" lIns="50800" tIns="50800" rIns="50800" bIns="50800" rtlCol="0" anchor="ctr"/>
          <a:lstStyle/>
          <a:p>
            <a:pPr indent="0" marL="0">
              <a:buNone/>
            </a:pPr>
            <a:r>
              <a:rPr lang="en-US" sz="900" dirty="0">
                <a:solidFill>
                  <a:srgbClr val="334155"/>
                </a:solidFill>
                <a:latin typeface="Calibri" pitchFamily="34" charset="0"/>
                <a:ea typeface="Calibri" pitchFamily="34" charset="-122"/>
                <a:cs typeface="Calibri" pitchFamily="34" charset="-120"/>
              </a:rPr>
              <a:t>10 tasks: parsing, landmark, headpose, attribute, age, gender, race, visibility, expression, face recognition</a:t>
            </a:r>
            <a:endParaRPr lang="en-US" sz="900" dirty="0"/>
          </a:p>
        </p:txBody>
      </p:sp>
      <p:sp>
        <p:nvSpPr>
          <p:cNvPr id="15" name="Text 13"/>
          <p:cNvSpPr/>
          <p:nvPr/>
        </p:nvSpPr>
        <p:spPr>
          <a:xfrm>
            <a:off x="4663440" y="978408"/>
            <a:ext cx="2560320" cy="731520"/>
          </a:xfrm>
          <a:prstGeom prst="rect">
            <a:avLst/>
          </a:prstGeom>
          <a:noFill/>
          <a:ln/>
        </p:spPr>
        <p:txBody>
          <a:bodyPr wrap="square" lIns="50800" tIns="50800" rIns="50800" bIns="50800" rtlCol="0" anchor="ctr"/>
          <a:lstStyle/>
          <a:p>
            <a:pPr indent="0" marL="0">
              <a:buNone/>
            </a:pPr>
            <a:r>
              <a:rPr lang="en-US" sz="900" dirty="0">
                <a:solidFill>
                  <a:srgbClr val="334155"/>
                </a:solidFill>
                <a:latin typeface="Calibri" pitchFamily="34" charset="0"/>
                <a:ea typeface="Calibri" pitchFamily="34" charset="-122"/>
                <a:cs typeface="Calibri" pitchFamily="34" charset="-120"/>
              </a:rPr>
              <a:t>8 tasks only. Expression (RAF-DB) and face recognition (MS1MV3/PartialFC) completely absent from codebase</a:t>
            </a:r>
            <a:endParaRPr lang="en-US" sz="900" dirty="0"/>
          </a:p>
        </p:txBody>
      </p:sp>
      <p:sp>
        <p:nvSpPr>
          <p:cNvPr id="16" name="Shape 14"/>
          <p:cNvSpPr/>
          <p:nvPr/>
        </p:nvSpPr>
        <p:spPr>
          <a:xfrm>
            <a:off x="7360920" y="1188720"/>
            <a:ext cx="1097280" cy="310896"/>
          </a:xfrm>
          <a:prstGeom prst="rect">
            <a:avLst>
              <a:gd name="adj" fmla="val 17647"/>
            </a:avLst>
          </a:prstGeom>
          <a:solidFill>
            <a:srgbClr val="DC2626"/>
          </a:solidFill>
          <a:ln w="12700">
            <a:solidFill>
              <a:srgbClr val="DC2626"/>
            </a:solidFill>
            <a:prstDash val="solid"/>
          </a:ln>
        </p:spPr>
      </p:sp>
      <p:sp>
        <p:nvSpPr>
          <p:cNvPr id="17" name="Text 15"/>
          <p:cNvSpPr/>
          <p:nvPr/>
        </p:nvSpPr>
        <p:spPr>
          <a:xfrm>
            <a:off x="7360920" y="1188720"/>
            <a:ext cx="109728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18" name="Shape 16"/>
          <p:cNvSpPr/>
          <p:nvPr/>
        </p:nvSpPr>
        <p:spPr>
          <a:xfrm>
            <a:off x="182880" y="1810512"/>
            <a:ext cx="8778240" cy="822960"/>
          </a:xfrm>
          <a:prstGeom prst="rect">
            <a:avLst>
              <a:gd name="adj" fmla="val 4444"/>
            </a:avLst>
          </a:prstGeom>
          <a:solidFill>
            <a:srgbClr val="F8FAFC"/>
          </a:solidFill>
          <a:ln w="6350">
            <a:solidFill>
              <a:srgbClr val="CBD5E1"/>
            </a:solidFill>
            <a:prstDash val="solid"/>
          </a:ln>
        </p:spPr>
      </p:sp>
      <p:sp>
        <p:nvSpPr>
          <p:cNvPr id="19" name="Text 17"/>
          <p:cNvSpPr/>
          <p:nvPr/>
        </p:nvSpPr>
        <p:spPr>
          <a:xfrm>
            <a:off x="182880" y="1810512"/>
            <a:ext cx="228600" cy="822960"/>
          </a:xfrm>
          <a:prstGeom prst="rect">
            <a:avLst/>
          </a:prstGeom>
          <a:noFill/>
          <a:ln/>
        </p:spPr>
        <p:txBody>
          <a:bodyPr wrap="square" lIns="0" tIns="0" rIns="0" bIns="0" rtlCol="0" anchor="ctr"/>
          <a:lstStyle/>
          <a:p>
            <a:pPr algn="ctr" indent="0" marL="0">
              <a:buNone/>
            </a:pPr>
            <a:r>
              <a:rPr lang="en-US" sz="1200" b="1" dirty="0">
                <a:solidFill>
                  <a:srgbClr val="0E7C7B"/>
                </a:solidFill>
                <a:latin typeface="Calibri" pitchFamily="34" charset="0"/>
                <a:ea typeface="Calibri" pitchFamily="34" charset="-122"/>
                <a:cs typeface="Calibri" pitchFamily="34" charset="-120"/>
              </a:rPr>
              <a:t>2</a:t>
            </a:r>
            <a:endParaRPr lang="en-US" sz="1200" dirty="0"/>
          </a:p>
        </p:txBody>
      </p:sp>
      <p:sp>
        <p:nvSpPr>
          <p:cNvPr id="20" name="Text 18"/>
          <p:cNvSpPr/>
          <p:nvPr/>
        </p:nvSpPr>
        <p:spPr>
          <a:xfrm>
            <a:off x="457200" y="1865376"/>
            <a:ext cx="1554480" cy="713232"/>
          </a:xfrm>
          <a:prstGeom prst="rect">
            <a:avLst/>
          </a:prstGeom>
          <a:noFill/>
          <a:ln/>
        </p:spPr>
        <p:txBody>
          <a:bodyPr wrap="square" lIns="50800" tIns="50800" rIns="50800" bIns="5080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Task Token Count</a:t>
            </a:r>
            <a:endParaRPr lang="en-US" sz="1000" dirty="0"/>
          </a:p>
        </p:txBody>
      </p:sp>
      <p:sp>
        <p:nvSpPr>
          <p:cNvPr id="21" name="Text 19"/>
          <p:cNvSpPr/>
          <p:nvPr/>
        </p:nvSpPr>
        <p:spPr>
          <a:xfrm>
            <a:off x="2057400" y="1856232"/>
            <a:ext cx="2560320" cy="731520"/>
          </a:xfrm>
          <a:prstGeom prst="rect">
            <a:avLst/>
          </a:prstGeom>
          <a:noFill/>
          <a:ln/>
        </p:spPr>
        <p:txBody>
          <a:bodyPr wrap="square" lIns="50800" tIns="50800" rIns="50800" bIns="50800" rtlCol="0" anchor="ctr"/>
          <a:lstStyle/>
          <a:p>
            <a:pPr indent="0" marL="0">
              <a:buNone/>
            </a:pPr>
            <a:r>
              <a:rPr lang="en-US" sz="900" dirty="0">
                <a:solidFill>
                  <a:srgbClr val="334155"/>
                </a:solidFill>
                <a:latin typeface="Calibri" pitchFamily="34" charset="0"/>
                <a:ea typeface="Calibri" pitchFamily="34" charset="-122"/>
                <a:cs typeface="Calibri" pitchFamily="34" charset="-120"/>
              </a:rPr>
              <a:t>11 seg tokens, 68 landmark tokens, 9 headpose tokens (3×3 rotation matrix), 1 per other task</a:t>
            </a:r>
            <a:endParaRPr lang="en-US" sz="900" dirty="0"/>
          </a:p>
        </p:txBody>
      </p:sp>
      <p:sp>
        <p:nvSpPr>
          <p:cNvPr id="22" name="Text 20"/>
          <p:cNvSpPr/>
          <p:nvPr/>
        </p:nvSpPr>
        <p:spPr>
          <a:xfrm>
            <a:off x="4663440" y="1856232"/>
            <a:ext cx="2560320" cy="731520"/>
          </a:xfrm>
          <a:prstGeom prst="rect">
            <a:avLst/>
          </a:prstGeom>
          <a:noFill/>
          <a:ln/>
        </p:spPr>
        <p:txBody>
          <a:bodyPr wrap="square" lIns="50800" tIns="50800" rIns="50800" bIns="50800" rtlCol="0" anchor="ctr"/>
          <a:lstStyle/>
          <a:p>
            <a:pPr indent="0" marL="0">
              <a:buNone/>
            </a:pPr>
            <a:r>
              <a:rPr lang="en-US" sz="900" dirty="0">
                <a:solidFill>
                  <a:srgbClr val="334155"/>
                </a:solidFill>
                <a:latin typeface="Calibri" pitchFamily="34" charset="0"/>
                <a:ea typeface="Calibri" pitchFamily="34" charset="-122"/>
                <a:cs typeface="Calibri" pitchFamily="34" charset="-120"/>
              </a:rPr>
              <a:t>Only 11 seg tokens implemented. Landmark uses 1 token → MLP. Headpose token count unverified in code</a:t>
            </a:r>
            <a:endParaRPr lang="en-US" sz="900" dirty="0"/>
          </a:p>
        </p:txBody>
      </p:sp>
      <p:sp>
        <p:nvSpPr>
          <p:cNvPr id="23" name="Shape 21"/>
          <p:cNvSpPr/>
          <p:nvPr/>
        </p:nvSpPr>
        <p:spPr>
          <a:xfrm>
            <a:off x="7360920" y="2066544"/>
            <a:ext cx="1097280" cy="310896"/>
          </a:xfrm>
          <a:prstGeom prst="rect">
            <a:avLst>
              <a:gd name="adj" fmla="val 17647"/>
            </a:avLst>
          </a:prstGeom>
          <a:solidFill>
            <a:srgbClr val="DC2626"/>
          </a:solidFill>
          <a:ln w="12700">
            <a:solidFill>
              <a:srgbClr val="DC2626"/>
            </a:solidFill>
            <a:prstDash val="solid"/>
          </a:ln>
        </p:spPr>
      </p:sp>
      <p:sp>
        <p:nvSpPr>
          <p:cNvPr id="24" name="Text 22"/>
          <p:cNvSpPr/>
          <p:nvPr/>
        </p:nvSpPr>
        <p:spPr>
          <a:xfrm>
            <a:off x="7360920" y="2066544"/>
            <a:ext cx="109728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25" name="Shape 23"/>
          <p:cNvSpPr/>
          <p:nvPr/>
        </p:nvSpPr>
        <p:spPr>
          <a:xfrm>
            <a:off x="182880" y="2688336"/>
            <a:ext cx="8778240" cy="822960"/>
          </a:xfrm>
          <a:prstGeom prst="rect">
            <a:avLst>
              <a:gd name="adj" fmla="val 4444"/>
            </a:avLst>
          </a:prstGeom>
          <a:solidFill>
            <a:srgbClr val="FFFFFF"/>
          </a:solidFill>
          <a:ln w="6350">
            <a:solidFill>
              <a:srgbClr val="CBD5E1"/>
            </a:solidFill>
            <a:prstDash val="solid"/>
          </a:ln>
        </p:spPr>
      </p:sp>
      <p:sp>
        <p:nvSpPr>
          <p:cNvPr id="26" name="Text 24"/>
          <p:cNvSpPr/>
          <p:nvPr/>
        </p:nvSpPr>
        <p:spPr>
          <a:xfrm>
            <a:off x="182880" y="2688336"/>
            <a:ext cx="228600" cy="822960"/>
          </a:xfrm>
          <a:prstGeom prst="rect">
            <a:avLst/>
          </a:prstGeom>
          <a:noFill/>
          <a:ln/>
        </p:spPr>
        <p:txBody>
          <a:bodyPr wrap="square" lIns="0" tIns="0" rIns="0" bIns="0" rtlCol="0" anchor="ctr"/>
          <a:lstStyle/>
          <a:p>
            <a:pPr algn="ctr" indent="0" marL="0">
              <a:buNone/>
            </a:pPr>
            <a:r>
              <a:rPr lang="en-US" sz="1200" b="1" dirty="0">
                <a:solidFill>
                  <a:srgbClr val="0E7C7B"/>
                </a:solidFill>
                <a:latin typeface="Calibri" pitchFamily="34" charset="0"/>
                <a:ea typeface="Calibri" pitchFamily="34" charset="-122"/>
                <a:cs typeface="Calibri" pitchFamily="34" charset="-120"/>
              </a:rPr>
              <a:t>3</a:t>
            </a:r>
            <a:endParaRPr lang="en-US" sz="1200" dirty="0"/>
          </a:p>
        </p:txBody>
      </p:sp>
      <p:sp>
        <p:nvSpPr>
          <p:cNvPr id="27" name="Text 25"/>
          <p:cNvSpPr/>
          <p:nvPr/>
        </p:nvSpPr>
        <p:spPr>
          <a:xfrm>
            <a:off x="457200" y="2743200"/>
            <a:ext cx="1554480" cy="713232"/>
          </a:xfrm>
          <a:prstGeom prst="rect">
            <a:avLst/>
          </a:prstGeom>
          <a:noFill/>
          <a:ln/>
        </p:spPr>
        <p:txBody>
          <a:bodyPr wrap="square" lIns="50800" tIns="50800" rIns="50800" bIns="5080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Landmark Head</a:t>
            </a:r>
            <a:endParaRPr lang="en-US" sz="1000" dirty="0"/>
          </a:p>
        </p:txBody>
      </p:sp>
      <p:sp>
        <p:nvSpPr>
          <p:cNvPr id="28" name="Text 26"/>
          <p:cNvSpPr/>
          <p:nvPr/>
        </p:nvSpPr>
        <p:spPr>
          <a:xfrm>
            <a:off x="2057400" y="2734056"/>
            <a:ext cx="2560320" cy="731520"/>
          </a:xfrm>
          <a:prstGeom prst="rect">
            <a:avLst/>
          </a:prstGeom>
          <a:noFill/>
          <a:ln/>
        </p:spPr>
        <p:txBody>
          <a:bodyPr wrap="square" lIns="50800" tIns="50800" rIns="50800" bIns="50800" rtlCol="0" anchor="ctr"/>
          <a:lstStyle/>
          <a:p>
            <a:pPr indent="0" marL="0">
              <a:buNone/>
            </a:pPr>
            <a:r>
              <a:rPr lang="en-US" sz="900" dirty="0">
                <a:solidFill>
                  <a:srgbClr val="334155"/>
                </a:solidFill>
                <a:latin typeface="Calibri" pitchFamily="34" charset="0"/>
                <a:ea typeface="Calibri" pitchFamily="34" charset="-122"/>
                <a:cs typeface="Calibri" pitchFamily="34" charset="-120"/>
              </a:rPr>
              <a:t>Hourglass network on 68 task tokens (explicit in Section 3.3)</a:t>
            </a:r>
            <a:endParaRPr lang="en-US" sz="900" dirty="0"/>
          </a:p>
        </p:txBody>
      </p:sp>
      <p:sp>
        <p:nvSpPr>
          <p:cNvPr id="29" name="Text 27"/>
          <p:cNvSpPr/>
          <p:nvPr/>
        </p:nvSpPr>
        <p:spPr>
          <a:xfrm>
            <a:off x="4663440" y="2734056"/>
            <a:ext cx="2560320" cy="731520"/>
          </a:xfrm>
          <a:prstGeom prst="rect">
            <a:avLst/>
          </a:prstGeom>
          <a:noFill/>
          <a:ln/>
        </p:spPr>
        <p:txBody>
          <a:bodyPr wrap="square" lIns="50800" tIns="50800" rIns="50800" bIns="50800" rtlCol="0" anchor="ctr"/>
          <a:lstStyle/>
          <a:p>
            <a:pPr indent="0" marL="0">
              <a:buNone/>
            </a:pPr>
            <a:r>
              <a:rPr lang="en-US" sz="900" dirty="0">
                <a:solidFill>
                  <a:srgbClr val="334155"/>
                </a:solidFill>
                <a:latin typeface="Calibri" pitchFamily="34" charset="0"/>
                <a:ea typeface="Calibri" pitchFamily="34" charset="-122"/>
                <a:cs typeface="Calibri" pitchFamily="34" charset="-120"/>
              </a:rPr>
              <a:t>Simple MLP. No hourglass anywhere in released code. Authors did not clarify when contacted</a:t>
            </a:r>
            <a:endParaRPr lang="en-US" sz="900" dirty="0"/>
          </a:p>
        </p:txBody>
      </p:sp>
      <p:sp>
        <p:nvSpPr>
          <p:cNvPr id="30" name="Shape 28"/>
          <p:cNvSpPr/>
          <p:nvPr/>
        </p:nvSpPr>
        <p:spPr>
          <a:xfrm>
            <a:off x="7360920" y="2944368"/>
            <a:ext cx="1097280" cy="310896"/>
          </a:xfrm>
          <a:prstGeom prst="rect">
            <a:avLst>
              <a:gd name="adj" fmla="val 17647"/>
            </a:avLst>
          </a:prstGeom>
          <a:solidFill>
            <a:srgbClr val="D97706"/>
          </a:solidFill>
          <a:ln w="12700">
            <a:solidFill>
              <a:srgbClr val="D97706"/>
            </a:solidFill>
            <a:prstDash val="solid"/>
          </a:ln>
        </p:spPr>
      </p:sp>
      <p:sp>
        <p:nvSpPr>
          <p:cNvPr id="31" name="Text 29"/>
          <p:cNvSpPr/>
          <p:nvPr/>
        </p:nvSpPr>
        <p:spPr>
          <a:xfrm>
            <a:off x="7360920" y="2944368"/>
            <a:ext cx="109728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a:t>
            </a:r>
            <a:endParaRPr lang="en-US" sz="1000" dirty="0"/>
          </a:p>
        </p:txBody>
      </p:sp>
      <p:sp>
        <p:nvSpPr>
          <p:cNvPr id="32" name="Shape 30"/>
          <p:cNvSpPr/>
          <p:nvPr/>
        </p:nvSpPr>
        <p:spPr>
          <a:xfrm>
            <a:off x="182880" y="3566160"/>
            <a:ext cx="8778240" cy="822960"/>
          </a:xfrm>
          <a:prstGeom prst="rect">
            <a:avLst>
              <a:gd name="adj" fmla="val 4444"/>
            </a:avLst>
          </a:prstGeom>
          <a:solidFill>
            <a:srgbClr val="F8FAFC"/>
          </a:solidFill>
          <a:ln w="6350">
            <a:solidFill>
              <a:srgbClr val="CBD5E1"/>
            </a:solidFill>
            <a:prstDash val="solid"/>
          </a:ln>
        </p:spPr>
      </p:sp>
      <p:sp>
        <p:nvSpPr>
          <p:cNvPr id="33" name="Text 31"/>
          <p:cNvSpPr/>
          <p:nvPr/>
        </p:nvSpPr>
        <p:spPr>
          <a:xfrm>
            <a:off x="182880" y="3566160"/>
            <a:ext cx="228600" cy="822960"/>
          </a:xfrm>
          <a:prstGeom prst="rect">
            <a:avLst/>
          </a:prstGeom>
          <a:noFill/>
          <a:ln/>
        </p:spPr>
        <p:txBody>
          <a:bodyPr wrap="square" lIns="0" tIns="0" rIns="0" bIns="0" rtlCol="0" anchor="ctr"/>
          <a:lstStyle/>
          <a:p>
            <a:pPr algn="ctr" indent="0" marL="0">
              <a:buNone/>
            </a:pPr>
            <a:r>
              <a:rPr lang="en-US" sz="1200" b="1" dirty="0">
                <a:solidFill>
                  <a:srgbClr val="0E7C7B"/>
                </a:solidFill>
                <a:latin typeface="Calibri" pitchFamily="34" charset="0"/>
                <a:ea typeface="Calibri" pitchFamily="34" charset="-122"/>
                <a:cs typeface="Calibri" pitchFamily="34" charset="-120"/>
              </a:rPr>
              <a:t>4</a:t>
            </a:r>
            <a:endParaRPr lang="en-US" sz="1200" dirty="0"/>
          </a:p>
        </p:txBody>
      </p:sp>
      <p:sp>
        <p:nvSpPr>
          <p:cNvPr id="34" name="Text 32"/>
          <p:cNvSpPr/>
          <p:nvPr/>
        </p:nvSpPr>
        <p:spPr>
          <a:xfrm>
            <a:off x="457200" y="3621024"/>
            <a:ext cx="1554480" cy="713232"/>
          </a:xfrm>
          <a:prstGeom prst="rect">
            <a:avLst/>
          </a:prstGeom>
          <a:noFill/>
          <a:ln/>
        </p:spPr>
        <p:txBody>
          <a:bodyPr wrap="square" lIns="50800" tIns="50800" rIns="50800" bIns="5080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Loss Coefficients</a:t>
            </a:r>
            <a:endParaRPr lang="en-US" sz="1000" dirty="0"/>
          </a:p>
        </p:txBody>
      </p:sp>
      <p:sp>
        <p:nvSpPr>
          <p:cNvPr id="35" name="Text 33"/>
          <p:cNvSpPr/>
          <p:nvPr/>
        </p:nvSpPr>
        <p:spPr>
          <a:xfrm>
            <a:off x="2057400" y="3611880"/>
            <a:ext cx="2560320" cy="731520"/>
          </a:xfrm>
          <a:prstGeom prst="rect">
            <a:avLst/>
          </a:prstGeom>
          <a:noFill/>
          <a:ln/>
        </p:spPr>
        <p:txBody>
          <a:bodyPr wrap="square" lIns="50800" tIns="50800" rIns="50800" bIns="50800" rtlCol="0" anchor="ctr"/>
          <a:lstStyle/>
          <a:p>
            <a:pPr indent="0" marL="0">
              <a:buNone/>
            </a:pPr>
            <a:r>
              <a:rPr lang="en-US" sz="900" dirty="0">
                <a:solidFill>
                  <a:srgbClr val="334155"/>
                </a:solidFill>
                <a:latin typeface="Calibri" pitchFamily="34" charset="0"/>
                <a:ea typeface="Calibri" pitchFamily="34" charset="-122"/>
                <a:cs typeface="Calibri" pitchFamily="34" charset="-120"/>
              </a:rPr>
              <a:t>Loss = Σ λᵢLᵢ across all tasks. No λᵢ values given anywhere in paper or appendix</a:t>
            </a:r>
            <a:endParaRPr lang="en-US" sz="900" dirty="0"/>
          </a:p>
        </p:txBody>
      </p:sp>
      <p:sp>
        <p:nvSpPr>
          <p:cNvPr id="36" name="Text 34"/>
          <p:cNvSpPr/>
          <p:nvPr/>
        </p:nvSpPr>
        <p:spPr>
          <a:xfrm>
            <a:off x="4663440" y="3611880"/>
            <a:ext cx="2560320" cy="731520"/>
          </a:xfrm>
          <a:prstGeom prst="rect">
            <a:avLst/>
          </a:prstGeom>
          <a:noFill/>
          <a:ln/>
        </p:spPr>
        <p:txBody>
          <a:bodyPr wrap="square" lIns="50800" tIns="50800" rIns="50800" bIns="50800" rtlCol="0" anchor="ctr"/>
          <a:lstStyle/>
          <a:p>
            <a:pPr indent="0" marL="0">
              <a:buNone/>
            </a:pPr>
            <a:r>
              <a:rPr lang="en-US" sz="900" dirty="0">
                <a:solidFill>
                  <a:srgbClr val="334155"/>
                </a:solidFill>
                <a:latin typeface="Calibri" pitchFamily="34" charset="0"/>
                <a:ea typeface="Calibri" pitchFamily="34" charset="-122"/>
                <a:cs typeface="Calibri" pitchFamily="34" charset="-120"/>
              </a:rPr>
              <a:t>No loss implementation at all. Email to authors confirmed: all λᵢ = 1.0</a:t>
            </a:r>
            <a:endParaRPr lang="en-US" sz="900" dirty="0"/>
          </a:p>
        </p:txBody>
      </p:sp>
      <p:sp>
        <p:nvSpPr>
          <p:cNvPr id="37" name="Shape 35"/>
          <p:cNvSpPr/>
          <p:nvPr/>
        </p:nvSpPr>
        <p:spPr>
          <a:xfrm>
            <a:off x="7360920" y="3822192"/>
            <a:ext cx="1097280" cy="310896"/>
          </a:xfrm>
          <a:prstGeom prst="rect">
            <a:avLst>
              <a:gd name="adj" fmla="val 17647"/>
            </a:avLst>
          </a:prstGeom>
          <a:solidFill>
            <a:srgbClr val="DC2626"/>
          </a:solidFill>
          <a:ln w="12700">
            <a:solidFill>
              <a:srgbClr val="DC2626"/>
            </a:solidFill>
            <a:prstDash val="solid"/>
          </a:ln>
        </p:spPr>
      </p:sp>
      <p:sp>
        <p:nvSpPr>
          <p:cNvPr id="38" name="Text 36"/>
          <p:cNvSpPr/>
          <p:nvPr/>
        </p:nvSpPr>
        <p:spPr>
          <a:xfrm>
            <a:off x="7360920" y="3822192"/>
            <a:ext cx="109728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39" name="Shape 37"/>
          <p:cNvSpPr/>
          <p:nvPr/>
        </p:nvSpPr>
        <p:spPr>
          <a:xfrm>
            <a:off x="182880" y="4261104"/>
            <a:ext cx="8778240" cy="292608"/>
          </a:xfrm>
          <a:prstGeom prst="rect">
            <a:avLst>
              <a:gd name="adj" fmla="val 12500"/>
            </a:avLst>
          </a:prstGeom>
          <a:solidFill>
            <a:srgbClr val="FEF3C7"/>
          </a:solidFill>
          <a:ln w="9525">
            <a:solidFill>
              <a:srgbClr val="D97706"/>
            </a:solidFill>
            <a:prstDash val="solid"/>
          </a:ln>
        </p:spPr>
      </p:sp>
      <p:sp>
        <p:nvSpPr>
          <p:cNvPr id="40" name="Text 38"/>
          <p:cNvSpPr/>
          <p:nvPr/>
        </p:nvSpPr>
        <p:spPr>
          <a:xfrm>
            <a:off x="320040" y="4261104"/>
            <a:ext cx="8503920" cy="292608"/>
          </a:xfrm>
          <a:prstGeom prst="rect">
            <a:avLst/>
          </a:prstGeom>
          <a:noFill/>
          <a:ln/>
        </p:spPr>
        <p:txBody>
          <a:bodyPr wrap="square" lIns="0" tIns="0" rIns="0" bIns="0" rtlCol="0" anchor="ctr"/>
          <a:lstStyle/>
          <a:p>
            <a:pPr indent="0" marL="0">
              <a:buNone/>
            </a:pPr>
            <a:r>
              <a:rPr lang="en-US" sz="950" dirty="0">
                <a:solidFill>
                  <a:srgbClr val="92400E"/>
                </a:solidFill>
                <a:latin typeface="Calibri" pitchFamily="34" charset="0"/>
                <a:ea typeface="Calibri" pitchFamily="34" charset="-122"/>
                <a:cs typeface="Calibri" pitchFamily="34" charset="-120"/>
              </a:rPr>
              <a:t>+ Epoch ambiguity: "3 extra epochs for some tasks" — those tasks never specified. No training loop in repo — rebuilt entirely from scratch.</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sp>
      <p:sp>
        <p:nvSpPr>
          <p:cNvPr id="3" name="Text 1"/>
          <p:cNvSpPr/>
          <p:nvPr/>
        </p:nvSpPr>
        <p:spPr>
          <a:xfrm>
            <a:off x="320040" y="0"/>
            <a:ext cx="64008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What We Rebuilt From Scratch</a:t>
            </a:r>
            <a:endParaRPr lang="en-US" sz="2000" dirty="0"/>
          </a:p>
        </p:txBody>
      </p:sp>
      <p:sp>
        <p:nvSpPr>
          <p:cNvPr id="4" name="Text 2"/>
          <p:cNvSpPr/>
          <p:nvPr/>
        </p:nvSpPr>
        <p:spPr>
          <a:xfrm>
            <a:off x="5486400" y="0"/>
            <a:ext cx="3474720" cy="502920"/>
          </a:xfrm>
          <a:prstGeom prst="rect">
            <a:avLst/>
          </a:prstGeom>
          <a:noFill/>
          <a:ln/>
        </p:spPr>
        <p:txBody>
          <a:bodyPr wrap="square" lIns="0" tIns="0" rIns="0" bIns="0" rtlCol="0" anchor="ctr"/>
          <a:lstStyle/>
          <a:p>
            <a:pPr algn="r" indent="0" marL="0">
              <a:buNone/>
            </a:pPr>
            <a:r>
              <a:rPr lang="en-US" sz="1000" dirty="0">
                <a:solidFill>
                  <a:srgbClr val="7DD3D2"/>
                </a:solidFill>
                <a:latin typeface="Calibri" pitchFamily="34" charset="0"/>
                <a:ea typeface="Calibri" pitchFamily="34" charset="-122"/>
                <a:cs typeface="Calibri" pitchFamily="34" charset="-120"/>
              </a:rPr>
              <a:t>Full training pipeline reconstruction</a:t>
            </a:r>
            <a:endParaRPr lang="en-US" sz="1000" dirty="0"/>
          </a:p>
        </p:txBody>
      </p:sp>
      <p:sp>
        <p:nvSpPr>
          <p:cNvPr id="5" name="Text 3"/>
          <p:cNvSpPr/>
          <p:nvPr/>
        </p:nvSpPr>
        <p:spPr>
          <a:xfrm>
            <a:off x="320040" y="594360"/>
            <a:ext cx="4114800" cy="256032"/>
          </a:xfrm>
          <a:prstGeom prst="rect">
            <a:avLst/>
          </a:prstGeom>
          <a:noFill/>
          <a:ln/>
        </p:spPr>
        <p:txBody>
          <a:bodyPr wrap="square" lIns="0" tIns="0" rIns="0" bIns="0"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  BUILT</a:t>
            </a:r>
            <a:endParaRPr lang="en-US" sz="1100" dirty="0"/>
          </a:p>
        </p:txBody>
      </p:sp>
      <p:sp>
        <p:nvSpPr>
          <p:cNvPr id="6" name="Shape 4"/>
          <p:cNvSpPr/>
          <p:nvPr/>
        </p:nvSpPr>
        <p:spPr>
          <a:xfrm>
            <a:off x="320040" y="886968"/>
            <a:ext cx="4114800" cy="548640"/>
          </a:xfrm>
          <a:prstGeom prst="rect">
            <a:avLst/>
          </a:prstGeom>
          <a:solidFill>
            <a:srgbClr val="FFFFFF"/>
          </a:solidFill>
          <a:ln w="9525">
            <a:solidFill>
              <a:srgbClr val="E2E8F0"/>
            </a:solidFill>
            <a:prstDash val="solid"/>
          </a:ln>
        </p:spPr>
      </p:sp>
      <p:sp>
        <p:nvSpPr>
          <p:cNvPr id="7" name="Shape 5"/>
          <p:cNvSpPr/>
          <p:nvPr/>
        </p:nvSpPr>
        <p:spPr>
          <a:xfrm>
            <a:off x="320040" y="886968"/>
            <a:ext cx="54864" cy="548640"/>
          </a:xfrm>
          <a:prstGeom prst="rect">
            <a:avLst/>
          </a:prstGeom>
          <a:solidFill>
            <a:srgbClr val="16A34A"/>
          </a:solidFill>
          <a:ln w="12700">
            <a:solidFill>
              <a:srgbClr val="16A34A"/>
            </a:solidFill>
            <a:prstDash val="solid"/>
          </a:ln>
        </p:spPr>
      </p:sp>
      <p:sp>
        <p:nvSpPr>
          <p:cNvPr id="8" name="Text 6"/>
          <p:cNvSpPr/>
          <p:nvPr/>
        </p:nvSpPr>
        <p:spPr>
          <a:xfrm>
            <a:off x="475488" y="923544"/>
            <a:ext cx="3840480" cy="21945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8 Dataset Loaders</a:t>
            </a:r>
            <a:endParaRPr lang="en-US" sz="1100" dirty="0"/>
          </a:p>
        </p:txBody>
      </p:sp>
      <p:sp>
        <p:nvSpPr>
          <p:cNvPr id="9" name="Text 7"/>
          <p:cNvSpPr/>
          <p:nvPr/>
        </p:nvSpPr>
        <p:spPr>
          <a:xfrm>
            <a:off x="475488" y="1161288"/>
            <a:ext cx="384048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CelebAMask-HQ, 300W, BIWI, CelebA, LFWA, UTKFace, FairFace, COFW</a:t>
            </a:r>
            <a:endParaRPr lang="en-US" sz="900" dirty="0"/>
          </a:p>
        </p:txBody>
      </p:sp>
      <p:sp>
        <p:nvSpPr>
          <p:cNvPr id="10" name="Shape 8"/>
          <p:cNvSpPr/>
          <p:nvPr/>
        </p:nvSpPr>
        <p:spPr>
          <a:xfrm>
            <a:off x="320040" y="1508760"/>
            <a:ext cx="4114800" cy="548640"/>
          </a:xfrm>
          <a:prstGeom prst="rect">
            <a:avLst/>
          </a:prstGeom>
          <a:solidFill>
            <a:srgbClr val="FFFFFF"/>
          </a:solidFill>
          <a:ln w="9525">
            <a:solidFill>
              <a:srgbClr val="E2E8F0"/>
            </a:solidFill>
            <a:prstDash val="solid"/>
          </a:ln>
        </p:spPr>
      </p:sp>
      <p:sp>
        <p:nvSpPr>
          <p:cNvPr id="11" name="Shape 9"/>
          <p:cNvSpPr/>
          <p:nvPr/>
        </p:nvSpPr>
        <p:spPr>
          <a:xfrm>
            <a:off x="320040" y="1508760"/>
            <a:ext cx="54864" cy="548640"/>
          </a:xfrm>
          <a:prstGeom prst="rect">
            <a:avLst/>
          </a:prstGeom>
          <a:solidFill>
            <a:srgbClr val="16A34A"/>
          </a:solidFill>
          <a:ln w="12700">
            <a:solidFill>
              <a:srgbClr val="16A34A"/>
            </a:solidFill>
            <a:prstDash val="solid"/>
          </a:ln>
        </p:spPr>
      </p:sp>
      <p:sp>
        <p:nvSpPr>
          <p:cNvPr id="12" name="Text 10"/>
          <p:cNvSpPr/>
          <p:nvPr/>
        </p:nvSpPr>
        <p:spPr>
          <a:xfrm>
            <a:off x="475488" y="1545336"/>
            <a:ext cx="3840480" cy="21945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Task-Balanced Sampler</a:t>
            </a:r>
            <a:endParaRPr lang="en-US" sz="1100" dirty="0"/>
          </a:p>
        </p:txBody>
      </p:sp>
      <p:sp>
        <p:nvSpPr>
          <p:cNvPr id="13" name="Text 11"/>
          <p:cNvSpPr/>
          <p:nvPr/>
        </p:nvSpPr>
        <p:spPr>
          <a:xfrm>
            <a:off x="475488" y="1783080"/>
            <a:ext cx="384048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Upsampling so all tasks equally represented per batch</a:t>
            </a:r>
            <a:endParaRPr lang="en-US" sz="900" dirty="0"/>
          </a:p>
        </p:txBody>
      </p:sp>
      <p:sp>
        <p:nvSpPr>
          <p:cNvPr id="14" name="Shape 12"/>
          <p:cNvSpPr/>
          <p:nvPr/>
        </p:nvSpPr>
        <p:spPr>
          <a:xfrm>
            <a:off x="320040" y="2130552"/>
            <a:ext cx="4114800" cy="548640"/>
          </a:xfrm>
          <a:prstGeom prst="rect">
            <a:avLst/>
          </a:prstGeom>
          <a:solidFill>
            <a:srgbClr val="FFFFFF"/>
          </a:solidFill>
          <a:ln w="9525">
            <a:solidFill>
              <a:srgbClr val="E2E8F0"/>
            </a:solidFill>
            <a:prstDash val="solid"/>
          </a:ln>
        </p:spPr>
      </p:sp>
      <p:sp>
        <p:nvSpPr>
          <p:cNvPr id="15" name="Shape 13"/>
          <p:cNvSpPr/>
          <p:nvPr/>
        </p:nvSpPr>
        <p:spPr>
          <a:xfrm>
            <a:off x="320040" y="2130552"/>
            <a:ext cx="54864" cy="548640"/>
          </a:xfrm>
          <a:prstGeom prst="rect">
            <a:avLst/>
          </a:prstGeom>
          <a:solidFill>
            <a:srgbClr val="16A34A"/>
          </a:solidFill>
          <a:ln w="12700">
            <a:solidFill>
              <a:srgbClr val="16A34A"/>
            </a:solidFill>
            <a:prstDash val="solid"/>
          </a:ln>
        </p:spPr>
      </p:sp>
      <p:sp>
        <p:nvSpPr>
          <p:cNvPr id="16" name="Text 14"/>
          <p:cNvSpPr/>
          <p:nvPr/>
        </p:nvSpPr>
        <p:spPr>
          <a:xfrm>
            <a:off x="475488" y="2167128"/>
            <a:ext cx="3840480" cy="21945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All Loss Functions</a:t>
            </a:r>
            <a:endParaRPr lang="en-US" sz="1100" dirty="0"/>
          </a:p>
        </p:txBody>
      </p:sp>
      <p:sp>
        <p:nvSpPr>
          <p:cNvPr id="17" name="Text 15"/>
          <p:cNvSpPr/>
          <p:nvPr/>
        </p:nvSpPr>
        <p:spPr>
          <a:xfrm>
            <a:off x="475488" y="2404872"/>
            <a:ext cx="384048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Dice+CE (seg), STARLoss (landmark), Geodesic (headpose), BCE (attr/vis), L1+CE (age), CE (gender/race)</a:t>
            </a:r>
            <a:endParaRPr lang="en-US" sz="900" dirty="0"/>
          </a:p>
        </p:txBody>
      </p:sp>
      <p:sp>
        <p:nvSpPr>
          <p:cNvPr id="18" name="Shape 16"/>
          <p:cNvSpPr/>
          <p:nvPr/>
        </p:nvSpPr>
        <p:spPr>
          <a:xfrm>
            <a:off x="320040" y="2752344"/>
            <a:ext cx="4114800" cy="548640"/>
          </a:xfrm>
          <a:prstGeom prst="rect">
            <a:avLst/>
          </a:prstGeom>
          <a:solidFill>
            <a:srgbClr val="FFFFFF"/>
          </a:solidFill>
          <a:ln w="9525">
            <a:solidFill>
              <a:srgbClr val="E2E8F0"/>
            </a:solidFill>
            <a:prstDash val="solid"/>
          </a:ln>
        </p:spPr>
      </p:sp>
      <p:sp>
        <p:nvSpPr>
          <p:cNvPr id="19" name="Shape 17"/>
          <p:cNvSpPr/>
          <p:nvPr/>
        </p:nvSpPr>
        <p:spPr>
          <a:xfrm>
            <a:off x="320040" y="2752344"/>
            <a:ext cx="54864" cy="548640"/>
          </a:xfrm>
          <a:prstGeom prst="rect">
            <a:avLst/>
          </a:prstGeom>
          <a:solidFill>
            <a:srgbClr val="16A34A"/>
          </a:solidFill>
          <a:ln w="12700">
            <a:solidFill>
              <a:srgbClr val="16A34A"/>
            </a:solidFill>
            <a:prstDash val="solid"/>
          </a:ln>
        </p:spPr>
      </p:sp>
      <p:sp>
        <p:nvSpPr>
          <p:cNvPr id="20" name="Text 18"/>
          <p:cNvSpPr/>
          <p:nvPr/>
        </p:nvSpPr>
        <p:spPr>
          <a:xfrm>
            <a:off x="475488" y="2788920"/>
            <a:ext cx="3840480" cy="21945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Multi-Task Training Loop</a:t>
            </a:r>
            <a:endParaRPr lang="en-US" sz="1100" dirty="0"/>
          </a:p>
        </p:txBody>
      </p:sp>
      <p:sp>
        <p:nvSpPr>
          <p:cNvPr id="21" name="Text 19"/>
          <p:cNvSpPr/>
          <p:nvPr/>
        </p:nvSpPr>
        <p:spPr>
          <a:xfrm>
            <a:off x="475488" y="3026664"/>
            <a:ext cx="384048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PyTorch DDP, 8×A100, FP16, AdamW lr=1e-4, decay @ep6,10, 12 epochs</a:t>
            </a:r>
            <a:endParaRPr lang="en-US" sz="900" dirty="0"/>
          </a:p>
        </p:txBody>
      </p:sp>
      <p:sp>
        <p:nvSpPr>
          <p:cNvPr id="22" name="Shape 20"/>
          <p:cNvSpPr/>
          <p:nvPr/>
        </p:nvSpPr>
        <p:spPr>
          <a:xfrm>
            <a:off x="320040" y="3374136"/>
            <a:ext cx="4114800" cy="548640"/>
          </a:xfrm>
          <a:prstGeom prst="rect">
            <a:avLst/>
          </a:prstGeom>
          <a:solidFill>
            <a:srgbClr val="FFFFFF"/>
          </a:solidFill>
          <a:ln w="9525">
            <a:solidFill>
              <a:srgbClr val="E2E8F0"/>
            </a:solidFill>
            <a:prstDash val="solid"/>
          </a:ln>
        </p:spPr>
      </p:sp>
      <p:sp>
        <p:nvSpPr>
          <p:cNvPr id="23" name="Shape 21"/>
          <p:cNvSpPr/>
          <p:nvPr/>
        </p:nvSpPr>
        <p:spPr>
          <a:xfrm>
            <a:off x="320040" y="3374136"/>
            <a:ext cx="54864" cy="548640"/>
          </a:xfrm>
          <a:prstGeom prst="rect">
            <a:avLst/>
          </a:prstGeom>
          <a:solidFill>
            <a:srgbClr val="16A34A"/>
          </a:solidFill>
          <a:ln w="12700">
            <a:solidFill>
              <a:srgbClr val="16A34A"/>
            </a:solidFill>
            <a:prstDash val="solid"/>
          </a:ln>
        </p:spPr>
      </p:sp>
      <p:sp>
        <p:nvSpPr>
          <p:cNvPr id="24" name="Text 22"/>
          <p:cNvSpPr/>
          <p:nvPr/>
        </p:nvSpPr>
        <p:spPr>
          <a:xfrm>
            <a:off x="475488" y="3410712"/>
            <a:ext cx="3840480" cy="21945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Augmentation Pipeline</a:t>
            </a:r>
            <a:endParaRPr lang="en-US" sz="1100" dirty="0"/>
          </a:p>
        </p:txBody>
      </p:sp>
      <p:sp>
        <p:nvSpPr>
          <p:cNvPr id="25" name="Text 23"/>
          <p:cNvSpPr/>
          <p:nvPr/>
        </p:nvSpPr>
        <p:spPr>
          <a:xfrm>
            <a:off x="475488" y="3648456"/>
            <a:ext cx="384048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Rotation ±18°, scale ±10%, flip, blur, grayscale, occlusion, gamma — per Appendix F</a:t>
            </a:r>
            <a:endParaRPr lang="en-US" sz="900" dirty="0"/>
          </a:p>
        </p:txBody>
      </p:sp>
      <p:sp>
        <p:nvSpPr>
          <p:cNvPr id="26" name="Shape 24"/>
          <p:cNvSpPr/>
          <p:nvPr/>
        </p:nvSpPr>
        <p:spPr>
          <a:xfrm>
            <a:off x="320040" y="3995928"/>
            <a:ext cx="4114800" cy="548640"/>
          </a:xfrm>
          <a:prstGeom prst="rect">
            <a:avLst/>
          </a:prstGeom>
          <a:solidFill>
            <a:srgbClr val="FFFFFF"/>
          </a:solidFill>
          <a:ln w="9525">
            <a:solidFill>
              <a:srgbClr val="E2E8F0"/>
            </a:solidFill>
            <a:prstDash val="solid"/>
          </a:ln>
        </p:spPr>
      </p:sp>
      <p:sp>
        <p:nvSpPr>
          <p:cNvPr id="27" name="Shape 25"/>
          <p:cNvSpPr/>
          <p:nvPr/>
        </p:nvSpPr>
        <p:spPr>
          <a:xfrm>
            <a:off x="320040" y="3995928"/>
            <a:ext cx="54864" cy="548640"/>
          </a:xfrm>
          <a:prstGeom prst="rect">
            <a:avLst/>
          </a:prstGeom>
          <a:solidFill>
            <a:srgbClr val="16A34A"/>
          </a:solidFill>
          <a:ln w="12700">
            <a:solidFill>
              <a:srgbClr val="16A34A"/>
            </a:solidFill>
            <a:prstDash val="solid"/>
          </a:ln>
        </p:spPr>
      </p:sp>
      <p:sp>
        <p:nvSpPr>
          <p:cNvPr id="28" name="Text 26"/>
          <p:cNvSpPr/>
          <p:nvPr/>
        </p:nvSpPr>
        <p:spPr>
          <a:xfrm>
            <a:off x="475488" y="4032504"/>
            <a:ext cx="3840480" cy="21945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Normalization &amp; Gap Analysis</a:t>
            </a:r>
            <a:endParaRPr lang="en-US" sz="1100" dirty="0"/>
          </a:p>
        </p:txBody>
      </p:sp>
      <p:sp>
        <p:nvSpPr>
          <p:cNvPr id="29" name="Text 27"/>
          <p:cNvSpPr/>
          <p:nvPr/>
        </p:nvSpPr>
        <p:spPr>
          <a:xfrm>
            <a:off x="475488" y="4270248"/>
            <a:ext cx="384048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Raw metric → normalized unit mapping; structured paper-vs-reproduction comparison</a:t>
            </a:r>
            <a:endParaRPr lang="en-US" sz="900" dirty="0"/>
          </a:p>
        </p:txBody>
      </p:sp>
      <p:sp>
        <p:nvSpPr>
          <p:cNvPr id="30" name="Text 28"/>
          <p:cNvSpPr/>
          <p:nvPr/>
        </p:nvSpPr>
        <p:spPr>
          <a:xfrm>
            <a:off x="4663440" y="594360"/>
            <a:ext cx="4206240" cy="25603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  DROPPED  (scope / compute)</a:t>
            </a:r>
            <a:endParaRPr lang="en-US" sz="1100" dirty="0"/>
          </a:p>
        </p:txBody>
      </p:sp>
      <p:sp>
        <p:nvSpPr>
          <p:cNvPr id="31" name="Shape 29"/>
          <p:cNvSpPr/>
          <p:nvPr/>
        </p:nvSpPr>
        <p:spPr>
          <a:xfrm>
            <a:off x="4663440" y="886968"/>
            <a:ext cx="4206240" cy="548640"/>
          </a:xfrm>
          <a:prstGeom prst="rect">
            <a:avLst/>
          </a:prstGeom>
          <a:solidFill>
            <a:srgbClr val="FFFFFF"/>
          </a:solidFill>
          <a:ln w="9525">
            <a:solidFill>
              <a:srgbClr val="E2E8F0"/>
            </a:solidFill>
            <a:prstDash val="solid"/>
          </a:ln>
        </p:spPr>
      </p:sp>
      <p:sp>
        <p:nvSpPr>
          <p:cNvPr id="32" name="Shape 30"/>
          <p:cNvSpPr/>
          <p:nvPr/>
        </p:nvSpPr>
        <p:spPr>
          <a:xfrm>
            <a:off x="4663440" y="886968"/>
            <a:ext cx="54864" cy="548640"/>
          </a:xfrm>
          <a:prstGeom prst="rect">
            <a:avLst/>
          </a:prstGeom>
          <a:solidFill>
            <a:srgbClr val="DC2626"/>
          </a:solidFill>
          <a:ln w="12700">
            <a:solidFill>
              <a:srgbClr val="DC2626"/>
            </a:solidFill>
            <a:prstDash val="solid"/>
          </a:ln>
        </p:spPr>
      </p:sp>
      <p:sp>
        <p:nvSpPr>
          <p:cNvPr id="33" name="Text 31"/>
          <p:cNvSpPr/>
          <p:nvPr/>
        </p:nvSpPr>
        <p:spPr>
          <a:xfrm>
            <a:off x="4828032" y="923544"/>
            <a:ext cx="3931920" cy="21945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Facial Expression Recognition</a:t>
            </a:r>
            <a:endParaRPr lang="en-US" sz="1100" dirty="0"/>
          </a:p>
        </p:txBody>
      </p:sp>
      <p:sp>
        <p:nvSpPr>
          <p:cNvPr id="34" name="Text 32"/>
          <p:cNvSpPr/>
          <p:nvPr/>
        </p:nvSpPr>
        <p:spPr>
          <a:xfrm>
            <a:off x="4828032" y="1161288"/>
            <a:ext cx="393192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RAF-DB + AffectNet — dataset licensing &amp; augmentation complexity</a:t>
            </a:r>
            <a:endParaRPr lang="en-US" sz="900" dirty="0"/>
          </a:p>
        </p:txBody>
      </p:sp>
      <p:sp>
        <p:nvSpPr>
          <p:cNvPr id="35" name="Shape 33"/>
          <p:cNvSpPr/>
          <p:nvPr/>
        </p:nvSpPr>
        <p:spPr>
          <a:xfrm>
            <a:off x="4663440" y="1508760"/>
            <a:ext cx="4206240" cy="548640"/>
          </a:xfrm>
          <a:prstGeom prst="rect">
            <a:avLst/>
          </a:prstGeom>
          <a:solidFill>
            <a:srgbClr val="FFFFFF"/>
          </a:solidFill>
          <a:ln w="9525">
            <a:solidFill>
              <a:srgbClr val="E2E8F0"/>
            </a:solidFill>
            <a:prstDash val="solid"/>
          </a:ln>
        </p:spPr>
      </p:sp>
      <p:sp>
        <p:nvSpPr>
          <p:cNvPr id="36" name="Shape 34"/>
          <p:cNvSpPr/>
          <p:nvPr/>
        </p:nvSpPr>
        <p:spPr>
          <a:xfrm>
            <a:off x="4663440" y="1508760"/>
            <a:ext cx="54864" cy="548640"/>
          </a:xfrm>
          <a:prstGeom prst="rect">
            <a:avLst/>
          </a:prstGeom>
          <a:solidFill>
            <a:srgbClr val="DC2626"/>
          </a:solidFill>
          <a:ln w="12700">
            <a:solidFill>
              <a:srgbClr val="DC2626"/>
            </a:solidFill>
            <a:prstDash val="solid"/>
          </a:ln>
        </p:spPr>
      </p:sp>
      <p:sp>
        <p:nvSpPr>
          <p:cNvPr id="37" name="Text 35"/>
          <p:cNvSpPr/>
          <p:nvPr/>
        </p:nvSpPr>
        <p:spPr>
          <a:xfrm>
            <a:off x="4828032" y="1545336"/>
            <a:ext cx="3931920" cy="21945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Face Recognition</a:t>
            </a:r>
            <a:endParaRPr lang="en-US" sz="1100" dirty="0"/>
          </a:p>
        </p:txBody>
      </p:sp>
      <p:sp>
        <p:nvSpPr>
          <p:cNvPr id="38" name="Text 36"/>
          <p:cNvSpPr/>
          <p:nvPr/>
        </p:nvSpPr>
        <p:spPr>
          <a:xfrm>
            <a:off x="4828032" y="1783080"/>
            <a:ext cx="393192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MS1MV3 (5.1M imgs, 93K IDs) + PartialFC/ArcFace — compute prohibitive</a:t>
            </a:r>
            <a:endParaRPr lang="en-US" sz="900" dirty="0"/>
          </a:p>
        </p:txBody>
      </p:sp>
      <p:sp>
        <p:nvSpPr>
          <p:cNvPr id="39" name="Shape 37"/>
          <p:cNvSpPr/>
          <p:nvPr/>
        </p:nvSpPr>
        <p:spPr>
          <a:xfrm>
            <a:off x="4663440" y="2176272"/>
            <a:ext cx="4206240" cy="1371600"/>
          </a:xfrm>
          <a:prstGeom prst="rect">
            <a:avLst>
              <a:gd name="adj" fmla="val 4000"/>
            </a:avLst>
          </a:prstGeom>
          <a:solidFill>
            <a:srgbClr val="EFF6FF"/>
          </a:solidFill>
          <a:ln w="9525">
            <a:solidFill>
              <a:srgbClr val="3B82F6"/>
            </a:solidFill>
            <a:prstDash val="solid"/>
          </a:ln>
        </p:spPr>
      </p:sp>
      <p:sp>
        <p:nvSpPr>
          <p:cNvPr id="40" name="Text 38"/>
          <p:cNvSpPr/>
          <p:nvPr/>
        </p:nvSpPr>
        <p:spPr>
          <a:xfrm>
            <a:off x="4800600" y="2231136"/>
            <a:ext cx="3931920" cy="256032"/>
          </a:xfrm>
          <a:prstGeom prst="rect">
            <a:avLst/>
          </a:prstGeom>
          <a:noFill/>
          <a:ln/>
        </p:spPr>
        <p:txBody>
          <a:bodyPr wrap="square" lIns="0" tIns="0" rIns="0" bIns="0" rtlCol="0" anchor="ctr"/>
          <a:lstStyle/>
          <a:p>
            <a:pPr indent="0" marL="0">
              <a:buNone/>
            </a:pPr>
            <a:r>
              <a:rPr lang="en-US" sz="1100" b="1" dirty="0">
                <a:solidFill>
                  <a:srgbClr val="1D4ED8"/>
                </a:solidFill>
                <a:latin typeface="Calibri" pitchFamily="34" charset="0"/>
                <a:ea typeface="Calibri" pitchFamily="34" charset="-122"/>
                <a:cs typeface="Calibri" pitchFamily="34" charset="-120"/>
              </a:rPr>
              <a:t>Training Infrastructure</a:t>
            </a:r>
            <a:endParaRPr lang="en-US" sz="1100" dirty="0"/>
          </a:p>
        </p:txBody>
      </p:sp>
      <p:sp>
        <p:nvSpPr>
          <p:cNvPr id="41" name="Shape 39"/>
          <p:cNvSpPr/>
          <p:nvPr/>
        </p:nvSpPr>
        <p:spPr>
          <a:xfrm>
            <a:off x="4800600" y="2523744"/>
            <a:ext cx="45720" cy="164592"/>
          </a:xfrm>
          <a:prstGeom prst="rect">
            <a:avLst/>
          </a:prstGeom>
          <a:solidFill>
            <a:srgbClr val="3B82F6"/>
          </a:solidFill>
          <a:ln w="12700">
            <a:solidFill>
              <a:srgbClr val="3B82F6"/>
            </a:solidFill>
            <a:prstDash val="solid"/>
          </a:ln>
        </p:spPr>
      </p:sp>
      <p:sp>
        <p:nvSpPr>
          <p:cNvPr id="42" name="Text 40"/>
          <p:cNvSpPr/>
          <p:nvPr/>
        </p:nvSpPr>
        <p:spPr>
          <a:xfrm>
            <a:off x="4919472" y="2523744"/>
            <a:ext cx="3840480" cy="20116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8 × NVIDIA A100 GPUs  (Purdue cluster)</a:t>
            </a:r>
            <a:endParaRPr lang="en-US" sz="1000" dirty="0"/>
          </a:p>
        </p:txBody>
      </p:sp>
      <p:sp>
        <p:nvSpPr>
          <p:cNvPr id="43" name="Shape 41"/>
          <p:cNvSpPr/>
          <p:nvPr/>
        </p:nvSpPr>
        <p:spPr>
          <a:xfrm>
            <a:off x="4800600" y="2770632"/>
            <a:ext cx="45720" cy="164592"/>
          </a:xfrm>
          <a:prstGeom prst="rect">
            <a:avLst/>
          </a:prstGeom>
          <a:solidFill>
            <a:srgbClr val="3B82F6"/>
          </a:solidFill>
          <a:ln w="12700">
            <a:solidFill>
              <a:srgbClr val="3B82F6"/>
            </a:solidFill>
            <a:prstDash val="solid"/>
          </a:ln>
        </p:spPr>
      </p:sp>
      <p:sp>
        <p:nvSpPr>
          <p:cNvPr id="44" name="Text 42"/>
          <p:cNvSpPr/>
          <p:nvPr/>
        </p:nvSpPr>
        <p:spPr>
          <a:xfrm>
            <a:off x="4919472" y="2770632"/>
            <a:ext cx="3840480" cy="20116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PyTorch DDP  +  FP16 mixed precision</a:t>
            </a:r>
            <a:endParaRPr lang="en-US" sz="1000" dirty="0"/>
          </a:p>
        </p:txBody>
      </p:sp>
      <p:sp>
        <p:nvSpPr>
          <p:cNvPr id="45" name="Shape 43"/>
          <p:cNvSpPr/>
          <p:nvPr/>
        </p:nvSpPr>
        <p:spPr>
          <a:xfrm>
            <a:off x="4800600" y="3017520"/>
            <a:ext cx="45720" cy="164592"/>
          </a:xfrm>
          <a:prstGeom prst="rect">
            <a:avLst/>
          </a:prstGeom>
          <a:solidFill>
            <a:srgbClr val="3B82F6"/>
          </a:solidFill>
          <a:ln w="12700">
            <a:solidFill>
              <a:srgbClr val="3B82F6"/>
            </a:solidFill>
            <a:prstDash val="solid"/>
          </a:ln>
        </p:spPr>
      </p:sp>
      <p:sp>
        <p:nvSpPr>
          <p:cNvPr id="46" name="Text 44"/>
          <p:cNvSpPr/>
          <p:nvPr/>
        </p:nvSpPr>
        <p:spPr>
          <a:xfrm>
            <a:off x="4919472" y="3017520"/>
            <a:ext cx="3840480" cy="20116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Batch size 48/GPU  ·  AdamW optimizer</a:t>
            </a:r>
            <a:endParaRPr lang="en-US" sz="1000" dirty="0"/>
          </a:p>
        </p:txBody>
      </p:sp>
      <p:sp>
        <p:nvSpPr>
          <p:cNvPr id="47" name="Shape 45"/>
          <p:cNvSpPr/>
          <p:nvPr/>
        </p:nvSpPr>
        <p:spPr>
          <a:xfrm>
            <a:off x="4800600" y="3264408"/>
            <a:ext cx="45720" cy="164592"/>
          </a:xfrm>
          <a:prstGeom prst="rect">
            <a:avLst/>
          </a:prstGeom>
          <a:solidFill>
            <a:srgbClr val="3B82F6"/>
          </a:solidFill>
          <a:ln w="12700">
            <a:solidFill>
              <a:srgbClr val="3B82F6"/>
            </a:solidFill>
            <a:prstDash val="solid"/>
          </a:ln>
        </p:spPr>
      </p:sp>
      <p:sp>
        <p:nvSpPr>
          <p:cNvPr id="48" name="Text 46"/>
          <p:cNvSpPr/>
          <p:nvPr/>
        </p:nvSpPr>
        <p:spPr>
          <a:xfrm>
            <a:off x="4919472" y="3264408"/>
            <a:ext cx="3840480" cy="20116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12 epochs  +  checkpoint per epoch</a:t>
            </a:r>
            <a:endParaRPr lang="en-US" sz="1000" dirty="0"/>
          </a:p>
        </p:txBody>
      </p:sp>
      <p:sp>
        <p:nvSpPr>
          <p:cNvPr id="49" name="Shape 47"/>
          <p:cNvSpPr/>
          <p:nvPr/>
        </p:nvSpPr>
        <p:spPr>
          <a:xfrm>
            <a:off x="4663440" y="3621024"/>
            <a:ext cx="4206240" cy="804672"/>
          </a:xfrm>
          <a:prstGeom prst="rect">
            <a:avLst>
              <a:gd name="adj" fmla="val 6818"/>
            </a:avLst>
          </a:prstGeom>
          <a:solidFill>
            <a:srgbClr val="F0FDF4"/>
          </a:solidFill>
          <a:ln w="9525">
            <a:solidFill>
              <a:srgbClr val="16A34A"/>
            </a:solidFill>
            <a:prstDash val="solid"/>
          </a:ln>
        </p:spPr>
      </p:sp>
      <p:sp>
        <p:nvSpPr>
          <p:cNvPr id="50" name="Text 48"/>
          <p:cNvSpPr/>
          <p:nvPr/>
        </p:nvSpPr>
        <p:spPr>
          <a:xfrm>
            <a:off x="4800600" y="3675888"/>
            <a:ext cx="3931920" cy="237744"/>
          </a:xfrm>
          <a:prstGeom prst="rect">
            <a:avLst/>
          </a:prstGeom>
          <a:noFill/>
          <a:ln/>
        </p:spPr>
        <p:txBody>
          <a:bodyPr wrap="square" lIns="0" tIns="0" rIns="0" bIns="0"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Staged Training Strategy</a:t>
            </a:r>
            <a:endParaRPr lang="en-US" sz="1100" dirty="0"/>
          </a:p>
        </p:txBody>
      </p:sp>
      <p:sp>
        <p:nvSpPr>
          <p:cNvPr id="51" name="Text 49"/>
          <p:cNvSpPr/>
          <p:nvPr/>
        </p:nvSpPr>
        <p:spPr>
          <a:xfrm>
            <a:off x="4800600" y="3931920"/>
            <a:ext cx="3931920" cy="43891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3-task → 6-task → 8-task  (progressive checkpoint init)</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Each stage validates sampler + loss before expanding scope</a:t>
            </a:r>
            <a:endParaRPr lang="en-US" sz="950" dirty="0"/>
          </a:p>
        </p:txBody>
      </p:sp>
      <p:sp>
        <p:nvSpPr>
          <p:cNvPr id="52" name="Shape 50"/>
          <p:cNvSpPr/>
          <p:nvPr/>
        </p:nvSpPr>
        <p:spPr>
          <a:xfrm>
            <a:off x="320040" y="4526280"/>
            <a:ext cx="4114800" cy="384048"/>
          </a:xfrm>
          <a:prstGeom prst="rect">
            <a:avLst>
              <a:gd name="adj" fmla="val 14286"/>
            </a:avLst>
          </a:prstGeom>
          <a:solidFill>
            <a:srgbClr val="0D1B2A"/>
          </a:solidFill>
          <a:ln w="12700">
            <a:solidFill>
              <a:srgbClr val="0D1B2A"/>
            </a:solidFill>
            <a:prstDash val="solid"/>
          </a:ln>
        </p:spPr>
      </p:sp>
      <p:sp>
        <p:nvSpPr>
          <p:cNvPr id="53" name="Text 51"/>
          <p:cNvSpPr/>
          <p:nvPr/>
        </p:nvSpPr>
        <p:spPr>
          <a:xfrm>
            <a:off x="320040" y="4526280"/>
            <a:ext cx="4114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127,735 total test samples  across 8 tasks  ·  12 datasets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sp>
      <p:sp>
        <p:nvSpPr>
          <p:cNvPr id="3" name="Text 1"/>
          <p:cNvSpPr/>
          <p:nvPr/>
        </p:nvSpPr>
        <p:spPr>
          <a:xfrm>
            <a:off x="320040" y="0"/>
            <a:ext cx="685800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Baseline Verification — Released Checkpoint</a:t>
            </a:r>
            <a:endParaRPr lang="en-US" sz="1800" dirty="0"/>
          </a:p>
        </p:txBody>
      </p:sp>
      <p:sp>
        <p:nvSpPr>
          <p:cNvPr id="4" name="Text 2"/>
          <p:cNvSpPr/>
          <p:nvPr/>
        </p:nvSpPr>
        <p:spPr>
          <a:xfrm>
            <a:off x="7223760" y="0"/>
            <a:ext cx="1737360" cy="502920"/>
          </a:xfrm>
          <a:prstGeom prst="rect">
            <a:avLst/>
          </a:prstGeom>
          <a:noFill/>
          <a:ln/>
        </p:spPr>
        <p:txBody>
          <a:bodyPr wrap="square" lIns="0" tIns="0" rIns="0" bIns="0" rtlCol="0" anchor="ctr"/>
          <a:lstStyle/>
          <a:p>
            <a:pPr algn="r" indent="0" marL="0">
              <a:buNone/>
            </a:pPr>
            <a:r>
              <a:rPr lang="en-US" sz="900" dirty="0">
                <a:solidFill>
                  <a:srgbClr val="7DD3D2"/>
                </a:solidFill>
                <a:latin typeface="Calibri" pitchFamily="34" charset="0"/>
                <a:ea typeface="Calibri" pitchFamily="34" charset="-122"/>
                <a:cs typeface="Calibri" pitchFamily="34" charset="-120"/>
              </a:rPr>
              <a:t>Inference only · our evaluation</a:t>
            </a:r>
            <a:endParaRPr lang="en-US" sz="900" dirty="0"/>
          </a:p>
        </p:txBody>
      </p:sp>
      <p:sp>
        <p:nvSpPr>
          <p:cNvPr id="5" name="Shape 3"/>
          <p:cNvSpPr/>
          <p:nvPr/>
        </p:nvSpPr>
        <p:spPr>
          <a:xfrm>
            <a:off x="182880" y="566928"/>
            <a:ext cx="8778240" cy="301752"/>
          </a:xfrm>
          <a:prstGeom prst="rect">
            <a:avLst/>
          </a:prstGeom>
          <a:solidFill>
            <a:srgbClr val="0D1B2A"/>
          </a:solidFill>
          <a:ln w="12700">
            <a:solidFill>
              <a:srgbClr val="0D1B2A"/>
            </a:solidFill>
            <a:prstDash val="solid"/>
          </a:ln>
        </p:spPr>
      </p:sp>
      <p:sp>
        <p:nvSpPr>
          <p:cNvPr id="6" name="Text 4"/>
          <p:cNvSpPr/>
          <p:nvPr/>
        </p:nvSpPr>
        <p:spPr>
          <a:xfrm>
            <a:off x="182880" y="566928"/>
            <a:ext cx="100584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Task</a:t>
            </a:r>
            <a:endParaRPr lang="en-US" sz="900" dirty="0"/>
          </a:p>
        </p:txBody>
      </p:sp>
      <p:sp>
        <p:nvSpPr>
          <p:cNvPr id="7" name="Text 5"/>
          <p:cNvSpPr/>
          <p:nvPr/>
        </p:nvSpPr>
        <p:spPr>
          <a:xfrm>
            <a:off x="1234440" y="566928"/>
            <a:ext cx="141732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Dataset</a:t>
            </a:r>
            <a:endParaRPr lang="en-US" sz="900" dirty="0"/>
          </a:p>
        </p:txBody>
      </p:sp>
      <p:sp>
        <p:nvSpPr>
          <p:cNvPr id="8" name="Text 6"/>
          <p:cNvSpPr/>
          <p:nvPr/>
        </p:nvSpPr>
        <p:spPr>
          <a:xfrm>
            <a:off x="2697480" y="566928"/>
            <a:ext cx="82296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p>
        </p:txBody>
      </p:sp>
      <p:sp>
        <p:nvSpPr>
          <p:cNvPr id="9" name="Text 7"/>
          <p:cNvSpPr/>
          <p:nvPr/>
        </p:nvSpPr>
        <p:spPr>
          <a:xfrm>
            <a:off x="3566160" y="566928"/>
            <a:ext cx="109728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Paper Target</a:t>
            </a:r>
            <a:endParaRPr lang="en-US" sz="900" dirty="0"/>
          </a:p>
        </p:txBody>
      </p:sp>
      <p:sp>
        <p:nvSpPr>
          <p:cNvPr id="10" name="Text 8"/>
          <p:cNvSpPr/>
          <p:nvPr/>
        </p:nvSpPr>
        <p:spPr>
          <a:xfrm>
            <a:off x="4709160" y="566928"/>
            <a:ext cx="137160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Our Value (norm.)</a:t>
            </a:r>
            <a:endParaRPr lang="en-US" sz="900" dirty="0"/>
          </a:p>
        </p:txBody>
      </p:sp>
      <p:sp>
        <p:nvSpPr>
          <p:cNvPr id="11" name="Text 9"/>
          <p:cNvSpPr/>
          <p:nvPr/>
        </p:nvSpPr>
        <p:spPr>
          <a:xfrm>
            <a:off x="6126480" y="566928"/>
            <a:ext cx="105156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Gap</a:t>
            </a:r>
            <a:endParaRPr lang="en-US" sz="900" dirty="0"/>
          </a:p>
        </p:txBody>
      </p:sp>
      <p:sp>
        <p:nvSpPr>
          <p:cNvPr id="12" name="Text 10"/>
          <p:cNvSpPr/>
          <p:nvPr/>
        </p:nvSpPr>
        <p:spPr>
          <a:xfrm>
            <a:off x="7223760" y="566928"/>
            <a:ext cx="169164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p>
        </p:txBody>
      </p:sp>
      <p:sp>
        <p:nvSpPr>
          <p:cNvPr id="13" name="Shape 11"/>
          <p:cNvSpPr/>
          <p:nvPr/>
        </p:nvSpPr>
        <p:spPr>
          <a:xfrm>
            <a:off x="182880" y="896112"/>
            <a:ext cx="8778240" cy="301752"/>
          </a:xfrm>
          <a:prstGeom prst="rect">
            <a:avLst/>
          </a:prstGeom>
          <a:solidFill>
            <a:srgbClr val="FFFFFF"/>
          </a:solidFill>
          <a:ln w="5080">
            <a:solidFill>
              <a:srgbClr val="CBD5E1"/>
            </a:solidFill>
            <a:prstDash val="solid"/>
          </a:ln>
        </p:spPr>
      </p:sp>
      <p:sp>
        <p:nvSpPr>
          <p:cNvPr id="14" name="Text 12"/>
          <p:cNvSpPr/>
          <p:nvPr/>
        </p:nvSpPr>
        <p:spPr>
          <a:xfrm>
            <a:off x="182880" y="896112"/>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Segmentation</a:t>
            </a:r>
            <a:endParaRPr lang="en-US" sz="850" dirty="0"/>
          </a:p>
        </p:txBody>
      </p:sp>
      <p:sp>
        <p:nvSpPr>
          <p:cNvPr id="15" name="Text 13"/>
          <p:cNvSpPr/>
          <p:nvPr/>
        </p:nvSpPr>
        <p:spPr>
          <a:xfrm>
            <a:off x="1234440" y="896112"/>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CelebAMaskHQ (2K)</a:t>
            </a:r>
            <a:endParaRPr lang="en-US" sz="750" dirty="0"/>
          </a:p>
        </p:txBody>
      </p:sp>
      <p:sp>
        <p:nvSpPr>
          <p:cNvPr id="16" name="Text 14"/>
          <p:cNvSpPr/>
          <p:nvPr/>
        </p:nvSpPr>
        <p:spPr>
          <a:xfrm>
            <a:off x="2697480" y="896112"/>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F1</a:t>
            </a:r>
            <a:endParaRPr lang="en-US" sz="800" dirty="0"/>
          </a:p>
        </p:txBody>
      </p:sp>
      <p:sp>
        <p:nvSpPr>
          <p:cNvPr id="17" name="Text 15"/>
          <p:cNvSpPr/>
          <p:nvPr/>
        </p:nvSpPr>
        <p:spPr>
          <a:xfrm>
            <a:off x="3566160" y="896112"/>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92.01%</a:t>
            </a:r>
            <a:endParaRPr lang="en-US" sz="850" dirty="0"/>
          </a:p>
        </p:txBody>
      </p:sp>
      <p:sp>
        <p:nvSpPr>
          <p:cNvPr id="18" name="Text 16"/>
          <p:cNvSpPr/>
          <p:nvPr/>
        </p:nvSpPr>
        <p:spPr>
          <a:xfrm>
            <a:off x="4709160" y="896112"/>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23.70%</a:t>
            </a:r>
            <a:endParaRPr lang="en-US" sz="850" dirty="0"/>
          </a:p>
        </p:txBody>
      </p:sp>
      <p:sp>
        <p:nvSpPr>
          <p:cNvPr id="19" name="Text 17"/>
          <p:cNvSpPr/>
          <p:nvPr/>
        </p:nvSpPr>
        <p:spPr>
          <a:xfrm>
            <a:off x="6126480" y="896112"/>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−68.3pp</a:t>
            </a:r>
            <a:endParaRPr lang="en-US" sz="850" dirty="0"/>
          </a:p>
        </p:txBody>
      </p:sp>
      <p:sp>
        <p:nvSpPr>
          <p:cNvPr id="20" name="Shape 18"/>
          <p:cNvSpPr/>
          <p:nvPr/>
        </p:nvSpPr>
        <p:spPr>
          <a:xfrm>
            <a:off x="7269480" y="932688"/>
            <a:ext cx="1600200" cy="228600"/>
          </a:xfrm>
          <a:prstGeom prst="rect">
            <a:avLst>
              <a:gd name="adj" fmla="val 16000"/>
            </a:avLst>
          </a:prstGeom>
          <a:solidFill>
            <a:srgbClr val="D97706">
              <a:alpha val="18000"/>
            </a:srgbClr>
          </a:solidFill>
          <a:ln w="6350">
            <a:solidFill>
              <a:srgbClr val="D97706"/>
            </a:solidFill>
            <a:prstDash val="solid"/>
          </a:ln>
        </p:spPr>
      </p:sp>
      <p:sp>
        <p:nvSpPr>
          <p:cNvPr id="21" name="Text 19"/>
          <p:cNvSpPr/>
          <p:nvPr/>
        </p:nvSpPr>
        <p:spPr>
          <a:xfrm>
            <a:off x="7269480" y="932688"/>
            <a:ext cx="1600200" cy="228600"/>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UNIT BUG</a:t>
            </a:r>
            <a:endParaRPr lang="en-US" sz="750" dirty="0"/>
          </a:p>
        </p:txBody>
      </p:sp>
      <p:sp>
        <p:nvSpPr>
          <p:cNvPr id="22" name="Shape 20"/>
          <p:cNvSpPr/>
          <p:nvPr/>
        </p:nvSpPr>
        <p:spPr>
          <a:xfrm>
            <a:off x="182880" y="1197864"/>
            <a:ext cx="8778240" cy="301752"/>
          </a:xfrm>
          <a:prstGeom prst="rect">
            <a:avLst/>
          </a:prstGeom>
          <a:solidFill>
            <a:srgbClr val="F8FAFC"/>
          </a:solidFill>
          <a:ln w="5080">
            <a:solidFill>
              <a:srgbClr val="CBD5E1"/>
            </a:solidFill>
            <a:prstDash val="solid"/>
          </a:ln>
        </p:spPr>
      </p:sp>
      <p:sp>
        <p:nvSpPr>
          <p:cNvPr id="23" name="Text 21"/>
          <p:cNvSpPr/>
          <p:nvPr/>
        </p:nvSpPr>
        <p:spPr>
          <a:xfrm>
            <a:off x="182880" y="1197864"/>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Landmark</a:t>
            </a:r>
            <a:endParaRPr lang="en-US" sz="850" dirty="0"/>
          </a:p>
        </p:txBody>
      </p:sp>
      <p:sp>
        <p:nvSpPr>
          <p:cNvPr id="24" name="Text 22"/>
          <p:cNvSpPr/>
          <p:nvPr/>
        </p:nvSpPr>
        <p:spPr>
          <a:xfrm>
            <a:off x="1234440" y="1197864"/>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300W (53)</a:t>
            </a:r>
            <a:endParaRPr lang="en-US" sz="750" dirty="0"/>
          </a:p>
        </p:txBody>
      </p:sp>
      <p:sp>
        <p:nvSpPr>
          <p:cNvPr id="25" name="Text 23"/>
          <p:cNvSpPr/>
          <p:nvPr/>
        </p:nvSpPr>
        <p:spPr>
          <a:xfrm>
            <a:off x="2697480" y="1197864"/>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NME</a:t>
            </a:r>
            <a:endParaRPr lang="en-US" sz="800" dirty="0"/>
          </a:p>
        </p:txBody>
      </p:sp>
      <p:sp>
        <p:nvSpPr>
          <p:cNvPr id="26" name="Text 24"/>
          <p:cNvSpPr/>
          <p:nvPr/>
        </p:nvSpPr>
        <p:spPr>
          <a:xfrm>
            <a:off x="3566160" y="1197864"/>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4.67%</a:t>
            </a:r>
            <a:endParaRPr lang="en-US" sz="850" dirty="0"/>
          </a:p>
        </p:txBody>
      </p:sp>
      <p:sp>
        <p:nvSpPr>
          <p:cNvPr id="27" name="Text 25"/>
          <p:cNvSpPr/>
          <p:nvPr/>
        </p:nvSpPr>
        <p:spPr>
          <a:xfrm>
            <a:off x="4709160" y="1197864"/>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0.247%</a:t>
            </a:r>
            <a:endParaRPr lang="en-US" sz="850" dirty="0"/>
          </a:p>
        </p:txBody>
      </p:sp>
      <p:sp>
        <p:nvSpPr>
          <p:cNvPr id="28" name="Text 26"/>
          <p:cNvSpPr/>
          <p:nvPr/>
        </p:nvSpPr>
        <p:spPr>
          <a:xfrm>
            <a:off x="6126480" y="1197864"/>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−4.42pp</a:t>
            </a:r>
            <a:endParaRPr lang="en-US" sz="850" dirty="0"/>
          </a:p>
        </p:txBody>
      </p:sp>
      <p:sp>
        <p:nvSpPr>
          <p:cNvPr id="29" name="Shape 27"/>
          <p:cNvSpPr/>
          <p:nvPr/>
        </p:nvSpPr>
        <p:spPr>
          <a:xfrm>
            <a:off x="7269480" y="1234440"/>
            <a:ext cx="1600200" cy="228600"/>
          </a:xfrm>
          <a:prstGeom prst="rect">
            <a:avLst>
              <a:gd name="adj" fmla="val 16000"/>
            </a:avLst>
          </a:prstGeom>
          <a:solidFill>
            <a:srgbClr val="D97706">
              <a:alpha val="18000"/>
            </a:srgbClr>
          </a:solidFill>
          <a:ln w="6350">
            <a:solidFill>
              <a:srgbClr val="D97706"/>
            </a:solidFill>
            <a:prstDash val="solid"/>
          </a:ln>
        </p:spPr>
      </p:sp>
      <p:sp>
        <p:nvSpPr>
          <p:cNvPr id="30" name="Text 28"/>
          <p:cNvSpPr/>
          <p:nvPr/>
        </p:nvSpPr>
        <p:spPr>
          <a:xfrm>
            <a:off x="7269480" y="1234440"/>
            <a:ext cx="1600200" cy="228600"/>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UNIT BUG</a:t>
            </a:r>
            <a:endParaRPr lang="en-US" sz="750" dirty="0"/>
          </a:p>
        </p:txBody>
      </p:sp>
      <p:sp>
        <p:nvSpPr>
          <p:cNvPr id="31" name="Shape 29"/>
          <p:cNvSpPr/>
          <p:nvPr/>
        </p:nvSpPr>
        <p:spPr>
          <a:xfrm>
            <a:off x="182880" y="1499616"/>
            <a:ext cx="8778240" cy="301752"/>
          </a:xfrm>
          <a:prstGeom prst="rect">
            <a:avLst/>
          </a:prstGeom>
          <a:solidFill>
            <a:srgbClr val="FFFFFF"/>
          </a:solidFill>
          <a:ln w="5080">
            <a:solidFill>
              <a:srgbClr val="CBD5E1"/>
            </a:solidFill>
            <a:prstDash val="solid"/>
          </a:ln>
        </p:spPr>
      </p:sp>
      <p:sp>
        <p:nvSpPr>
          <p:cNvPr id="32" name="Text 30"/>
          <p:cNvSpPr/>
          <p:nvPr/>
        </p:nvSpPr>
        <p:spPr>
          <a:xfrm>
            <a:off x="182880" y="1499616"/>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Headpose</a:t>
            </a:r>
            <a:endParaRPr lang="en-US" sz="850" dirty="0"/>
          </a:p>
        </p:txBody>
      </p:sp>
      <p:sp>
        <p:nvSpPr>
          <p:cNvPr id="33" name="Text 31"/>
          <p:cNvSpPr/>
          <p:nvPr/>
        </p:nvSpPr>
        <p:spPr>
          <a:xfrm>
            <a:off x="1234440" y="1499616"/>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BIWI (15,678)</a:t>
            </a:r>
            <a:endParaRPr lang="en-US" sz="750" dirty="0"/>
          </a:p>
        </p:txBody>
      </p:sp>
      <p:sp>
        <p:nvSpPr>
          <p:cNvPr id="34" name="Text 32"/>
          <p:cNvSpPr/>
          <p:nvPr/>
        </p:nvSpPr>
        <p:spPr>
          <a:xfrm>
            <a:off x="2697480" y="1499616"/>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MAE (deg)</a:t>
            </a:r>
            <a:endParaRPr lang="en-US" sz="800" dirty="0"/>
          </a:p>
        </p:txBody>
      </p:sp>
      <p:sp>
        <p:nvSpPr>
          <p:cNvPr id="35" name="Text 33"/>
          <p:cNvSpPr/>
          <p:nvPr/>
        </p:nvSpPr>
        <p:spPr>
          <a:xfrm>
            <a:off x="3566160" y="1499616"/>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3.52°</a:t>
            </a:r>
            <a:endParaRPr lang="en-US" sz="850" dirty="0"/>
          </a:p>
        </p:txBody>
      </p:sp>
      <p:sp>
        <p:nvSpPr>
          <p:cNvPr id="36" name="Text 34"/>
          <p:cNvSpPr/>
          <p:nvPr/>
        </p:nvSpPr>
        <p:spPr>
          <a:xfrm>
            <a:off x="4709160" y="1499616"/>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20.65°</a:t>
            </a:r>
            <a:endParaRPr lang="en-US" sz="850" dirty="0"/>
          </a:p>
        </p:txBody>
      </p:sp>
      <p:sp>
        <p:nvSpPr>
          <p:cNvPr id="37" name="Text 35"/>
          <p:cNvSpPr/>
          <p:nvPr/>
        </p:nvSpPr>
        <p:spPr>
          <a:xfrm>
            <a:off x="6126480" y="1499616"/>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+17.1°</a:t>
            </a:r>
            <a:endParaRPr lang="en-US" sz="850" dirty="0"/>
          </a:p>
        </p:txBody>
      </p:sp>
      <p:sp>
        <p:nvSpPr>
          <p:cNvPr id="38" name="Shape 36"/>
          <p:cNvSpPr/>
          <p:nvPr/>
        </p:nvSpPr>
        <p:spPr>
          <a:xfrm>
            <a:off x="7269480" y="1536192"/>
            <a:ext cx="1600200" cy="228600"/>
          </a:xfrm>
          <a:prstGeom prst="rect">
            <a:avLst>
              <a:gd name="adj" fmla="val 16000"/>
            </a:avLst>
          </a:prstGeom>
          <a:solidFill>
            <a:srgbClr val="DC2626">
              <a:alpha val="18000"/>
            </a:srgbClr>
          </a:solidFill>
          <a:ln w="6350">
            <a:solidFill>
              <a:srgbClr val="DC2626"/>
            </a:solidFill>
            <a:prstDash val="solid"/>
          </a:ln>
        </p:spPr>
      </p:sp>
      <p:sp>
        <p:nvSpPr>
          <p:cNvPr id="39" name="Text 37"/>
          <p:cNvSpPr/>
          <p:nvPr/>
        </p:nvSpPr>
        <p:spPr>
          <a:xfrm>
            <a:off x="7269480" y="1536192"/>
            <a:ext cx="1600200" cy="228600"/>
          </a:xfrm>
          <a:prstGeom prst="rect">
            <a:avLst/>
          </a:prstGeom>
          <a:noFill/>
          <a:ln/>
        </p:spPr>
        <p:txBody>
          <a:bodyPr wrap="square" lIns="0" tIns="0" rIns="0" bIns="0" rtlCol="0" anchor="ctr"/>
          <a:lstStyle/>
          <a:p>
            <a:pPr algn="ctr" indent="0" marL="0">
              <a:buNone/>
            </a:pPr>
            <a:r>
              <a:rPr lang="en-US" sz="750" b="1" dirty="0">
                <a:solidFill>
                  <a:srgbClr val="DC2626"/>
                </a:solidFill>
                <a:latin typeface="Calibri" pitchFamily="34" charset="0"/>
                <a:ea typeface="Calibri" pitchFamily="34" charset="-122"/>
                <a:cs typeface="Calibri" pitchFamily="34" charset="-120"/>
              </a:rPr>
              <a:t>UNIT BUG</a:t>
            </a:r>
            <a:endParaRPr lang="en-US" sz="750" dirty="0"/>
          </a:p>
        </p:txBody>
      </p:sp>
      <p:sp>
        <p:nvSpPr>
          <p:cNvPr id="40" name="Shape 38"/>
          <p:cNvSpPr/>
          <p:nvPr/>
        </p:nvSpPr>
        <p:spPr>
          <a:xfrm>
            <a:off x="182880" y="1801368"/>
            <a:ext cx="8778240" cy="301752"/>
          </a:xfrm>
          <a:prstGeom prst="rect">
            <a:avLst/>
          </a:prstGeom>
          <a:solidFill>
            <a:srgbClr val="F8FAFC"/>
          </a:solidFill>
          <a:ln w="5080">
            <a:solidFill>
              <a:srgbClr val="CBD5E1"/>
            </a:solidFill>
            <a:prstDash val="solid"/>
          </a:ln>
        </p:spPr>
      </p:sp>
      <p:sp>
        <p:nvSpPr>
          <p:cNvPr id="41" name="Text 39"/>
          <p:cNvSpPr/>
          <p:nvPr/>
        </p:nvSpPr>
        <p:spPr>
          <a:xfrm>
            <a:off x="182880" y="1801368"/>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Attribute</a:t>
            </a:r>
            <a:endParaRPr lang="en-US" sz="850" dirty="0"/>
          </a:p>
        </p:txBody>
      </p:sp>
      <p:sp>
        <p:nvSpPr>
          <p:cNvPr id="42" name="Text 40"/>
          <p:cNvSpPr/>
          <p:nvPr/>
        </p:nvSpPr>
        <p:spPr>
          <a:xfrm>
            <a:off x="1234440" y="1801368"/>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CelebA (19,962)</a:t>
            </a:r>
            <a:endParaRPr lang="en-US" sz="750" dirty="0"/>
          </a:p>
        </p:txBody>
      </p:sp>
      <p:sp>
        <p:nvSpPr>
          <p:cNvPr id="43" name="Text 41"/>
          <p:cNvSpPr/>
          <p:nvPr/>
        </p:nvSpPr>
        <p:spPr>
          <a:xfrm>
            <a:off x="2697480" y="1801368"/>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a:t>
            </a:r>
            <a:endParaRPr lang="en-US" sz="800" dirty="0"/>
          </a:p>
        </p:txBody>
      </p:sp>
      <p:sp>
        <p:nvSpPr>
          <p:cNvPr id="44" name="Text 42"/>
          <p:cNvSpPr/>
          <p:nvPr/>
        </p:nvSpPr>
        <p:spPr>
          <a:xfrm>
            <a:off x="3566160" y="1801368"/>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91.83%</a:t>
            </a:r>
            <a:endParaRPr lang="en-US" sz="850" dirty="0"/>
          </a:p>
        </p:txBody>
      </p:sp>
      <p:sp>
        <p:nvSpPr>
          <p:cNvPr id="45" name="Text 43"/>
          <p:cNvSpPr/>
          <p:nvPr/>
        </p:nvSpPr>
        <p:spPr>
          <a:xfrm>
            <a:off x="4709160" y="1801368"/>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91.72%</a:t>
            </a:r>
            <a:endParaRPr lang="en-US" sz="850" dirty="0"/>
          </a:p>
        </p:txBody>
      </p:sp>
      <p:sp>
        <p:nvSpPr>
          <p:cNvPr id="46" name="Text 44"/>
          <p:cNvSpPr/>
          <p:nvPr/>
        </p:nvSpPr>
        <p:spPr>
          <a:xfrm>
            <a:off x="6126480" y="1801368"/>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−0.11pp</a:t>
            </a:r>
            <a:endParaRPr lang="en-US" sz="850" dirty="0"/>
          </a:p>
        </p:txBody>
      </p:sp>
      <p:sp>
        <p:nvSpPr>
          <p:cNvPr id="47" name="Shape 45"/>
          <p:cNvSpPr/>
          <p:nvPr/>
        </p:nvSpPr>
        <p:spPr>
          <a:xfrm>
            <a:off x="7269480" y="1837944"/>
            <a:ext cx="1600200" cy="228600"/>
          </a:xfrm>
          <a:prstGeom prst="rect">
            <a:avLst>
              <a:gd name="adj" fmla="val 16000"/>
            </a:avLst>
          </a:prstGeom>
          <a:solidFill>
            <a:srgbClr val="16A34A">
              <a:alpha val="18000"/>
            </a:srgbClr>
          </a:solidFill>
          <a:ln w="6350">
            <a:solidFill>
              <a:srgbClr val="16A34A"/>
            </a:solidFill>
            <a:prstDash val="solid"/>
          </a:ln>
        </p:spPr>
      </p:sp>
      <p:sp>
        <p:nvSpPr>
          <p:cNvPr id="48" name="Text 46"/>
          <p:cNvSpPr/>
          <p:nvPr/>
        </p:nvSpPr>
        <p:spPr>
          <a:xfrm>
            <a:off x="7269480" y="1837944"/>
            <a:ext cx="1600200" cy="228600"/>
          </a:xfrm>
          <a:prstGeom prst="rect">
            <a:avLst/>
          </a:prstGeom>
          <a:noFill/>
          <a:ln/>
        </p:spPr>
        <p:txBody>
          <a:bodyPr wrap="square" lIns="0" tIns="0" rIns="0" bIns="0" rtlCol="0" anchor="ctr"/>
          <a:lstStyle/>
          <a:p>
            <a:pPr algn="ctr" indent="0" marL="0">
              <a:buNone/>
            </a:pPr>
            <a:r>
              <a:rPr lang="en-US" sz="750" b="1" dirty="0">
                <a:solidFill>
                  <a:srgbClr val="16A34A"/>
                </a:solidFill>
                <a:latin typeface="Calibri" pitchFamily="34" charset="0"/>
                <a:ea typeface="Calibri" pitchFamily="34" charset="-122"/>
                <a:cs typeface="Calibri" pitchFamily="34" charset="-120"/>
              </a:rPr>
              <a:t>✓ MATCH</a:t>
            </a:r>
            <a:endParaRPr lang="en-US" sz="750" dirty="0"/>
          </a:p>
        </p:txBody>
      </p:sp>
      <p:sp>
        <p:nvSpPr>
          <p:cNvPr id="49" name="Shape 47"/>
          <p:cNvSpPr/>
          <p:nvPr/>
        </p:nvSpPr>
        <p:spPr>
          <a:xfrm>
            <a:off x="182880" y="2103120"/>
            <a:ext cx="8778240" cy="301752"/>
          </a:xfrm>
          <a:prstGeom prst="rect">
            <a:avLst/>
          </a:prstGeom>
          <a:solidFill>
            <a:srgbClr val="FFFFFF"/>
          </a:solidFill>
          <a:ln w="5080">
            <a:solidFill>
              <a:srgbClr val="CBD5E1"/>
            </a:solidFill>
            <a:prstDash val="solid"/>
          </a:ln>
        </p:spPr>
      </p:sp>
      <p:sp>
        <p:nvSpPr>
          <p:cNvPr id="50" name="Text 48"/>
          <p:cNvSpPr/>
          <p:nvPr/>
        </p:nvSpPr>
        <p:spPr>
          <a:xfrm>
            <a:off x="182880" y="2103120"/>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Attribute</a:t>
            </a:r>
            <a:endParaRPr lang="en-US" sz="850" dirty="0"/>
          </a:p>
        </p:txBody>
      </p:sp>
      <p:sp>
        <p:nvSpPr>
          <p:cNvPr id="51" name="Text 49"/>
          <p:cNvSpPr/>
          <p:nvPr/>
        </p:nvSpPr>
        <p:spPr>
          <a:xfrm>
            <a:off x="1234440" y="2103120"/>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LFWA (13,143)</a:t>
            </a:r>
            <a:endParaRPr lang="en-US" sz="750" dirty="0"/>
          </a:p>
        </p:txBody>
      </p:sp>
      <p:sp>
        <p:nvSpPr>
          <p:cNvPr id="52" name="Text 50"/>
          <p:cNvSpPr/>
          <p:nvPr/>
        </p:nvSpPr>
        <p:spPr>
          <a:xfrm>
            <a:off x="2697480" y="2103120"/>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a:t>
            </a:r>
            <a:endParaRPr lang="en-US" sz="800" dirty="0"/>
          </a:p>
        </p:txBody>
      </p:sp>
      <p:sp>
        <p:nvSpPr>
          <p:cNvPr id="53" name="Text 51"/>
          <p:cNvSpPr/>
          <p:nvPr/>
        </p:nvSpPr>
        <p:spPr>
          <a:xfrm>
            <a:off x="3566160" y="2103120"/>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91.83%</a:t>
            </a:r>
            <a:endParaRPr lang="en-US" sz="850" dirty="0"/>
          </a:p>
        </p:txBody>
      </p:sp>
      <p:sp>
        <p:nvSpPr>
          <p:cNvPr id="54" name="Text 52"/>
          <p:cNvSpPr/>
          <p:nvPr/>
        </p:nvSpPr>
        <p:spPr>
          <a:xfrm>
            <a:off x="4709160" y="2103120"/>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61.06%</a:t>
            </a:r>
            <a:endParaRPr lang="en-US" sz="850" dirty="0"/>
          </a:p>
        </p:txBody>
      </p:sp>
      <p:sp>
        <p:nvSpPr>
          <p:cNvPr id="55" name="Text 53"/>
          <p:cNvSpPr/>
          <p:nvPr/>
        </p:nvSpPr>
        <p:spPr>
          <a:xfrm>
            <a:off x="6126480" y="2103120"/>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−30.8pp</a:t>
            </a:r>
            <a:endParaRPr lang="en-US" sz="850" dirty="0"/>
          </a:p>
        </p:txBody>
      </p:sp>
      <p:sp>
        <p:nvSpPr>
          <p:cNvPr id="56" name="Shape 54"/>
          <p:cNvSpPr/>
          <p:nvPr/>
        </p:nvSpPr>
        <p:spPr>
          <a:xfrm>
            <a:off x="7269480" y="2139696"/>
            <a:ext cx="1600200" cy="228600"/>
          </a:xfrm>
          <a:prstGeom prst="rect">
            <a:avLst>
              <a:gd name="adj" fmla="val 16000"/>
            </a:avLst>
          </a:prstGeom>
          <a:solidFill>
            <a:srgbClr val="D97706">
              <a:alpha val="18000"/>
            </a:srgbClr>
          </a:solidFill>
          <a:ln w="6350">
            <a:solidFill>
              <a:srgbClr val="D97706"/>
            </a:solidFill>
            <a:prstDash val="solid"/>
          </a:ln>
        </p:spPr>
      </p:sp>
      <p:sp>
        <p:nvSpPr>
          <p:cNvPr id="57" name="Text 55"/>
          <p:cNvSpPr/>
          <p:nvPr/>
        </p:nvSpPr>
        <p:spPr>
          <a:xfrm>
            <a:off x="7269480" y="2139696"/>
            <a:ext cx="1600200" cy="228600"/>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CROSS-DS</a:t>
            </a:r>
            <a:endParaRPr lang="en-US" sz="750" dirty="0"/>
          </a:p>
        </p:txBody>
      </p:sp>
      <p:sp>
        <p:nvSpPr>
          <p:cNvPr id="58" name="Shape 56"/>
          <p:cNvSpPr/>
          <p:nvPr/>
        </p:nvSpPr>
        <p:spPr>
          <a:xfrm>
            <a:off x="182880" y="2404872"/>
            <a:ext cx="8778240" cy="301752"/>
          </a:xfrm>
          <a:prstGeom prst="rect">
            <a:avLst/>
          </a:prstGeom>
          <a:solidFill>
            <a:srgbClr val="F8FAFC"/>
          </a:solidFill>
          <a:ln w="5080">
            <a:solidFill>
              <a:srgbClr val="CBD5E1"/>
            </a:solidFill>
            <a:prstDash val="solid"/>
          </a:ln>
        </p:spPr>
      </p:sp>
      <p:sp>
        <p:nvSpPr>
          <p:cNvPr id="59" name="Text 57"/>
          <p:cNvSpPr/>
          <p:nvPr/>
        </p:nvSpPr>
        <p:spPr>
          <a:xfrm>
            <a:off x="182880" y="2404872"/>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Age</a:t>
            </a:r>
            <a:endParaRPr lang="en-US" sz="850" dirty="0"/>
          </a:p>
        </p:txBody>
      </p:sp>
      <p:sp>
        <p:nvSpPr>
          <p:cNvPr id="60" name="Text 58"/>
          <p:cNvSpPr/>
          <p:nvPr/>
        </p:nvSpPr>
        <p:spPr>
          <a:xfrm>
            <a:off x="1234440" y="2404872"/>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UTKFace (3,556)</a:t>
            </a:r>
            <a:endParaRPr lang="en-US" sz="750" dirty="0"/>
          </a:p>
        </p:txBody>
      </p:sp>
      <p:sp>
        <p:nvSpPr>
          <p:cNvPr id="61" name="Text 59"/>
          <p:cNvSpPr/>
          <p:nvPr/>
        </p:nvSpPr>
        <p:spPr>
          <a:xfrm>
            <a:off x="2697480" y="2404872"/>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MAE (yrs)</a:t>
            </a:r>
            <a:endParaRPr lang="en-US" sz="800" dirty="0"/>
          </a:p>
        </p:txBody>
      </p:sp>
      <p:sp>
        <p:nvSpPr>
          <p:cNvPr id="62" name="Text 60"/>
          <p:cNvSpPr/>
          <p:nvPr/>
        </p:nvSpPr>
        <p:spPr>
          <a:xfrm>
            <a:off x="3566160" y="2404872"/>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4.17 yr</a:t>
            </a:r>
            <a:endParaRPr lang="en-US" sz="850" dirty="0"/>
          </a:p>
        </p:txBody>
      </p:sp>
      <p:sp>
        <p:nvSpPr>
          <p:cNvPr id="63" name="Text 61"/>
          <p:cNvSpPr/>
          <p:nvPr/>
        </p:nvSpPr>
        <p:spPr>
          <a:xfrm>
            <a:off x="4709160" y="2404872"/>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47.87 yr</a:t>
            </a:r>
            <a:endParaRPr lang="en-US" sz="850" dirty="0"/>
          </a:p>
        </p:txBody>
      </p:sp>
      <p:sp>
        <p:nvSpPr>
          <p:cNvPr id="64" name="Text 62"/>
          <p:cNvSpPr/>
          <p:nvPr/>
        </p:nvSpPr>
        <p:spPr>
          <a:xfrm>
            <a:off x="6126480" y="2404872"/>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+43.7yr</a:t>
            </a:r>
            <a:endParaRPr lang="en-US" sz="850" dirty="0"/>
          </a:p>
        </p:txBody>
      </p:sp>
      <p:sp>
        <p:nvSpPr>
          <p:cNvPr id="65" name="Shape 63"/>
          <p:cNvSpPr/>
          <p:nvPr/>
        </p:nvSpPr>
        <p:spPr>
          <a:xfrm>
            <a:off x="7269480" y="2441448"/>
            <a:ext cx="1600200" cy="228600"/>
          </a:xfrm>
          <a:prstGeom prst="rect">
            <a:avLst>
              <a:gd name="adj" fmla="val 16000"/>
            </a:avLst>
          </a:prstGeom>
          <a:solidFill>
            <a:srgbClr val="DC2626">
              <a:alpha val="18000"/>
            </a:srgbClr>
          </a:solidFill>
          <a:ln w="6350">
            <a:solidFill>
              <a:srgbClr val="DC2626"/>
            </a:solidFill>
            <a:prstDash val="solid"/>
          </a:ln>
        </p:spPr>
      </p:sp>
      <p:sp>
        <p:nvSpPr>
          <p:cNvPr id="66" name="Text 64"/>
          <p:cNvSpPr/>
          <p:nvPr/>
        </p:nvSpPr>
        <p:spPr>
          <a:xfrm>
            <a:off x="7269480" y="2441448"/>
            <a:ext cx="1600200" cy="228600"/>
          </a:xfrm>
          <a:prstGeom prst="rect">
            <a:avLst/>
          </a:prstGeom>
          <a:noFill/>
          <a:ln/>
        </p:spPr>
        <p:txBody>
          <a:bodyPr wrap="square" lIns="0" tIns="0" rIns="0" bIns="0" rtlCol="0" anchor="ctr"/>
          <a:lstStyle/>
          <a:p>
            <a:pPr algn="ctr" indent="0" marL="0">
              <a:buNone/>
            </a:pPr>
            <a:r>
              <a:rPr lang="en-US" sz="750" b="1" dirty="0">
                <a:solidFill>
                  <a:srgbClr val="DC2626"/>
                </a:solidFill>
                <a:latin typeface="Calibri" pitchFamily="34" charset="0"/>
                <a:ea typeface="Calibri" pitchFamily="34" charset="-122"/>
                <a:cs typeface="Calibri" pitchFamily="34" charset="-120"/>
              </a:rPr>
              <a:t>SEVERE</a:t>
            </a:r>
            <a:endParaRPr lang="en-US" sz="750" dirty="0"/>
          </a:p>
        </p:txBody>
      </p:sp>
      <p:sp>
        <p:nvSpPr>
          <p:cNvPr id="67" name="Shape 65"/>
          <p:cNvSpPr/>
          <p:nvPr/>
        </p:nvSpPr>
        <p:spPr>
          <a:xfrm>
            <a:off x="182880" y="2706624"/>
            <a:ext cx="8778240" cy="301752"/>
          </a:xfrm>
          <a:prstGeom prst="rect">
            <a:avLst/>
          </a:prstGeom>
          <a:solidFill>
            <a:srgbClr val="FFFFFF"/>
          </a:solidFill>
          <a:ln w="5080">
            <a:solidFill>
              <a:srgbClr val="CBD5E1"/>
            </a:solidFill>
            <a:prstDash val="solid"/>
          </a:ln>
        </p:spPr>
      </p:sp>
      <p:sp>
        <p:nvSpPr>
          <p:cNvPr id="68" name="Text 66"/>
          <p:cNvSpPr/>
          <p:nvPr/>
        </p:nvSpPr>
        <p:spPr>
          <a:xfrm>
            <a:off x="182880" y="2706624"/>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Age</a:t>
            </a:r>
            <a:endParaRPr lang="en-US" sz="850" dirty="0"/>
          </a:p>
        </p:txBody>
      </p:sp>
      <p:sp>
        <p:nvSpPr>
          <p:cNvPr id="69" name="Text 67"/>
          <p:cNvSpPr/>
          <p:nvPr/>
        </p:nvSpPr>
        <p:spPr>
          <a:xfrm>
            <a:off x="1234440" y="2706624"/>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FairFace (21,908)</a:t>
            </a:r>
            <a:endParaRPr lang="en-US" sz="750" dirty="0"/>
          </a:p>
        </p:txBody>
      </p:sp>
      <p:sp>
        <p:nvSpPr>
          <p:cNvPr id="70" name="Text 68"/>
          <p:cNvSpPr/>
          <p:nvPr/>
        </p:nvSpPr>
        <p:spPr>
          <a:xfrm>
            <a:off x="2697480" y="2706624"/>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MAE (yrs)</a:t>
            </a:r>
            <a:endParaRPr lang="en-US" sz="800" dirty="0"/>
          </a:p>
        </p:txBody>
      </p:sp>
      <p:sp>
        <p:nvSpPr>
          <p:cNvPr id="71" name="Text 69"/>
          <p:cNvSpPr/>
          <p:nvPr/>
        </p:nvSpPr>
        <p:spPr>
          <a:xfrm>
            <a:off x="3566160" y="2706624"/>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4.17 yr</a:t>
            </a:r>
            <a:endParaRPr lang="en-US" sz="850" dirty="0"/>
          </a:p>
        </p:txBody>
      </p:sp>
      <p:sp>
        <p:nvSpPr>
          <p:cNvPr id="72" name="Text 70"/>
          <p:cNvSpPr/>
          <p:nvPr/>
        </p:nvSpPr>
        <p:spPr>
          <a:xfrm>
            <a:off x="4709160" y="2706624"/>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24.36 yr</a:t>
            </a:r>
            <a:endParaRPr lang="en-US" sz="850" dirty="0"/>
          </a:p>
        </p:txBody>
      </p:sp>
      <p:sp>
        <p:nvSpPr>
          <p:cNvPr id="73" name="Text 71"/>
          <p:cNvSpPr/>
          <p:nvPr/>
        </p:nvSpPr>
        <p:spPr>
          <a:xfrm>
            <a:off x="6126480" y="2706624"/>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+20.2yr</a:t>
            </a:r>
            <a:endParaRPr lang="en-US" sz="850" dirty="0"/>
          </a:p>
        </p:txBody>
      </p:sp>
      <p:sp>
        <p:nvSpPr>
          <p:cNvPr id="74" name="Shape 72"/>
          <p:cNvSpPr/>
          <p:nvPr/>
        </p:nvSpPr>
        <p:spPr>
          <a:xfrm>
            <a:off x="7269480" y="2743200"/>
            <a:ext cx="1600200" cy="228600"/>
          </a:xfrm>
          <a:prstGeom prst="rect">
            <a:avLst>
              <a:gd name="adj" fmla="val 16000"/>
            </a:avLst>
          </a:prstGeom>
          <a:solidFill>
            <a:srgbClr val="DC2626">
              <a:alpha val="18000"/>
            </a:srgbClr>
          </a:solidFill>
          <a:ln w="6350">
            <a:solidFill>
              <a:srgbClr val="DC2626"/>
            </a:solidFill>
            <a:prstDash val="solid"/>
          </a:ln>
        </p:spPr>
      </p:sp>
      <p:sp>
        <p:nvSpPr>
          <p:cNvPr id="75" name="Text 73"/>
          <p:cNvSpPr/>
          <p:nvPr/>
        </p:nvSpPr>
        <p:spPr>
          <a:xfrm>
            <a:off x="7269480" y="2743200"/>
            <a:ext cx="1600200" cy="228600"/>
          </a:xfrm>
          <a:prstGeom prst="rect">
            <a:avLst/>
          </a:prstGeom>
          <a:noFill/>
          <a:ln/>
        </p:spPr>
        <p:txBody>
          <a:bodyPr wrap="square" lIns="0" tIns="0" rIns="0" bIns="0" rtlCol="0" anchor="ctr"/>
          <a:lstStyle/>
          <a:p>
            <a:pPr algn="ctr" indent="0" marL="0">
              <a:buNone/>
            </a:pPr>
            <a:r>
              <a:rPr lang="en-US" sz="750" b="1" dirty="0">
                <a:solidFill>
                  <a:srgbClr val="DC2626"/>
                </a:solidFill>
                <a:latin typeface="Calibri" pitchFamily="34" charset="0"/>
                <a:ea typeface="Calibri" pitchFamily="34" charset="-122"/>
                <a:cs typeface="Calibri" pitchFamily="34" charset="-120"/>
              </a:rPr>
              <a:t>SEVERE</a:t>
            </a:r>
            <a:endParaRPr lang="en-US" sz="750" dirty="0"/>
          </a:p>
        </p:txBody>
      </p:sp>
      <p:sp>
        <p:nvSpPr>
          <p:cNvPr id="76" name="Shape 74"/>
          <p:cNvSpPr/>
          <p:nvPr/>
        </p:nvSpPr>
        <p:spPr>
          <a:xfrm>
            <a:off x="182880" y="3008376"/>
            <a:ext cx="8778240" cy="301752"/>
          </a:xfrm>
          <a:prstGeom prst="rect">
            <a:avLst/>
          </a:prstGeom>
          <a:solidFill>
            <a:srgbClr val="F8FAFC"/>
          </a:solidFill>
          <a:ln w="5080">
            <a:solidFill>
              <a:srgbClr val="CBD5E1"/>
            </a:solidFill>
            <a:prstDash val="solid"/>
          </a:ln>
        </p:spPr>
      </p:sp>
      <p:sp>
        <p:nvSpPr>
          <p:cNvPr id="77" name="Text 75"/>
          <p:cNvSpPr/>
          <p:nvPr/>
        </p:nvSpPr>
        <p:spPr>
          <a:xfrm>
            <a:off x="182880" y="3008376"/>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Gender</a:t>
            </a:r>
            <a:endParaRPr lang="en-US" sz="850" dirty="0"/>
          </a:p>
        </p:txBody>
      </p:sp>
      <p:sp>
        <p:nvSpPr>
          <p:cNvPr id="78" name="Text 76"/>
          <p:cNvSpPr/>
          <p:nvPr/>
        </p:nvSpPr>
        <p:spPr>
          <a:xfrm>
            <a:off x="1234440" y="3008376"/>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UTKFace (3,556)</a:t>
            </a:r>
            <a:endParaRPr lang="en-US" sz="750" dirty="0"/>
          </a:p>
        </p:txBody>
      </p:sp>
      <p:sp>
        <p:nvSpPr>
          <p:cNvPr id="79" name="Text 77"/>
          <p:cNvSpPr/>
          <p:nvPr/>
        </p:nvSpPr>
        <p:spPr>
          <a:xfrm>
            <a:off x="2697480" y="3008376"/>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a:t>
            </a:r>
            <a:endParaRPr lang="en-US" sz="800" dirty="0"/>
          </a:p>
        </p:txBody>
      </p:sp>
      <p:sp>
        <p:nvSpPr>
          <p:cNvPr id="80" name="Text 78"/>
          <p:cNvSpPr/>
          <p:nvPr/>
        </p:nvSpPr>
        <p:spPr>
          <a:xfrm>
            <a:off x="3566160" y="3008376"/>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a:t>
            </a:r>
            <a:endParaRPr lang="en-US" sz="850" dirty="0"/>
          </a:p>
        </p:txBody>
      </p:sp>
      <p:sp>
        <p:nvSpPr>
          <p:cNvPr id="81" name="Text 79"/>
          <p:cNvSpPr/>
          <p:nvPr/>
        </p:nvSpPr>
        <p:spPr>
          <a:xfrm>
            <a:off x="4709160" y="3008376"/>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99.18%</a:t>
            </a:r>
            <a:endParaRPr lang="en-US" sz="850" dirty="0"/>
          </a:p>
        </p:txBody>
      </p:sp>
      <p:sp>
        <p:nvSpPr>
          <p:cNvPr id="82" name="Text 80"/>
          <p:cNvSpPr/>
          <p:nvPr/>
        </p:nvSpPr>
        <p:spPr>
          <a:xfrm>
            <a:off x="6126480" y="3008376"/>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83" name="Shape 81"/>
          <p:cNvSpPr/>
          <p:nvPr/>
        </p:nvSpPr>
        <p:spPr>
          <a:xfrm>
            <a:off x="7269480" y="3044952"/>
            <a:ext cx="1600200" cy="228600"/>
          </a:xfrm>
          <a:prstGeom prst="rect">
            <a:avLst>
              <a:gd name="adj" fmla="val 16000"/>
            </a:avLst>
          </a:prstGeom>
          <a:solidFill>
            <a:srgbClr val="64748B">
              <a:alpha val="18000"/>
            </a:srgbClr>
          </a:solidFill>
          <a:ln w="6350">
            <a:solidFill>
              <a:srgbClr val="64748B"/>
            </a:solidFill>
            <a:prstDash val="solid"/>
          </a:ln>
        </p:spPr>
      </p:sp>
      <p:sp>
        <p:nvSpPr>
          <p:cNvPr id="84" name="Text 82"/>
          <p:cNvSpPr/>
          <p:nvPr/>
        </p:nvSpPr>
        <p:spPr>
          <a:xfrm>
            <a:off x="7269480" y="3044952"/>
            <a:ext cx="1600200" cy="228600"/>
          </a:xfrm>
          <a:prstGeom prst="rect">
            <a:avLst/>
          </a:prstGeom>
          <a:noFill/>
          <a:ln/>
        </p:spPr>
        <p:txBody>
          <a:bodyPr wrap="square" lIns="0" tIns="0" rIns="0" bIns="0" rtlCol="0" anchor="ctr"/>
          <a:lstStyle/>
          <a:p>
            <a:pPr algn="ctr" indent="0" marL="0">
              <a:buNone/>
            </a:pPr>
            <a:r>
              <a:rPr lang="en-US" sz="750" b="1" dirty="0">
                <a:solidFill>
                  <a:srgbClr val="64748B"/>
                </a:solidFill>
                <a:latin typeface="Calibri" pitchFamily="34" charset="0"/>
                <a:ea typeface="Calibri" pitchFamily="34" charset="-122"/>
                <a:cs typeface="Calibri" pitchFamily="34" charset="-120"/>
              </a:rPr>
              <a:t>NO TARGET</a:t>
            </a:r>
            <a:endParaRPr lang="en-US" sz="750" dirty="0"/>
          </a:p>
        </p:txBody>
      </p:sp>
      <p:sp>
        <p:nvSpPr>
          <p:cNvPr id="85" name="Shape 83"/>
          <p:cNvSpPr/>
          <p:nvPr/>
        </p:nvSpPr>
        <p:spPr>
          <a:xfrm>
            <a:off x="182880" y="3310128"/>
            <a:ext cx="8778240" cy="301752"/>
          </a:xfrm>
          <a:prstGeom prst="rect">
            <a:avLst/>
          </a:prstGeom>
          <a:solidFill>
            <a:srgbClr val="FFFFFF"/>
          </a:solidFill>
          <a:ln w="5080">
            <a:solidFill>
              <a:srgbClr val="CBD5E1"/>
            </a:solidFill>
            <a:prstDash val="solid"/>
          </a:ln>
        </p:spPr>
      </p:sp>
      <p:sp>
        <p:nvSpPr>
          <p:cNvPr id="86" name="Text 84"/>
          <p:cNvSpPr/>
          <p:nvPr/>
        </p:nvSpPr>
        <p:spPr>
          <a:xfrm>
            <a:off x="182880" y="3310128"/>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Gender</a:t>
            </a:r>
            <a:endParaRPr lang="en-US" sz="850" dirty="0"/>
          </a:p>
        </p:txBody>
      </p:sp>
      <p:sp>
        <p:nvSpPr>
          <p:cNvPr id="87" name="Text 85"/>
          <p:cNvSpPr/>
          <p:nvPr/>
        </p:nvSpPr>
        <p:spPr>
          <a:xfrm>
            <a:off x="1234440" y="3310128"/>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FairFace (21,908)</a:t>
            </a:r>
            <a:endParaRPr lang="en-US" sz="750" dirty="0"/>
          </a:p>
        </p:txBody>
      </p:sp>
      <p:sp>
        <p:nvSpPr>
          <p:cNvPr id="88" name="Text 86"/>
          <p:cNvSpPr/>
          <p:nvPr/>
        </p:nvSpPr>
        <p:spPr>
          <a:xfrm>
            <a:off x="2697480" y="3310128"/>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a:t>
            </a:r>
            <a:endParaRPr lang="en-US" sz="800" dirty="0"/>
          </a:p>
        </p:txBody>
      </p:sp>
      <p:sp>
        <p:nvSpPr>
          <p:cNvPr id="89" name="Text 87"/>
          <p:cNvSpPr/>
          <p:nvPr/>
        </p:nvSpPr>
        <p:spPr>
          <a:xfrm>
            <a:off x="3566160" y="3310128"/>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a:t>
            </a:r>
            <a:endParaRPr lang="en-US" sz="850" dirty="0"/>
          </a:p>
        </p:txBody>
      </p:sp>
      <p:sp>
        <p:nvSpPr>
          <p:cNvPr id="90" name="Text 88"/>
          <p:cNvSpPr/>
          <p:nvPr/>
        </p:nvSpPr>
        <p:spPr>
          <a:xfrm>
            <a:off x="4709160" y="3310128"/>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53.30%</a:t>
            </a:r>
            <a:endParaRPr lang="en-US" sz="850" dirty="0"/>
          </a:p>
        </p:txBody>
      </p:sp>
      <p:sp>
        <p:nvSpPr>
          <p:cNvPr id="91" name="Text 89"/>
          <p:cNvSpPr/>
          <p:nvPr/>
        </p:nvSpPr>
        <p:spPr>
          <a:xfrm>
            <a:off x="6126480" y="3310128"/>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92" name="Shape 90"/>
          <p:cNvSpPr/>
          <p:nvPr/>
        </p:nvSpPr>
        <p:spPr>
          <a:xfrm>
            <a:off x="7269480" y="3346704"/>
            <a:ext cx="1600200" cy="228600"/>
          </a:xfrm>
          <a:prstGeom prst="rect">
            <a:avLst>
              <a:gd name="adj" fmla="val 16000"/>
            </a:avLst>
          </a:prstGeom>
          <a:solidFill>
            <a:srgbClr val="64748B">
              <a:alpha val="18000"/>
            </a:srgbClr>
          </a:solidFill>
          <a:ln w="6350">
            <a:solidFill>
              <a:srgbClr val="64748B"/>
            </a:solidFill>
            <a:prstDash val="solid"/>
          </a:ln>
        </p:spPr>
      </p:sp>
      <p:sp>
        <p:nvSpPr>
          <p:cNvPr id="93" name="Text 91"/>
          <p:cNvSpPr/>
          <p:nvPr/>
        </p:nvSpPr>
        <p:spPr>
          <a:xfrm>
            <a:off x="7269480" y="3346704"/>
            <a:ext cx="1600200" cy="228600"/>
          </a:xfrm>
          <a:prstGeom prst="rect">
            <a:avLst/>
          </a:prstGeom>
          <a:noFill/>
          <a:ln/>
        </p:spPr>
        <p:txBody>
          <a:bodyPr wrap="square" lIns="0" tIns="0" rIns="0" bIns="0" rtlCol="0" anchor="ctr"/>
          <a:lstStyle/>
          <a:p>
            <a:pPr algn="ctr" indent="0" marL="0">
              <a:buNone/>
            </a:pPr>
            <a:r>
              <a:rPr lang="en-US" sz="750" b="1" dirty="0">
                <a:solidFill>
                  <a:srgbClr val="64748B"/>
                </a:solidFill>
                <a:latin typeface="Calibri" pitchFamily="34" charset="0"/>
                <a:ea typeface="Calibri" pitchFamily="34" charset="-122"/>
                <a:cs typeface="Calibri" pitchFamily="34" charset="-120"/>
              </a:rPr>
              <a:t>NO TARGET</a:t>
            </a:r>
            <a:endParaRPr lang="en-US" sz="750" dirty="0"/>
          </a:p>
        </p:txBody>
      </p:sp>
      <p:sp>
        <p:nvSpPr>
          <p:cNvPr id="94" name="Shape 92"/>
          <p:cNvSpPr/>
          <p:nvPr/>
        </p:nvSpPr>
        <p:spPr>
          <a:xfrm>
            <a:off x="182880" y="3611880"/>
            <a:ext cx="8778240" cy="301752"/>
          </a:xfrm>
          <a:prstGeom prst="rect">
            <a:avLst/>
          </a:prstGeom>
          <a:solidFill>
            <a:srgbClr val="F8FAFC"/>
          </a:solidFill>
          <a:ln w="5080">
            <a:solidFill>
              <a:srgbClr val="CBD5E1"/>
            </a:solidFill>
            <a:prstDash val="solid"/>
          </a:ln>
        </p:spPr>
      </p:sp>
      <p:sp>
        <p:nvSpPr>
          <p:cNvPr id="95" name="Text 93"/>
          <p:cNvSpPr/>
          <p:nvPr/>
        </p:nvSpPr>
        <p:spPr>
          <a:xfrm>
            <a:off x="182880" y="3611880"/>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Race</a:t>
            </a:r>
            <a:endParaRPr lang="en-US" sz="850" dirty="0"/>
          </a:p>
        </p:txBody>
      </p:sp>
      <p:sp>
        <p:nvSpPr>
          <p:cNvPr id="96" name="Text 94"/>
          <p:cNvSpPr/>
          <p:nvPr/>
        </p:nvSpPr>
        <p:spPr>
          <a:xfrm>
            <a:off x="1234440" y="3611880"/>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UTKFace (3,556)</a:t>
            </a:r>
            <a:endParaRPr lang="en-US" sz="750" dirty="0"/>
          </a:p>
        </p:txBody>
      </p:sp>
      <p:sp>
        <p:nvSpPr>
          <p:cNvPr id="97" name="Text 95"/>
          <p:cNvSpPr/>
          <p:nvPr/>
        </p:nvSpPr>
        <p:spPr>
          <a:xfrm>
            <a:off x="2697480" y="3611880"/>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a:t>
            </a:r>
            <a:endParaRPr lang="en-US" sz="800" dirty="0"/>
          </a:p>
        </p:txBody>
      </p:sp>
      <p:sp>
        <p:nvSpPr>
          <p:cNvPr id="98" name="Text 96"/>
          <p:cNvSpPr/>
          <p:nvPr/>
        </p:nvSpPr>
        <p:spPr>
          <a:xfrm>
            <a:off x="3566160" y="3611880"/>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a:t>
            </a:r>
            <a:endParaRPr lang="en-US" sz="850" dirty="0"/>
          </a:p>
        </p:txBody>
      </p:sp>
      <p:sp>
        <p:nvSpPr>
          <p:cNvPr id="99" name="Text 97"/>
          <p:cNvSpPr/>
          <p:nvPr/>
        </p:nvSpPr>
        <p:spPr>
          <a:xfrm>
            <a:off x="4709160" y="3611880"/>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98.03%</a:t>
            </a:r>
            <a:endParaRPr lang="en-US" sz="850" dirty="0"/>
          </a:p>
        </p:txBody>
      </p:sp>
      <p:sp>
        <p:nvSpPr>
          <p:cNvPr id="100" name="Text 98"/>
          <p:cNvSpPr/>
          <p:nvPr/>
        </p:nvSpPr>
        <p:spPr>
          <a:xfrm>
            <a:off x="6126480" y="3611880"/>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101" name="Shape 99"/>
          <p:cNvSpPr/>
          <p:nvPr/>
        </p:nvSpPr>
        <p:spPr>
          <a:xfrm>
            <a:off x="7269480" y="3648456"/>
            <a:ext cx="1600200" cy="228600"/>
          </a:xfrm>
          <a:prstGeom prst="rect">
            <a:avLst>
              <a:gd name="adj" fmla="val 16000"/>
            </a:avLst>
          </a:prstGeom>
          <a:solidFill>
            <a:srgbClr val="64748B">
              <a:alpha val="18000"/>
            </a:srgbClr>
          </a:solidFill>
          <a:ln w="6350">
            <a:solidFill>
              <a:srgbClr val="64748B"/>
            </a:solidFill>
            <a:prstDash val="solid"/>
          </a:ln>
        </p:spPr>
      </p:sp>
      <p:sp>
        <p:nvSpPr>
          <p:cNvPr id="102" name="Text 100"/>
          <p:cNvSpPr/>
          <p:nvPr/>
        </p:nvSpPr>
        <p:spPr>
          <a:xfrm>
            <a:off x="7269480" y="3648456"/>
            <a:ext cx="1600200" cy="228600"/>
          </a:xfrm>
          <a:prstGeom prst="rect">
            <a:avLst/>
          </a:prstGeom>
          <a:noFill/>
          <a:ln/>
        </p:spPr>
        <p:txBody>
          <a:bodyPr wrap="square" lIns="0" tIns="0" rIns="0" bIns="0" rtlCol="0" anchor="ctr"/>
          <a:lstStyle/>
          <a:p>
            <a:pPr algn="ctr" indent="0" marL="0">
              <a:buNone/>
            </a:pPr>
            <a:r>
              <a:rPr lang="en-US" sz="750" b="1" dirty="0">
                <a:solidFill>
                  <a:srgbClr val="64748B"/>
                </a:solidFill>
                <a:latin typeface="Calibri" pitchFamily="34" charset="0"/>
                <a:ea typeface="Calibri" pitchFamily="34" charset="-122"/>
                <a:cs typeface="Calibri" pitchFamily="34" charset="-120"/>
              </a:rPr>
              <a:t>NO TARGET</a:t>
            </a:r>
            <a:endParaRPr lang="en-US" sz="750" dirty="0"/>
          </a:p>
        </p:txBody>
      </p:sp>
      <p:sp>
        <p:nvSpPr>
          <p:cNvPr id="103" name="Shape 101"/>
          <p:cNvSpPr/>
          <p:nvPr/>
        </p:nvSpPr>
        <p:spPr>
          <a:xfrm>
            <a:off x="182880" y="3913632"/>
            <a:ext cx="8778240" cy="301752"/>
          </a:xfrm>
          <a:prstGeom prst="rect">
            <a:avLst/>
          </a:prstGeom>
          <a:solidFill>
            <a:srgbClr val="FFFFFF"/>
          </a:solidFill>
          <a:ln w="5080">
            <a:solidFill>
              <a:srgbClr val="CBD5E1"/>
            </a:solidFill>
            <a:prstDash val="solid"/>
          </a:ln>
        </p:spPr>
      </p:sp>
      <p:sp>
        <p:nvSpPr>
          <p:cNvPr id="104" name="Text 102"/>
          <p:cNvSpPr/>
          <p:nvPr/>
        </p:nvSpPr>
        <p:spPr>
          <a:xfrm>
            <a:off x="182880" y="3913632"/>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Race</a:t>
            </a:r>
            <a:endParaRPr lang="en-US" sz="850" dirty="0"/>
          </a:p>
        </p:txBody>
      </p:sp>
      <p:sp>
        <p:nvSpPr>
          <p:cNvPr id="105" name="Text 103"/>
          <p:cNvSpPr/>
          <p:nvPr/>
        </p:nvSpPr>
        <p:spPr>
          <a:xfrm>
            <a:off x="1234440" y="3913632"/>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FairFace (21,908)</a:t>
            </a:r>
            <a:endParaRPr lang="en-US" sz="750" dirty="0"/>
          </a:p>
        </p:txBody>
      </p:sp>
      <p:sp>
        <p:nvSpPr>
          <p:cNvPr id="106" name="Text 104"/>
          <p:cNvSpPr/>
          <p:nvPr/>
        </p:nvSpPr>
        <p:spPr>
          <a:xfrm>
            <a:off x="2697480" y="3913632"/>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a:t>
            </a:r>
            <a:endParaRPr lang="en-US" sz="800" dirty="0"/>
          </a:p>
        </p:txBody>
      </p:sp>
      <p:sp>
        <p:nvSpPr>
          <p:cNvPr id="107" name="Text 105"/>
          <p:cNvSpPr/>
          <p:nvPr/>
        </p:nvSpPr>
        <p:spPr>
          <a:xfrm>
            <a:off x="3566160" y="3913632"/>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a:t>
            </a:r>
            <a:endParaRPr lang="en-US" sz="850" dirty="0"/>
          </a:p>
        </p:txBody>
      </p:sp>
      <p:sp>
        <p:nvSpPr>
          <p:cNvPr id="108" name="Text 106"/>
          <p:cNvSpPr/>
          <p:nvPr/>
        </p:nvSpPr>
        <p:spPr>
          <a:xfrm>
            <a:off x="4709160" y="3913632"/>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19.64%</a:t>
            </a:r>
            <a:endParaRPr lang="en-US" sz="850" dirty="0"/>
          </a:p>
        </p:txBody>
      </p:sp>
      <p:sp>
        <p:nvSpPr>
          <p:cNvPr id="109" name="Text 107"/>
          <p:cNvSpPr/>
          <p:nvPr/>
        </p:nvSpPr>
        <p:spPr>
          <a:xfrm>
            <a:off x="6126480" y="3913632"/>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110" name="Shape 108"/>
          <p:cNvSpPr/>
          <p:nvPr/>
        </p:nvSpPr>
        <p:spPr>
          <a:xfrm>
            <a:off x="7269480" y="3950208"/>
            <a:ext cx="1600200" cy="228600"/>
          </a:xfrm>
          <a:prstGeom prst="rect">
            <a:avLst>
              <a:gd name="adj" fmla="val 16000"/>
            </a:avLst>
          </a:prstGeom>
          <a:solidFill>
            <a:srgbClr val="64748B">
              <a:alpha val="18000"/>
            </a:srgbClr>
          </a:solidFill>
          <a:ln w="6350">
            <a:solidFill>
              <a:srgbClr val="64748B"/>
            </a:solidFill>
            <a:prstDash val="solid"/>
          </a:ln>
        </p:spPr>
      </p:sp>
      <p:sp>
        <p:nvSpPr>
          <p:cNvPr id="111" name="Text 109"/>
          <p:cNvSpPr/>
          <p:nvPr/>
        </p:nvSpPr>
        <p:spPr>
          <a:xfrm>
            <a:off x="7269480" y="3950208"/>
            <a:ext cx="1600200" cy="228600"/>
          </a:xfrm>
          <a:prstGeom prst="rect">
            <a:avLst/>
          </a:prstGeom>
          <a:noFill/>
          <a:ln/>
        </p:spPr>
        <p:txBody>
          <a:bodyPr wrap="square" lIns="0" tIns="0" rIns="0" bIns="0" rtlCol="0" anchor="ctr"/>
          <a:lstStyle/>
          <a:p>
            <a:pPr algn="ctr" indent="0" marL="0">
              <a:buNone/>
            </a:pPr>
            <a:r>
              <a:rPr lang="en-US" sz="750" b="1" dirty="0">
                <a:solidFill>
                  <a:srgbClr val="64748B"/>
                </a:solidFill>
                <a:latin typeface="Calibri" pitchFamily="34" charset="0"/>
                <a:ea typeface="Calibri" pitchFamily="34" charset="-122"/>
                <a:cs typeface="Calibri" pitchFamily="34" charset="-120"/>
              </a:rPr>
              <a:t>NO TARGET</a:t>
            </a:r>
            <a:endParaRPr lang="en-US" sz="750" dirty="0"/>
          </a:p>
        </p:txBody>
      </p:sp>
      <p:sp>
        <p:nvSpPr>
          <p:cNvPr id="112" name="Shape 110"/>
          <p:cNvSpPr/>
          <p:nvPr/>
        </p:nvSpPr>
        <p:spPr>
          <a:xfrm>
            <a:off x="182880" y="4215384"/>
            <a:ext cx="8778240" cy="301752"/>
          </a:xfrm>
          <a:prstGeom prst="rect">
            <a:avLst/>
          </a:prstGeom>
          <a:solidFill>
            <a:srgbClr val="F8FAFC"/>
          </a:solidFill>
          <a:ln w="5080">
            <a:solidFill>
              <a:srgbClr val="CBD5E1"/>
            </a:solidFill>
            <a:prstDash val="solid"/>
          </a:ln>
        </p:spPr>
      </p:sp>
      <p:sp>
        <p:nvSpPr>
          <p:cNvPr id="113" name="Text 111"/>
          <p:cNvSpPr/>
          <p:nvPr/>
        </p:nvSpPr>
        <p:spPr>
          <a:xfrm>
            <a:off x="182880" y="4215384"/>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Visibility</a:t>
            </a:r>
            <a:endParaRPr lang="en-US" sz="850" dirty="0"/>
          </a:p>
        </p:txBody>
      </p:sp>
      <p:sp>
        <p:nvSpPr>
          <p:cNvPr id="114" name="Text 112"/>
          <p:cNvSpPr/>
          <p:nvPr/>
        </p:nvSpPr>
        <p:spPr>
          <a:xfrm>
            <a:off x="1234440" y="4215384"/>
            <a:ext cx="1417320"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COFW (507)</a:t>
            </a:r>
            <a:endParaRPr lang="en-US" sz="750" dirty="0"/>
          </a:p>
        </p:txBody>
      </p:sp>
      <p:sp>
        <p:nvSpPr>
          <p:cNvPr id="115" name="Text 113"/>
          <p:cNvSpPr/>
          <p:nvPr/>
        </p:nvSpPr>
        <p:spPr>
          <a:xfrm>
            <a:off x="2697480" y="4215384"/>
            <a:ext cx="822960"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Recall@P80</a:t>
            </a:r>
            <a:endParaRPr lang="en-US" sz="800" dirty="0"/>
          </a:p>
        </p:txBody>
      </p:sp>
      <p:sp>
        <p:nvSpPr>
          <p:cNvPr id="116" name="Text 114"/>
          <p:cNvSpPr/>
          <p:nvPr/>
        </p:nvSpPr>
        <p:spPr>
          <a:xfrm>
            <a:off x="3566160" y="4215384"/>
            <a:ext cx="1097280" cy="301752"/>
          </a:xfrm>
          <a:prstGeom prst="rect">
            <a:avLst/>
          </a:prstGeom>
          <a:noFill/>
          <a:ln/>
        </p:spPr>
        <p:txBody>
          <a:bodyPr wrap="square" lIns="38100" tIns="38100" rIns="38100" bIns="38100"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72.56%</a:t>
            </a:r>
            <a:endParaRPr lang="en-US" sz="850" dirty="0"/>
          </a:p>
        </p:txBody>
      </p:sp>
      <p:sp>
        <p:nvSpPr>
          <p:cNvPr id="117" name="Text 115"/>
          <p:cNvSpPr/>
          <p:nvPr/>
        </p:nvSpPr>
        <p:spPr>
          <a:xfrm>
            <a:off x="4709160" y="4215384"/>
            <a:ext cx="1371600"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58.26%</a:t>
            </a:r>
            <a:endParaRPr lang="en-US" sz="850" dirty="0"/>
          </a:p>
        </p:txBody>
      </p:sp>
      <p:sp>
        <p:nvSpPr>
          <p:cNvPr id="118" name="Text 116"/>
          <p:cNvSpPr/>
          <p:nvPr/>
        </p:nvSpPr>
        <p:spPr>
          <a:xfrm>
            <a:off x="6126480" y="4215384"/>
            <a:ext cx="1051560"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−14.3pp</a:t>
            </a:r>
            <a:endParaRPr lang="en-US" sz="850" dirty="0"/>
          </a:p>
        </p:txBody>
      </p:sp>
      <p:sp>
        <p:nvSpPr>
          <p:cNvPr id="119" name="Shape 117"/>
          <p:cNvSpPr/>
          <p:nvPr/>
        </p:nvSpPr>
        <p:spPr>
          <a:xfrm>
            <a:off x="7269480" y="4251960"/>
            <a:ext cx="1600200" cy="228600"/>
          </a:xfrm>
          <a:prstGeom prst="rect">
            <a:avLst>
              <a:gd name="adj" fmla="val 16000"/>
            </a:avLst>
          </a:prstGeom>
          <a:solidFill>
            <a:srgbClr val="D97706">
              <a:alpha val="18000"/>
            </a:srgbClr>
          </a:solidFill>
          <a:ln w="6350">
            <a:solidFill>
              <a:srgbClr val="D97706"/>
            </a:solidFill>
            <a:prstDash val="solid"/>
          </a:ln>
        </p:spPr>
      </p:sp>
      <p:sp>
        <p:nvSpPr>
          <p:cNvPr id="120" name="Text 118"/>
          <p:cNvSpPr/>
          <p:nvPr/>
        </p:nvSpPr>
        <p:spPr>
          <a:xfrm>
            <a:off x="7269480" y="4251960"/>
            <a:ext cx="1600200" cy="228600"/>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PARTIAL</a:t>
            </a:r>
            <a:endParaRPr lang="en-US" sz="750" dirty="0"/>
          </a:p>
        </p:txBody>
      </p:sp>
      <p:sp>
        <p:nvSpPr>
          <p:cNvPr id="121" name="Text 119"/>
          <p:cNvSpPr/>
          <p:nvPr/>
        </p:nvSpPr>
        <p:spPr>
          <a:xfrm>
            <a:off x="182880" y="4864608"/>
            <a:ext cx="8778240" cy="201168"/>
          </a:xfrm>
          <a:prstGeom prst="rect">
            <a:avLst/>
          </a:prstGeom>
          <a:noFill/>
          <a:ln/>
        </p:spPr>
        <p:txBody>
          <a:bodyPr wrap="square" lIns="0" tIns="0" rIns="0" bIns="0"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Note: Segmentation/attribute/gender/race/visibility are fractions in raw script output — multiplied ×100 for normalized values above.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sp>
      <p:sp>
        <p:nvSpPr>
          <p:cNvPr id="3" name="Text 1"/>
          <p:cNvSpPr/>
          <p:nvPr/>
        </p:nvSpPr>
        <p:spPr>
          <a:xfrm>
            <a:off x="320040" y="0"/>
            <a:ext cx="685800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8-Task Training Results vs. Paper Targets</a:t>
            </a:r>
            <a:endParaRPr lang="en-US" sz="1800" dirty="0"/>
          </a:p>
        </p:txBody>
      </p:sp>
      <p:sp>
        <p:nvSpPr>
          <p:cNvPr id="4" name="Text 2"/>
          <p:cNvSpPr/>
          <p:nvPr/>
        </p:nvSpPr>
        <p:spPr>
          <a:xfrm>
            <a:off x="6217920" y="0"/>
            <a:ext cx="2743200" cy="502920"/>
          </a:xfrm>
          <a:prstGeom prst="rect">
            <a:avLst/>
          </a:prstGeom>
          <a:noFill/>
          <a:ln/>
        </p:spPr>
        <p:txBody>
          <a:bodyPr wrap="square" lIns="0" tIns="0" rIns="0" bIns="0" rtlCol="0" anchor="ctr"/>
          <a:lstStyle/>
          <a:p>
            <a:pPr algn="r" indent="0" marL="0">
              <a:buNone/>
            </a:pPr>
            <a:r>
              <a:rPr lang="en-US" sz="900" dirty="0">
                <a:solidFill>
                  <a:srgbClr val="7DD3D2"/>
                </a:solidFill>
                <a:latin typeface="Calibri" pitchFamily="34" charset="0"/>
                <a:ea typeface="Calibri" pitchFamily="34" charset="-122"/>
                <a:cs typeface="Calibri" pitchFamily="34" charset="-120"/>
              </a:rPr>
              <a:t>Our trained model · 12 epochs · 8×A100</a:t>
            </a:r>
            <a:endParaRPr lang="en-US" sz="900" dirty="0"/>
          </a:p>
        </p:txBody>
      </p:sp>
      <p:sp>
        <p:nvSpPr>
          <p:cNvPr id="5" name="Shape 3"/>
          <p:cNvSpPr/>
          <p:nvPr/>
        </p:nvSpPr>
        <p:spPr>
          <a:xfrm>
            <a:off x="182880" y="566928"/>
            <a:ext cx="8778240" cy="301752"/>
          </a:xfrm>
          <a:prstGeom prst="rect">
            <a:avLst/>
          </a:prstGeom>
          <a:solidFill>
            <a:srgbClr val="0E7C7B"/>
          </a:solidFill>
          <a:ln w="12700">
            <a:solidFill>
              <a:srgbClr val="0E7C7B"/>
            </a:solidFill>
            <a:prstDash val="solid"/>
          </a:ln>
        </p:spPr>
      </p:sp>
      <p:sp>
        <p:nvSpPr>
          <p:cNvPr id="6" name="Text 4"/>
          <p:cNvSpPr/>
          <p:nvPr/>
        </p:nvSpPr>
        <p:spPr>
          <a:xfrm>
            <a:off x="182880" y="566928"/>
            <a:ext cx="100584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Task</a:t>
            </a:r>
            <a:endParaRPr lang="en-US" sz="900" dirty="0"/>
          </a:p>
        </p:txBody>
      </p:sp>
      <p:sp>
        <p:nvSpPr>
          <p:cNvPr id="7" name="Text 5"/>
          <p:cNvSpPr/>
          <p:nvPr/>
        </p:nvSpPr>
        <p:spPr>
          <a:xfrm>
            <a:off x="1234440" y="566928"/>
            <a:ext cx="1389888"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Dataset</a:t>
            </a:r>
            <a:endParaRPr lang="en-US" sz="900" dirty="0"/>
          </a:p>
        </p:txBody>
      </p:sp>
      <p:sp>
        <p:nvSpPr>
          <p:cNvPr id="8" name="Text 6"/>
          <p:cNvSpPr/>
          <p:nvPr/>
        </p:nvSpPr>
        <p:spPr>
          <a:xfrm>
            <a:off x="2670048" y="566928"/>
            <a:ext cx="841248"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p>
        </p:txBody>
      </p:sp>
      <p:sp>
        <p:nvSpPr>
          <p:cNvPr id="9" name="Text 7"/>
          <p:cNvSpPr/>
          <p:nvPr/>
        </p:nvSpPr>
        <p:spPr>
          <a:xfrm>
            <a:off x="3547872" y="566928"/>
            <a:ext cx="1078992"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Paper Target</a:t>
            </a:r>
            <a:endParaRPr lang="en-US" sz="900" dirty="0"/>
          </a:p>
        </p:txBody>
      </p:sp>
      <p:sp>
        <p:nvSpPr>
          <p:cNvPr id="10" name="Text 8"/>
          <p:cNvSpPr/>
          <p:nvPr/>
        </p:nvSpPr>
        <p:spPr>
          <a:xfrm>
            <a:off x="4681728" y="566928"/>
            <a:ext cx="1207008"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Our Result</a:t>
            </a:r>
            <a:endParaRPr lang="en-US" sz="900" dirty="0"/>
          </a:p>
        </p:txBody>
      </p:sp>
      <p:sp>
        <p:nvSpPr>
          <p:cNvPr id="11" name="Text 9"/>
          <p:cNvSpPr/>
          <p:nvPr/>
        </p:nvSpPr>
        <p:spPr>
          <a:xfrm>
            <a:off x="5925312" y="566928"/>
            <a:ext cx="1115568"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Δ Gap</a:t>
            </a:r>
            <a:endParaRPr lang="en-US" sz="900" dirty="0"/>
          </a:p>
        </p:txBody>
      </p:sp>
      <p:sp>
        <p:nvSpPr>
          <p:cNvPr id="12" name="Text 10"/>
          <p:cNvSpPr/>
          <p:nvPr/>
        </p:nvSpPr>
        <p:spPr>
          <a:xfrm>
            <a:off x="7086600" y="566928"/>
            <a:ext cx="182880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Verdict</a:t>
            </a:r>
            <a:endParaRPr lang="en-US" sz="900" dirty="0"/>
          </a:p>
        </p:txBody>
      </p:sp>
      <p:sp>
        <p:nvSpPr>
          <p:cNvPr id="13" name="Shape 11"/>
          <p:cNvSpPr/>
          <p:nvPr/>
        </p:nvSpPr>
        <p:spPr>
          <a:xfrm>
            <a:off x="182880" y="896112"/>
            <a:ext cx="8778240" cy="301752"/>
          </a:xfrm>
          <a:prstGeom prst="rect">
            <a:avLst/>
          </a:prstGeom>
          <a:solidFill>
            <a:srgbClr val="FFFFFF"/>
          </a:solidFill>
          <a:ln w="5080">
            <a:solidFill>
              <a:srgbClr val="CBD5E1"/>
            </a:solidFill>
            <a:prstDash val="solid"/>
          </a:ln>
        </p:spPr>
      </p:sp>
      <p:sp>
        <p:nvSpPr>
          <p:cNvPr id="14" name="Text 12"/>
          <p:cNvSpPr/>
          <p:nvPr/>
        </p:nvSpPr>
        <p:spPr>
          <a:xfrm>
            <a:off x="182880" y="896112"/>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Segmentation</a:t>
            </a:r>
            <a:endParaRPr lang="en-US" sz="850" dirty="0"/>
          </a:p>
        </p:txBody>
      </p:sp>
      <p:sp>
        <p:nvSpPr>
          <p:cNvPr id="15" name="Text 13"/>
          <p:cNvSpPr/>
          <p:nvPr/>
        </p:nvSpPr>
        <p:spPr>
          <a:xfrm>
            <a:off x="1234440" y="896112"/>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CelebAMaskHQ</a:t>
            </a:r>
            <a:endParaRPr lang="en-US" sz="750" dirty="0"/>
          </a:p>
        </p:txBody>
      </p:sp>
      <p:sp>
        <p:nvSpPr>
          <p:cNvPr id="16" name="Text 14"/>
          <p:cNvSpPr/>
          <p:nvPr/>
        </p:nvSpPr>
        <p:spPr>
          <a:xfrm>
            <a:off x="2670048" y="896112"/>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F1 (%)</a:t>
            </a:r>
            <a:endParaRPr lang="en-US" sz="800" dirty="0"/>
          </a:p>
        </p:txBody>
      </p:sp>
      <p:sp>
        <p:nvSpPr>
          <p:cNvPr id="17" name="Text 15"/>
          <p:cNvSpPr/>
          <p:nvPr/>
        </p:nvSpPr>
        <p:spPr>
          <a:xfrm>
            <a:off x="3547872" y="896112"/>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92.01</a:t>
            </a:r>
            <a:endParaRPr lang="en-US" sz="850" dirty="0"/>
          </a:p>
        </p:txBody>
      </p:sp>
      <p:sp>
        <p:nvSpPr>
          <p:cNvPr id="18" name="Text 16"/>
          <p:cNvSpPr/>
          <p:nvPr/>
        </p:nvSpPr>
        <p:spPr>
          <a:xfrm>
            <a:off x="4681728" y="896112"/>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85.91</a:t>
            </a:r>
            <a:endParaRPr lang="en-US" sz="850" dirty="0"/>
          </a:p>
        </p:txBody>
      </p:sp>
      <p:sp>
        <p:nvSpPr>
          <p:cNvPr id="19" name="Text 17"/>
          <p:cNvSpPr/>
          <p:nvPr/>
        </p:nvSpPr>
        <p:spPr>
          <a:xfrm>
            <a:off x="5925312" y="896112"/>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−6.1pp</a:t>
            </a:r>
            <a:endParaRPr lang="en-US" sz="850" dirty="0"/>
          </a:p>
        </p:txBody>
      </p:sp>
      <p:sp>
        <p:nvSpPr>
          <p:cNvPr id="20" name="Shape 18"/>
          <p:cNvSpPr/>
          <p:nvPr/>
        </p:nvSpPr>
        <p:spPr>
          <a:xfrm>
            <a:off x="7132320" y="932688"/>
            <a:ext cx="1737360" cy="228600"/>
          </a:xfrm>
          <a:prstGeom prst="rect">
            <a:avLst>
              <a:gd name="adj" fmla="val 16000"/>
            </a:avLst>
          </a:prstGeom>
          <a:solidFill>
            <a:srgbClr val="16A34A">
              <a:alpha val="18000"/>
            </a:srgbClr>
          </a:solidFill>
          <a:ln w="6350">
            <a:solidFill>
              <a:srgbClr val="16A34A"/>
            </a:solidFill>
            <a:prstDash val="solid"/>
          </a:ln>
        </p:spPr>
      </p:sp>
      <p:sp>
        <p:nvSpPr>
          <p:cNvPr id="21" name="Text 19"/>
          <p:cNvSpPr/>
          <p:nvPr/>
        </p:nvSpPr>
        <p:spPr>
          <a:xfrm>
            <a:off x="7132320" y="932688"/>
            <a:ext cx="1737360" cy="228600"/>
          </a:xfrm>
          <a:prstGeom prst="rect">
            <a:avLst/>
          </a:prstGeom>
          <a:noFill/>
          <a:ln/>
        </p:spPr>
        <p:txBody>
          <a:bodyPr wrap="square" lIns="0" tIns="0" rIns="0" bIns="0" rtlCol="0" anchor="ctr"/>
          <a:lstStyle/>
          <a:p>
            <a:pPr algn="ctr" indent="0" marL="0">
              <a:buNone/>
            </a:pPr>
            <a:r>
              <a:rPr lang="en-US" sz="750" b="1" dirty="0">
                <a:solidFill>
                  <a:srgbClr val="16A34A"/>
                </a:solidFill>
                <a:latin typeface="Calibri" pitchFamily="34" charset="0"/>
                <a:ea typeface="Calibri" pitchFamily="34" charset="-122"/>
                <a:cs typeface="Calibri" pitchFamily="34" charset="-120"/>
              </a:rPr>
              <a:t>CLOSE</a:t>
            </a:r>
            <a:endParaRPr lang="en-US" sz="750" dirty="0"/>
          </a:p>
        </p:txBody>
      </p:sp>
      <p:sp>
        <p:nvSpPr>
          <p:cNvPr id="22" name="Shape 20"/>
          <p:cNvSpPr/>
          <p:nvPr/>
        </p:nvSpPr>
        <p:spPr>
          <a:xfrm>
            <a:off x="182880" y="1197864"/>
            <a:ext cx="8778240" cy="301752"/>
          </a:xfrm>
          <a:prstGeom prst="rect">
            <a:avLst/>
          </a:prstGeom>
          <a:solidFill>
            <a:srgbClr val="F8FAFC"/>
          </a:solidFill>
          <a:ln w="5080">
            <a:solidFill>
              <a:srgbClr val="CBD5E1"/>
            </a:solidFill>
            <a:prstDash val="solid"/>
          </a:ln>
        </p:spPr>
      </p:sp>
      <p:sp>
        <p:nvSpPr>
          <p:cNvPr id="23" name="Text 21"/>
          <p:cNvSpPr/>
          <p:nvPr/>
        </p:nvSpPr>
        <p:spPr>
          <a:xfrm>
            <a:off x="182880" y="1197864"/>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Landmark</a:t>
            </a:r>
            <a:endParaRPr lang="en-US" sz="850" dirty="0"/>
          </a:p>
        </p:txBody>
      </p:sp>
      <p:sp>
        <p:nvSpPr>
          <p:cNvPr id="24" name="Text 22"/>
          <p:cNvSpPr/>
          <p:nvPr/>
        </p:nvSpPr>
        <p:spPr>
          <a:xfrm>
            <a:off x="1234440" y="1197864"/>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300W</a:t>
            </a:r>
            <a:endParaRPr lang="en-US" sz="750" dirty="0"/>
          </a:p>
        </p:txBody>
      </p:sp>
      <p:sp>
        <p:nvSpPr>
          <p:cNvPr id="25" name="Text 23"/>
          <p:cNvSpPr/>
          <p:nvPr/>
        </p:nvSpPr>
        <p:spPr>
          <a:xfrm>
            <a:off x="2670048" y="1197864"/>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NME (%)</a:t>
            </a:r>
            <a:endParaRPr lang="en-US" sz="800" dirty="0"/>
          </a:p>
        </p:txBody>
      </p:sp>
      <p:sp>
        <p:nvSpPr>
          <p:cNvPr id="26" name="Text 24"/>
          <p:cNvSpPr/>
          <p:nvPr/>
        </p:nvSpPr>
        <p:spPr>
          <a:xfrm>
            <a:off x="3547872" y="1197864"/>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3.05</a:t>
            </a:r>
            <a:endParaRPr lang="en-US" sz="850" dirty="0"/>
          </a:p>
        </p:txBody>
      </p:sp>
      <p:sp>
        <p:nvSpPr>
          <p:cNvPr id="27" name="Text 25"/>
          <p:cNvSpPr/>
          <p:nvPr/>
        </p:nvSpPr>
        <p:spPr>
          <a:xfrm>
            <a:off x="4681728" y="1197864"/>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0.0117</a:t>
            </a:r>
            <a:endParaRPr lang="en-US" sz="850" dirty="0"/>
          </a:p>
        </p:txBody>
      </p:sp>
      <p:sp>
        <p:nvSpPr>
          <p:cNvPr id="28" name="Text 26"/>
          <p:cNvSpPr/>
          <p:nvPr/>
        </p:nvSpPr>
        <p:spPr>
          <a:xfrm>
            <a:off x="5925312" y="1197864"/>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−3.04pp</a:t>
            </a:r>
            <a:endParaRPr lang="en-US" sz="850" dirty="0"/>
          </a:p>
        </p:txBody>
      </p:sp>
      <p:sp>
        <p:nvSpPr>
          <p:cNvPr id="29" name="Shape 27"/>
          <p:cNvSpPr/>
          <p:nvPr/>
        </p:nvSpPr>
        <p:spPr>
          <a:xfrm>
            <a:off x="7132320" y="1234440"/>
            <a:ext cx="1737360" cy="228600"/>
          </a:xfrm>
          <a:prstGeom prst="rect">
            <a:avLst>
              <a:gd name="adj" fmla="val 16000"/>
            </a:avLst>
          </a:prstGeom>
          <a:solidFill>
            <a:srgbClr val="D97706">
              <a:alpha val="18000"/>
            </a:srgbClr>
          </a:solidFill>
          <a:ln w="6350">
            <a:solidFill>
              <a:srgbClr val="D97706"/>
            </a:solidFill>
            <a:prstDash val="solid"/>
          </a:ln>
        </p:spPr>
      </p:sp>
      <p:sp>
        <p:nvSpPr>
          <p:cNvPr id="30" name="Text 28"/>
          <p:cNvSpPr/>
          <p:nvPr/>
        </p:nvSpPr>
        <p:spPr>
          <a:xfrm>
            <a:off x="7132320" y="1234440"/>
            <a:ext cx="1737360" cy="228600"/>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UNIT?</a:t>
            </a:r>
            <a:endParaRPr lang="en-US" sz="750" dirty="0"/>
          </a:p>
        </p:txBody>
      </p:sp>
      <p:sp>
        <p:nvSpPr>
          <p:cNvPr id="31" name="Shape 29"/>
          <p:cNvSpPr/>
          <p:nvPr/>
        </p:nvSpPr>
        <p:spPr>
          <a:xfrm>
            <a:off x="182880" y="1499616"/>
            <a:ext cx="8778240" cy="301752"/>
          </a:xfrm>
          <a:prstGeom prst="rect">
            <a:avLst/>
          </a:prstGeom>
          <a:solidFill>
            <a:srgbClr val="FFFFFF"/>
          </a:solidFill>
          <a:ln w="5080">
            <a:solidFill>
              <a:srgbClr val="CBD5E1"/>
            </a:solidFill>
            <a:prstDash val="solid"/>
          </a:ln>
        </p:spPr>
      </p:sp>
      <p:sp>
        <p:nvSpPr>
          <p:cNvPr id="32" name="Text 30"/>
          <p:cNvSpPr/>
          <p:nvPr/>
        </p:nvSpPr>
        <p:spPr>
          <a:xfrm>
            <a:off x="182880" y="1499616"/>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Headpose</a:t>
            </a:r>
            <a:endParaRPr lang="en-US" sz="850" dirty="0"/>
          </a:p>
        </p:txBody>
      </p:sp>
      <p:sp>
        <p:nvSpPr>
          <p:cNvPr id="33" name="Text 31"/>
          <p:cNvSpPr/>
          <p:nvPr/>
        </p:nvSpPr>
        <p:spPr>
          <a:xfrm>
            <a:off x="1234440" y="1499616"/>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BIWI</a:t>
            </a:r>
            <a:endParaRPr lang="en-US" sz="750" dirty="0"/>
          </a:p>
        </p:txBody>
      </p:sp>
      <p:sp>
        <p:nvSpPr>
          <p:cNvPr id="34" name="Text 32"/>
          <p:cNvSpPr/>
          <p:nvPr/>
        </p:nvSpPr>
        <p:spPr>
          <a:xfrm>
            <a:off x="2670048" y="1499616"/>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MAE (deg)</a:t>
            </a:r>
            <a:endParaRPr lang="en-US" sz="800" dirty="0"/>
          </a:p>
        </p:txBody>
      </p:sp>
      <p:sp>
        <p:nvSpPr>
          <p:cNvPr id="35" name="Text 33"/>
          <p:cNvSpPr/>
          <p:nvPr/>
        </p:nvSpPr>
        <p:spPr>
          <a:xfrm>
            <a:off x="3547872" y="1499616"/>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3.52</a:t>
            </a:r>
            <a:endParaRPr lang="en-US" sz="850" dirty="0"/>
          </a:p>
        </p:txBody>
      </p:sp>
      <p:sp>
        <p:nvSpPr>
          <p:cNvPr id="36" name="Text 34"/>
          <p:cNvSpPr/>
          <p:nvPr/>
        </p:nvSpPr>
        <p:spPr>
          <a:xfrm>
            <a:off x="4681728" y="1499616"/>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0.379</a:t>
            </a:r>
            <a:endParaRPr lang="en-US" sz="850" dirty="0"/>
          </a:p>
        </p:txBody>
      </p:sp>
      <p:sp>
        <p:nvSpPr>
          <p:cNvPr id="37" name="Text 35"/>
          <p:cNvSpPr/>
          <p:nvPr/>
        </p:nvSpPr>
        <p:spPr>
          <a:xfrm>
            <a:off x="5925312" y="1499616"/>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−3.14°</a:t>
            </a:r>
            <a:endParaRPr lang="en-US" sz="850" dirty="0"/>
          </a:p>
        </p:txBody>
      </p:sp>
      <p:sp>
        <p:nvSpPr>
          <p:cNvPr id="38" name="Shape 36"/>
          <p:cNvSpPr/>
          <p:nvPr/>
        </p:nvSpPr>
        <p:spPr>
          <a:xfrm>
            <a:off x="7132320" y="1536192"/>
            <a:ext cx="1737360" cy="228600"/>
          </a:xfrm>
          <a:prstGeom prst="rect">
            <a:avLst>
              <a:gd name="adj" fmla="val 16000"/>
            </a:avLst>
          </a:prstGeom>
          <a:solidFill>
            <a:srgbClr val="D97706">
              <a:alpha val="18000"/>
            </a:srgbClr>
          </a:solidFill>
          <a:ln w="6350">
            <a:solidFill>
              <a:srgbClr val="D97706"/>
            </a:solidFill>
            <a:prstDash val="solid"/>
          </a:ln>
        </p:spPr>
      </p:sp>
      <p:sp>
        <p:nvSpPr>
          <p:cNvPr id="39" name="Text 37"/>
          <p:cNvSpPr/>
          <p:nvPr/>
        </p:nvSpPr>
        <p:spPr>
          <a:xfrm>
            <a:off x="7132320" y="1536192"/>
            <a:ext cx="1737360" cy="228600"/>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UNIT?</a:t>
            </a:r>
            <a:endParaRPr lang="en-US" sz="750" dirty="0"/>
          </a:p>
        </p:txBody>
      </p:sp>
      <p:sp>
        <p:nvSpPr>
          <p:cNvPr id="40" name="Shape 38"/>
          <p:cNvSpPr/>
          <p:nvPr/>
        </p:nvSpPr>
        <p:spPr>
          <a:xfrm>
            <a:off x="182880" y="1801368"/>
            <a:ext cx="8778240" cy="301752"/>
          </a:xfrm>
          <a:prstGeom prst="rect">
            <a:avLst/>
          </a:prstGeom>
          <a:solidFill>
            <a:srgbClr val="F8FAFC"/>
          </a:solidFill>
          <a:ln w="5080">
            <a:solidFill>
              <a:srgbClr val="CBD5E1"/>
            </a:solidFill>
            <a:prstDash val="solid"/>
          </a:ln>
        </p:spPr>
      </p:sp>
      <p:sp>
        <p:nvSpPr>
          <p:cNvPr id="41" name="Text 39"/>
          <p:cNvSpPr/>
          <p:nvPr/>
        </p:nvSpPr>
        <p:spPr>
          <a:xfrm>
            <a:off x="182880" y="1801368"/>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Attribute</a:t>
            </a:r>
            <a:endParaRPr lang="en-US" sz="850" dirty="0"/>
          </a:p>
        </p:txBody>
      </p:sp>
      <p:sp>
        <p:nvSpPr>
          <p:cNvPr id="42" name="Text 40"/>
          <p:cNvSpPr/>
          <p:nvPr/>
        </p:nvSpPr>
        <p:spPr>
          <a:xfrm>
            <a:off x="1234440" y="1801368"/>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CelebA</a:t>
            </a:r>
            <a:endParaRPr lang="en-US" sz="750" dirty="0"/>
          </a:p>
        </p:txBody>
      </p:sp>
      <p:sp>
        <p:nvSpPr>
          <p:cNvPr id="43" name="Text 41"/>
          <p:cNvSpPr/>
          <p:nvPr/>
        </p:nvSpPr>
        <p:spPr>
          <a:xfrm>
            <a:off x="2670048" y="1801368"/>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 (%)</a:t>
            </a:r>
            <a:endParaRPr lang="en-US" sz="800" dirty="0"/>
          </a:p>
        </p:txBody>
      </p:sp>
      <p:sp>
        <p:nvSpPr>
          <p:cNvPr id="44" name="Text 42"/>
          <p:cNvSpPr/>
          <p:nvPr/>
        </p:nvSpPr>
        <p:spPr>
          <a:xfrm>
            <a:off x="3547872" y="1801368"/>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91.83</a:t>
            </a:r>
            <a:endParaRPr lang="en-US" sz="850" dirty="0"/>
          </a:p>
        </p:txBody>
      </p:sp>
      <p:sp>
        <p:nvSpPr>
          <p:cNvPr id="45" name="Text 43"/>
          <p:cNvSpPr/>
          <p:nvPr/>
        </p:nvSpPr>
        <p:spPr>
          <a:xfrm>
            <a:off x="4681728" y="1801368"/>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91.27</a:t>
            </a:r>
            <a:endParaRPr lang="en-US" sz="850" dirty="0"/>
          </a:p>
        </p:txBody>
      </p:sp>
      <p:sp>
        <p:nvSpPr>
          <p:cNvPr id="46" name="Text 44"/>
          <p:cNvSpPr/>
          <p:nvPr/>
        </p:nvSpPr>
        <p:spPr>
          <a:xfrm>
            <a:off x="5925312" y="1801368"/>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−0.56pp</a:t>
            </a:r>
            <a:endParaRPr lang="en-US" sz="850" dirty="0"/>
          </a:p>
        </p:txBody>
      </p:sp>
      <p:sp>
        <p:nvSpPr>
          <p:cNvPr id="47" name="Shape 45"/>
          <p:cNvSpPr/>
          <p:nvPr/>
        </p:nvSpPr>
        <p:spPr>
          <a:xfrm>
            <a:off x="7132320" y="1837944"/>
            <a:ext cx="1737360" cy="228600"/>
          </a:xfrm>
          <a:prstGeom prst="rect">
            <a:avLst>
              <a:gd name="adj" fmla="val 16000"/>
            </a:avLst>
          </a:prstGeom>
          <a:solidFill>
            <a:srgbClr val="16A34A">
              <a:alpha val="18000"/>
            </a:srgbClr>
          </a:solidFill>
          <a:ln w="6350">
            <a:solidFill>
              <a:srgbClr val="16A34A"/>
            </a:solidFill>
            <a:prstDash val="solid"/>
          </a:ln>
        </p:spPr>
      </p:sp>
      <p:sp>
        <p:nvSpPr>
          <p:cNvPr id="48" name="Text 46"/>
          <p:cNvSpPr/>
          <p:nvPr/>
        </p:nvSpPr>
        <p:spPr>
          <a:xfrm>
            <a:off x="7132320" y="1837944"/>
            <a:ext cx="1737360" cy="228600"/>
          </a:xfrm>
          <a:prstGeom prst="rect">
            <a:avLst/>
          </a:prstGeom>
          <a:noFill/>
          <a:ln/>
        </p:spPr>
        <p:txBody>
          <a:bodyPr wrap="square" lIns="0" tIns="0" rIns="0" bIns="0" rtlCol="0" anchor="ctr"/>
          <a:lstStyle/>
          <a:p>
            <a:pPr algn="ctr" indent="0" marL="0">
              <a:buNone/>
            </a:pPr>
            <a:r>
              <a:rPr lang="en-US" sz="750" b="1" dirty="0">
                <a:solidFill>
                  <a:srgbClr val="16A34A"/>
                </a:solidFill>
                <a:latin typeface="Calibri" pitchFamily="34" charset="0"/>
                <a:ea typeface="Calibri" pitchFamily="34" charset="-122"/>
                <a:cs typeface="Calibri" pitchFamily="34" charset="-120"/>
              </a:rPr>
              <a:t>✓ MATCH</a:t>
            </a:r>
            <a:endParaRPr lang="en-US" sz="750" dirty="0"/>
          </a:p>
        </p:txBody>
      </p:sp>
      <p:sp>
        <p:nvSpPr>
          <p:cNvPr id="49" name="Shape 47"/>
          <p:cNvSpPr/>
          <p:nvPr/>
        </p:nvSpPr>
        <p:spPr>
          <a:xfrm>
            <a:off x="182880" y="2103120"/>
            <a:ext cx="8778240" cy="301752"/>
          </a:xfrm>
          <a:prstGeom prst="rect">
            <a:avLst/>
          </a:prstGeom>
          <a:solidFill>
            <a:srgbClr val="FFFFFF"/>
          </a:solidFill>
          <a:ln w="5080">
            <a:solidFill>
              <a:srgbClr val="CBD5E1"/>
            </a:solidFill>
            <a:prstDash val="solid"/>
          </a:ln>
        </p:spPr>
      </p:sp>
      <p:sp>
        <p:nvSpPr>
          <p:cNvPr id="50" name="Text 48"/>
          <p:cNvSpPr/>
          <p:nvPr/>
        </p:nvSpPr>
        <p:spPr>
          <a:xfrm>
            <a:off x="182880" y="2103120"/>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Attribute</a:t>
            </a:r>
            <a:endParaRPr lang="en-US" sz="850" dirty="0"/>
          </a:p>
        </p:txBody>
      </p:sp>
      <p:sp>
        <p:nvSpPr>
          <p:cNvPr id="51" name="Text 49"/>
          <p:cNvSpPr/>
          <p:nvPr/>
        </p:nvSpPr>
        <p:spPr>
          <a:xfrm>
            <a:off x="1234440" y="2103120"/>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LFWA</a:t>
            </a:r>
            <a:endParaRPr lang="en-US" sz="750" dirty="0"/>
          </a:p>
        </p:txBody>
      </p:sp>
      <p:sp>
        <p:nvSpPr>
          <p:cNvPr id="52" name="Text 50"/>
          <p:cNvSpPr/>
          <p:nvPr/>
        </p:nvSpPr>
        <p:spPr>
          <a:xfrm>
            <a:off x="2670048" y="2103120"/>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 (%)</a:t>
            </a:r>
            <a:endParaRPr lang="en-US" sz="800" dirty="0"/>
          </a:p>
        </p:txBody>
      </p:sp>
      <p:sp>
        <p:nvSpPr>
          <p:cNvPr id="53" name="Text 51"/>
          <p:cNvSpPr/>
          <p:nvPr/>
        </p:nvSpPr>
        <p:spPr>
          <a:xfrm>
            <a:off x="3547872" y="2103120"/>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54" name="Text 52"/>
          <p:cNvSpPr/>
          <p:nvPr/>
        </p:nvSpPr>
        <p:spPr>
          <a:xfrm>
            <a:off x="4681728" y="2103120"/>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59.87</a:t>
            </a:r>
            <a:endParaRPr lang="en-US" sz="850" dirty="0"/>
          </a:p>
        </p:txBody>
      </p:sp>
      <p:sp>
        <p:nvSpPr>
          <p:cNvPr id="55" name="Text 53"/>
          <p:cNvSpPr/>
          <p:nvPr/>
        </p:nvSpPr>
        <p:spPr>
          <a:xfrm>
            <a:off x="5925312" y="2103120"/>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56" name="Shape 54"/>
          <p:cNvSpPr/>
          <p:nvPr/>
        </p:nvSpPr>
        <p:spPr>
          <a:xfrm>
            <a:off x="7132320" y="2139696"/>
            <a:ext cx="1737360" cy="228600"/>
          </a:xfrm>
          <a:prstGeom prst="rect">
            <a:avLst>
              <a:gd name="adj" fmla="val 16000"/>
            </a:avLst>
          </a:prstGeom>
          <a:solidFill>
            <a:srgbClr val="64748B">
              <a:alpha val="18000"/>
            </a:srgbClr>
          </a:solidFill>
          <a:ln w="6350">
            <a:solidFill>
              <a:srgbClr val="64748B"/>
            </a:solidFill>
            <a:prstDash val="solid"/>
          </a:ln>
        </p:spPr>
      </p:sp>
      <p:sp>
        <p:nvSpPr>
          <p:cNvPr id="57" name="Text 55"/>
          <p:cNvSpPr/>
          <p:nvPr/>
        </p:nvSpPr>
        <p:spPr>
          <a:xfrm>
            <a:off x="7132320" y="2139696"/>
            <a:ext cx="1737360" cy="228600"/>
          </a:xfrm>
          <a:prstGeom prst="rect">
            <a:avLst/>
          </a:prstGeom>
          <a:noFill/>
          <a:ln/>
        </p:spPr>
        <p:txBody>
          <a:bodyPr wrap="square" lIns="0" tIns="0" rIns="0" bIns="0" rtlCol="0" anchor="ctr"/>
          <a:lstStyle/>
          <a:p>
            <a:pPr algn="ctr" indent="0" marL="0">
              <a:buNone/>
            </a:pPr>
            <a:r>
              <a:rPr lang="en-US" sz="750" b="1" dirty="0">
                <a:solidFill>
                  <a:srgbClr val="64748B"/>
                </a:solidFill>
                <a:latin typeface="Calibri" pitchFamily="34" charset="0"/>
                <a:ea typeface="Calibri" pitchFamily="34" charset="-122"/>
                <a:cs typeface="Calibri" pitchFamily="34" charset="-120"/>
              </a:rPr>
              <a:t>CROSS-DS</a:t>
            </a:r>
            <a:endParaRPr lang="en-US" sz="750" dirty="0"/>
          </a:p>
        </p:txBody>
      </p:sp>
      <p:sp>
        <p:nvSpPr>
          <p:cNvPr id="58" name="Shape 56"/>
          <p:cNvSpPr/>
          <p:nvPr/>
        </p:nvSpPr>
        <p:spPr>
          <a:xfrm>
            <a:off x="182880" y="2404872"/>
            <a:ext cx="8778240" cy="301752"/>
          </a:xfrm>
          <a:prstGeom prst="rect">
            <a:avLst/>
          </a:prstGeom>
          <a:solidFill>
            <a:srgbClr val="F8FAFC"/>
          </a:solidFill>
          <a:ln w="5080">
            <a:solidFill>
              <a:srgbClr val="CBD5E1"/>
            </a:solidFill>
            <a:prstDash val="solid"/>
          </a:ln>
        </p:spPr>
      </p:sp>
      <p:sp>
        <p:nvSpPr>
          <p:cNvPr id="59" name="Text 57"/>
          <p:cNvSpPr/>
          <p:nvPr/>
        </p:nvSpPr>
        <p:spPr>
          <a:xfrm>
            <a:off x="182880" y="2404872"/>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Age</a:t>
            </a:r>
            <a:endParaRPr lang="en-US" sz="850" dirty="0"/>
          </a:p>
        </p:txBody>
      </p:sp>
      <p:sp>
        <p:nvSpPr>
          <p:cNvPr id="60" name="Text 58"/>
          <p:cNvSpPr/>
          <p:nvPr/>
        </p:nvSpPr>
        <p:spPr>
          <a:xfrm>
            <a:off x="1234440" y="2404872"/>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UTKFace</a:t>
            </a:r>
            <a:endParaRPr lang="en-US" sz="750" dirty="0"/>
          </a:p>
        </p:txBody>
      </p:sp>
      <p:sp>
        <p:nvSpPr>
          <p:cNvPr id="61" name="Text 59"/>
          <p:cNvSpPr/>
          <p:nvPr/>
        </p:nvSpPr>
        <p:spPr>
          <a:xfrm>
            <a:off x="2670048" y="2404872"/>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MAE (years)</a:t>
            </a:r>
            <a:endParaRPr lang="en-US" sz="800" dirty="0"/>
          </a:p>
        </p:txBody>
      </p:sp>
      <p:sp>
        <p:nvSpPr>
          <p:cNvPr id="62" name="Text 60"/>
          <p:cNvSpPr/>
          <p:nvPr/>
        </p:nvSpPr>
        <p:spPr>
          <a:xfrm>
            <a:off x="3547872" y="2404872"/>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4.17</a:t>
            </a:r>
            <a:endParaRPr lang="en-US" sz="850" dirty="0"/>
          </a:p>
        </p:txBody>
      </p:sp>
      <p:sp>
        <p:nvSpPr>
          <p:cNvPr id="63" name="Text 61"/>
          <p:cNvSpPr/>
          <p:nvPr/>
        </p:nvSpPr>
        <p:spPr>
          <a:xfrm>
            <a:off x="4681728" y="2404872"/>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35.27</a:t>
            </a:r>
            <a:endParaRPr lang="en-US" sz="850" dirty="0"/>
          </a:p>
        </p:txBody>
      </p:sp>
      <p:sp>
        <p:nvSpPr>
          <p:cNvPr id="64" name="Text 62"/>
          <p:cNvSpPr/>
          <p:nvPr/>
        </p:nvSpPr>
        <p:spPr>
          <a:xfrm>
            <a:off x="5925312" y="2404872"/>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+31.1yr</a:t>
            </a:r>
            <a:endParaRPr lang="en-US" sz="850" dirty="0"/>
          </a:p>
        </p:txBody>
      </p:sp>
      <p:sp>
        <p:nvSpPr>
          <p:cNvPr id="65" name="Shape 63"/>
          <p:cNvSpPr/>
          <p:nvPr/>
        </p:nvSpPr>
        <p:spPr>
          <a:xfrm>
            <a:off x="7132320" y="2441448"/>
            <a:ext cx="1737360" cy="228600"/>
          </a:xfrm>
          <a:prstGeom prst="rect">
            <a:avLst>
              <a:gd name="adj" fmla="val 16000"/>
            </a:avLst>
          </a:prstGeom>
          <a:solidFill>
            <a:srgbClr val="DC2626">
              <a:alpha val="18000"/>
            </a:srgbClr>
          </a:solidFill>
          <a:ln w="6350">
            <a:solidFill>
              <a:srgbClr val="DC2626"/>
            </a:solidFill>
            <a:prstDash val="solid"/>
          </a:ln>
        </p:spPr>
      </p:sp>
      <p:sp>
        <p:nvSpPr>
          <p:cNvPr id="66" name="Text 64"/>
          <p:cNvSpPr/>
          <p:nvPr/>
        </p:nvSpPr>
        <p:spPr>
          <a:xfrm>
            <a:off x="7132320" y="2441448"/>
            <a:ext cx="1737360" cy="228600"/>
          </a:xfrm>
          <a:prstGeom prst="rect">
            <a:avLst/>
          </a:prstGeom>
          <a:noFill/>
          <a:ln/>
        </p:spPr>
        <p:txBody>
          <a:bodyPr wrap="square" lIns="0" tIns="0" rIns="0" bIns="0" rtlCol="0" anchor="ctr"/>
          <a:lstStyle/>
          <a:p>
            <a:pPr algn="ctr" indent="0" marL="0">
              <a:buNone/>
            </a:pPr>
            <a:r>
              <a:rPr lang="en-US" sz="750" b="1" dirty="0">
                <a:solidFill>
                  <a:srgbClr val="DC2626"/>
                </a:solidFill>
                <a:latin typeface="Calibri" pitchFamily="34" charset="0"/>
                <a:ea typeface="Calibri" pitchFamily="34" charset="-122"/>
                <a:cs typeface="Calibri" pitchFamily="34" charset="-120"/>
              </a:rPr>
              <a:t>FAILURE</a:t>
            </a:r>
            <a:endParaRPr lang="en-US" sz="750" dirty="0"/>
          </a:p>
        </p:txBody>
      </p:sp>
      <p:sp>
        <p:nvSpPr>
          <p:cNvPr id="67" name="Shape 65"/>
          <p:cNvSpPr/>
          <p:nvPr/>
        </p:nvSpPr>
        <p:spPr>
          <a:xfrm>
            <a:off x="182880" y="2706624"/>
            <a:ext cx="8778240" cy="301752"/>
          </a:xfrm>
          <a:prstGeom prst="rect">
            <a:avLst/>
          </a:prstGeom>
          <a:solidFill>
            <a:srgbClr val="FFFFFF"/>
          </a:solidFill>
          <a:ln w="5080">
            <a:solidFill>
              <a:srgbClr val="CBD5E1"/>
            </a:solidFill>
            <a:prstDash val="solid"/>
          </a:ln>
        </p:spPr>
      </p:sp>
      <p:sp>
        <p:nvSpPr>
          <p:cNvPr id="68" name="Text 66"/>
          <p:cNvSpPr/>
          <p:nvPr/>
        </p:nvSpPr>
        <p:spPr>
          <a:xfrm>
            <a:off x="182880" y="2706624"/>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Age</a:t>
            </a:r>
            <a:endParaRPr lang="en-US" sz="850" dirty="0"/>
          </a:p>
        </p:txBody>
      </p:sp>
      <p:sp>
        <p:nvSpPr>
          <p:cNvPr id="69" name="Text 67"/>
          <p:cNvSpPr/>
          <p:nvPr/>
        </p:nvSpPr>
        <p:spPr>
          <a:xfrm>
            <a:off x="1234440" y="2706624"/>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FairFace</a:t>
            </a:r>
            <a:endParaRPr lang="en-US" sz="750" dirty="0"/>
          </a:p>
        </p:txBody>
      </p:sp>
      <p:sp>
        <p:nvSpPr>
          <p:cNvPr id="70" name="Text 68"/>
          <p:cNvSpPr/>
          <p:nvPr/>
        </p:nvSpPr>
        <p:spPr>
          <a:xfrm>
            <a:off x="2670048" y="2706624"/>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MAE (years)</a:t>
            </a:r>
            <a:endParaRPr lang="en-US" sz="800" dirty="0"/>
          </a:p>
        </p:txBody>
      </p:sp>
      <p:sp>
        <p:nvSpPr>
          <p:cNvPr id="71" name="Text 69"/>
          <p:cNvSpPr/>
          <p:nvPr/>
        </p:nvSpPr>
        <p:spPr>
          <a:xfrm>
            <a:off x="3547872" y="2706624"/>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72" name="Text 70"/>
          <p:cNvSpPr/>
          <p:nvPr/>
        </p:nvSpPr>
        <p:spPr>
          <a:xfrm>
            <a:off x="4681728" y="2706624"/>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31.50</a:t>
            </a:r>
            <a:endParaRPr lang="en-US" sz="850" dirty="0"/>
          </a:p>
        </p:txBody>
      </p:sp>
      <p:sp>
        <p:nvSpPr>
          <p:cNvPr id="73" name="Text 71"/>
          <p:cNvSpPr/>
          <p:nvPr/>
        </p:nvSpPr>
        <p:spPr>
          <a:xfrm>
            <a:off x="5925312" y="2706624"/>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74" name="Shape 72"/>
          <p:cNvSpPr/>
          <p:nvPr/>
        </p:nvSpPr>
        <p:spPr>
          <a:xfrm>
            <a:off x="7132320" y="2743200"/>
            <a:ext cx="1737360" cy="228600"/>
          </a:xfrm>
          <a:prstGeom prst="rect">
            <a:avLst>
              <a:gd name="adj" fmla="val 16000"/>
            </a:avLst>
          </a:prstGeom>
          <a:solidFill>
            <a:srgbClr val="DC2626">
              <a:alpha val="18000"/>
            </a:srgbClr>
          </a:solidFill>
          <a:ln w="6350">
            <a:solidFill>
              <a:srgbClr val="DC2626"/>
            </a:solidFill>
            <a:prstDash val="solid"/>
          </a:ln>
        </p:spPr>
      </p:sp>
      <p:sp>
        <p:nvSpPr>
          <p:cNvPr id="75" name="Text 73"/>
          <p:cNvSpPr/>
          <p:nvPr/>
        </p:nvSpPr>
        <p:spPr>
          <a:xfrm>
            <a:off x="7132320" y="2743200"/>
            <a:ext cx="1737360" cy="228600"/>
          </a:xfrm>
          <a:prstGeom prst="rect">
            <a:avLst/>
          </a:prstGeom>
          <a:noFill/>
          <a:ln/>
        </p:spPr>
        <p:txBody>
          <a:bodyPr wrap="square" lIns="0" tIns="0" rIns="0" bIns="0" rtlCol="0" anchor="ctr"/>
          <a:lstStyle/>
          <a:p>
            <a:pPr algn="ctr" indent="0" marL="0">
              <a:buNone/>
            </a:pPr>
            <a:r>
              <a:rPr lang="en-US" sz="750" b="1" dirty="0">
                <a:solidFill>
                  <a:srgbClr val="DC2626"/>
                </a:solidFill>
                <a:latin typeface="Calibri" pitchFamily="34" charset="0"/>
                <a:ea typeface="Calibri" pitchFamily="34" charset="-122"/>
                <a:cs typeface="Calibri" pitchFamily="34" charset="-120"/>
              </a:rPr>
              <a:t>FAILURE</a:t>
            </a:r>
            <a:endParaRPr lang="en-US" sz="750" dirty="0"/>
          </a:p>
        </p:txBody>
      </p:sp>
      <p:sp>
        <p:nvSpPr>
          <p:cNvPr id="76" name="Shape 74"/>
          <p:cNvSpPr/>
          <p:nvPr/>
        </p:nvSpPr>
        <p:spPr>
          <a:xfrm>
            <a:off x="182880" y="3008376"/>
            <a:ext cx="8778240" cy="301752"/>
          </a:xfrm>
          <a:prstGeom prst="rect">
            <a:avLst/>
          </a:prstGeom>
          <a:solidFill>
            <a:srgbClr val="F8FAFC"/>
          </a:solidFill>
          <a:ln w="5080">
            <a:solidFill>
              <a:srgbClr val="CBD5E1"/>
            </a:solidFill>
            <a:prstDash val="solid"/>
          </a:ln>
        </p:spPr>
      </p:sp>
      <p:sp>
        <p:nvSpPr>
          <p:cNvPr id="77" name="Text 75"/>
          <p:cNvSpPr/>
          <p:nvPr/>
        </p:nvSpPr>
        <p:spPr>
          <a:xfrm>
            <a:off x="182880" y="3008376"/>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Gender</a:t>
            </a:r>
            <a:endParaRPr lang="en-US" sz="850" dirty="0"/>
          </a:p>
        </p:txBody>
      </p:sp>
      <p:sp>
        <p:nvSpPr>
          <p:cNvPr id="78" name="Text 76"/>
          <p:cNvSpPr/>
          <p:nvPr/>
        </p:nvSpPr>
        <p:spPr>
          <a:xfrm>
            <a:off x="1234440" y="3008376"/>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UTKFace</a:t>
            </a:r>
            <a:endParaRPr lang="en-US" sz="750" dirty="0"/>
          </a:p>
        </p:txBody>
      </p:sp>
      <p:sp>
        <p:nvSpPr>
          <p:cNvPr id="79" name="Text 77"/>
          <p:cNvSpPr/>
          <p:nvPr/>
        </p:nvSpPr>
        <p:spPr>
          <a:xfrm>
            <a:off x="2670048" y="3008376"/>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 (%)</a:t>
            </a:r>
            <a:endParaRPr lang="en-US" sz="800" dirty="0"/>
          </a:p>
        </p:txBody>
      </p:sp>
      <p:sp>
        <p:nvSpPr>
          <p:cNvPr id="80" name="Text 78"/>
          <p:cNvSpPr/>
          <p:nvPr/>
        </p:nvSpPr>
        <p:spPr>
          <a:xfrm>
            <a:off x="3547872" y="3008376"/>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81" name="Text 79"/>
          <p:cNvSpPr/>
          <p:nvPr/>
        </p:nvSpPr>
        <p:spPr>
          <a:xfrm>
            <a:off x="4681728" y="3008376"/>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85.04</a:t>
            </a:r>
            <a:endParaRPr lang="en-US" sz="850" dirty="0"/>
          </a:p>
        </p:txBody>
      </p:sp>
      <p:sp>
        <p:nvSpPr>
          <p:cNvPr id="82" name="Text 80"/>
          <p:cNvSpPr/>
          <p:nvPr/>
        </p:nvSpPr>
        <p:spPr>
          <a:xfrm>
            <a:off x="5925312" y="3008376"/>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83" name="Shape 81"/>
          <p:cNvSpPr/>
          <p:nvPr/>
        </p:nvSpPr>
        <p:spPr>
          <a:xfrm>
            <a:off x="7132320" y="3044952"/>
            <a:ext cx="1737360" cy="228600"/>
          </a:xfrm>
          <a:prstGeom prst="rect">
            <a:avLst>
              <a:gd name="adj" fmla="val 16000"/>
            </a:avLst>
          </a:prstGeom>
          <a:solidFill>
            <a:srgbClr val="64748B">
              <a:alpha val="18000"/>
            </a:srgbClr>
          </a:solidFill>
          <a:ln w="6350">
            <a:solidFill>
              <a:srgbClr val="64748B"/>
            </a:solidFill>
            <a:prstDash val="solid"/>
          </a:ln>
        </p:spPr>
      </p:sp>
      <p:sp>
        <p:nvSpPr>
          <p:cNvPr id="84" name="Text 82"/>
          <p:cNvSpPr/>
          <p:nvPr/>
        </p:nvSpPr>
        <p:spPr>
          <a:xfrm>
            <a:off x="7132320" y="3044952"/>
            <a:ext cx="1737360" cy="228600"/>
          </a:xfrm>
          <a:prstGeom prst="rect">
            <a:avLst/>
          </a:prstGeom>
          <a:noFill/>
          <a:ln/>
        </p:spPr>
        <p:txBody>
          <a:bodyPr wrap="square" lIns="0" tIns="0" rIns="0" bIns="0" rtlCol="0" anchor="ctr"/>
          <a:lstStyle/>
          <a:p>
            <a:pPr algn="ctr" indent="0" marL="0">
              <a:buNone/>
            </a:pPr>
            <a:r>
              <a:rPr lang="en-US" sz="750" b="1" dirty="0">
                <a:solidFill>
                  <a:srgbClr val="64748B"/>
                </a:solidFill>
                <a:latin typeface="Calibri" pitchFamily="34" charset="0"/>
                <a:ea typeface="Calibri" pitchFamily="34" charset="-122"/>
                <a:cs typeface="Calibri" pitchFamily="34" charset="-120"/>
              </a:rPr>
              <a:t>NO TARGET</a:t>
            </a:r>
            <a:endParaRPr lang="en-US" sz="750" dirty="0"/>
          </a:p>
        </p:txBody>
      </p:sp>
      <p:sp>
        <p:nvSpPr>
          <p:cNvPr id="85" name="Shape 83"/>
          <p:cNvSpPr/>
          <p:nvPr/>
        </p:nvSpPr>
        <p:spPr>
          <a:xfrm>
            <a:off x="182880" y="3310128"/>
            <a:ext cx="8778240" cy="301752"/>
          </a:xfrm>
          <a:prstGeom prst="rect">
            <a:avLst/>
          </a:prstGeom>
          <a:solidFill>
            <a:srgbClr val="FFFFFF"/>
          </a:solidFill>
          <a:ln w="5080">
            <a:solidFill>
              <a:srgbClr val="CBD5E1"/>
            </a:solidFill>
            <a:prstDash val="solid"/>
          </a:ln>
        </p:spPr>
      </p:sp>
      <p:sp>
        <p:nvSpPr>
          <p:cNvPr id="86" name="Text 84"/>
          <p:cNvSpPr/>
          <p:nvPr/>
        </p:nvSpPr>
        <p:spPr>
          <a:xfrm>
            <a:off x="182880" y="3310128"/>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Gender</a:t>
            </a:r>
            <a:endParaRPr lang="en-US" sz="850" dirty="0"/>
          </a:p>
        </p:txBody>
      </p:sp>
      <p:sp>
        <p:nvSpPr>
          <p:cNvPr id="87" name="Text 85"/>
          <p:cNvSpPr/>
          <p:nvPr/>
        </p:nvSpPr>
        <p:spPr>
          <a:xfrm>
            <a:off x="1234440" y="3310128"/>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FairFace</a:t>
            </a:r>
            <a:endParaRPr lang="en-US" sz="750" dirty="0"/>
          </a:p>
        </p:txBody>
      </p:sp>
      <p:sp>
        <p:nvSpPr>
          <p:cNvPr id="88" name="Text 86"/>
          <p:cNvSpPr/>
          <p:nvPr/>
        </p:nvSpPr>
        <p:spPr>
          <a:xfrm>
            <a:off x="2670048" y="3310128"/>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 (%)</a:t>
            </a:r>
            <a:endParaRPr lang="en-US" sz="800" dirty="0"/>
          </a:p>
        </p:txBody>
      </p:sp>
      <p:sp>
        <p:nvSpPr>
          <p:cNvPr id="89" name="Text 87"/>
          <p:cNvSpPr/>
          <p:nvPr/>
        </p:nvSpPr>
        <p:spPr>
          <a:xfrm>
            <a:off x="3547872" y="3310128"/>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95.22</a:t>
            </a:r>
            <a:endParaRPr lang="en-US" sz="850" dirty="0"/>
          </a:p>
        </p:txBody>
      </p:sp>
      <p:sp>
        <p:nvSpPr>
          <p:cNvPr id="90" name="Text 88"/>
          <p:cNvSpPr/>
          <p:nvPr/>
        </p:nvSpPr>
        <p:spPr>
          <a:xfrm>
            <a:off x="4681728" y="3310128"/>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100.0</a:t>
            </a:r>
            <a:endParaRPr lang="en-US" sz="850" dirty="0"/>
          </a:p>
        </p:txBody>
      </p:sp>
      <p:sp>
        <p:nvSpPr>
          <p:cNvPr id="91" name="Text 89"/>
          <p:cNvSpPr/>
          <p:nvPr/>
        </p:nvSpPr>
        <p:spPr>
          <a:xfrm>
            <a:off x="5925312" y="3310128"/>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+4.78pp</a:t>
            </a:r>
            <a:endParaRPr lang="en-US" sz="850" dirty="0"/>
          </a:p>
        </p:txBody>
      </p:sp>
      <p:sp>
        <p:nvSpPr>
          <p:cNvPr id="92" name="Shape 90"/>
          <p:cNvSpPr/>
          <p:nvPr/>
        </p:nvSpPr>
        <p:spPr>
          <a:xfrm>
            <a:off x="7132320" y="3346704"/>
            <a:ext cx="1737360" cy="228600"/>
          </a:xfrm>
          <a:prstGeom prst="rect">
            <a:avLst>
              <a:gd name="adj" fmla="val 16000"/>
            </a:avLst>
          </a:prstGeom>
          <a:solidFill>
            <a:srgbClr val="D97706">
              <a:alpha val="18000"/>
            </a:srgbClr>
          </a:solidFill>
          <a:ln w="6350">
            <a:solidFill>
              <a:srgbClr val="D97706"/>
            </a:solidFill>
            <a:prstDash val="solid"/>
          </a:ln>
        </p:spPr>
      </p:sp>
      <p:sp>
        <p:nvSpPr>
          <p:cNvPr id="93" name="Text 91"/>
          <p:cNvSpPr/>
          <p:nvPr/>
        </p:nvSpPr>
        <p:spPr>
          <a:xfrm>
            <a:off x="7132320" y="3346704"/>
            <a:ext cx="1737360" cy="228600"/>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SUSPECT</a:t>
            </a:r>
            <a:endParaRPr lang="en-US" sz="750" dirty="0"/>
          </a:p>
        </p:txBody>
      </p:sp>
      <p:sp>
        <p:nvSpPr>
          <p:cNvPr id="94" name="Shape 92"/>
          <p:cNvSpPr/>
          <p:nvPr/>
        </p:nvSpPr>
        <p:spPr>
          <a:xfrm>
            <a:off x="182880" y="3611880"/>
            <a:ext cx="8778240" cy="301752"/>
          </a:xfrm>
          <a:prstGeom prst="rect">
            <a:avLst/>
          </a:prstGeom>
          <a:solidFill>
            <a:srgbClr val="F8FAFC"/>
          </a:solidFill>
          <a:ln w="5080">
            <a:solidFill>
              <a:srgbClr val="CBD5E1"/>
            </a:solidFill>
            <a:prstDash val="solid"/>
          </a:ln>
        </p:spPr>
      </p:sp>
      <p:sp>
        <p:nvSpPr>
          <p:cNvPr id="95" name="Text 93"/>
          <p:cNvSpPr/>
          <p:nvPr/>
        </p:nvSpPr>
        <p:spPr>
          <a:xfrm>
            <a:off x="182880" y="3611880"/>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Race</a:t>
            </a:r>
            <a:endParaRPr lang="en-US" sz="850" dirty="0"/>
          </a:p>
        </p:txBody>
      </p:sp>
      <p:sp>
        <p:nvSpPr>
          <p:cNvPr id="96" name="Text 94"/>
          <p:cNvSpPr/>
          <p:nvPr/>
        </p:nvSpPr>
        <p:spPr>
          <a:xfrm>
            <a:off x="1234440" y="3611880"/>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UTKFace</a:t>
            </a:r>
            <a:endParaRPr lang="en-US" sz="750" dirty="0"/>
          </a:p>
        </p:txBody>
      </p:sp>
      <p:sp>
        <p:nvSpPr>
          <p:cNvPr id="97" name="Text 95"/>
          <p:cNvSpPr/>
          <p:nvPr/>
        </p:nvSpPr>
        <p:spPr>
          <a:xfrm>
            <a:off x="2670048" y="3611880"/>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 (%)</a:t>
            </a:r>
            <a:endParaRPr lang="en-US" sz="800" dirty="0"/>
          </a:p>
        </p:txBody>
      </p:sp>
      <p:sp>
        <p:nvSpPr>
          <p:cNvPr id="98" name="Text 96"/>
          <p:cNvSpPr/>
          <p:nvPr/>
        </p:nvSpPr>
        <p:spPr>
          <a:xfrm>
            <a:off x="3547872" y="3611880"/>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99" name="Text 97"/>
          <p:cNvSpPr/>
          <p:nvPr/>
        </p:nvSpPr>
        <p:spPr>
          <a:xfrm>
            <a:off x="4681728" y="3611880"/>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73.26</a:t>
            </a:r>
            <a:endParaRPr lang="en-US" sz="850" dirty="0"/>
          </a:p>
        </p:txBody>
      </p:sp>
      <p:sp>
        <p:nvSpPr>
          <p:cNvPr id="100" name="Text 98"/>
          <p:cNvSpPr/>
          <p:nvPr/>
        </p:nvSpPr>
        <p:spPr>
          <a:xfrm>
            <a:off x="5925312" y="3611880"/>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101" name="Shape 99"/>
          <p:cNvSpPr/>
          <p:nvPr/>
        </p:nvSpPr>
        <p:spPr>
          <a:xfrm>
            <a:off x="7132320" y="3648456"/>
            <a:ext cx="1737360" cy="228600"/>
          </a:xfrm>
          <a:prstGeom prst="rect">
            <a:avLst>
              <a:gd name="adj" fmla="val 16000"/>
            </a:avLst>
          </a:prstGeom>
          <a:solidFill>
            <a:srgbClr val="64748B">
              <a:alpha val="18000"/>
            </a:srgbClr>
          </a:solidFill>
          <a:ln w="6350">
            <a:solidFill>
              <a:srgbClr val="64748B"/>
            </a:solidFill>
            <a:prstDash val="solid"/>
          </a:ln>
        </p:spPr>
      </p:sp>
      <p:sp>
        <p:nvSpPr>
          <p:cNvPr id="102" name="Text 100"/>
          <p:cNvSpPr/>
          <p:nvPr/>
        </p:nvSpPr>
        <p:spPr>
          <a:xfrm>
            <a:off x="7132320" y="3648456"/>
            <a:ext cx="1737360" cy="228600"/>
          </a:xfrm>
          <a:prstGeom prst="rect">
            <a:avLst/>
          </a:prstGeom>
          <a:noFill/>
          <a:ln/>
        </p:spPr>
        <p:txBody>
          <a:bodyPr wrap="square" lIns="0" tIns="0" rIns="0" bIns="0" rtlCol="0" anchor="ctr"/>
          <a:lstStyle/>
          <a:p>
            <a:pPr algn="ctr" indent="0" marL="0">
              <a:buNone/>
            </a:pPr>
            <a:r>
              <a:rPr lang="en-US" sz="750" b="1" dirty="0">
                <a:solidFill>
                  <a:srgbClr val="64748B"/>
                </a:solidFill>
                <a:latin typeface="Calibri" pitchFamily="34" charset="0"/>
                <a:ea typeface="Calibri" pitchFamily="34" charset="-122"/>
                <a:cs typeface="Calibri" pitchFamily="34" charset="-120"/>
              </a:rPr>
              <a:t>NO TARGET</a:t>
            </a:r>
            <a:endParaRPr lang="en-US" sz="750" dirty="0"/>
          </a:p>
        </p:txBody>
      </p:sp>
      <p:sp>
        <p:nvSpPr>
          <p:cNvPr id="103" name="Shape 101"/>
          <p:cNvSpPr/>
          <p:nvPr/>
        </p:nvSpPr>
        <p:spPr>
          <a:xfrm>
            <a:off x="182880" y="3913632"/>
            <a:ext cx="8778240" cy="301752"/>
          </a:xfrm>
          <a:prstGeom prst="rect">
            <a:avLst/>
          </a:prstGeom>
          <a:solidFill>
            <a:srgbClr val="FFFFFF"/>
          </a:solidFill>
          <a:ln w="5080">
            <a:solidFill>
              <a:srgbClr val="CBD5E1"/>
            </a:solidFill>
            <a:prstDash val="solid"/>
          </a:ln>
        </p:spPr>
      </p:sp>
      <p:sp>
        <p:nvSpPr>
          <p:cNvPr id="104" name="Text 102"/>
          <p:cNvSpPr/>
          <p:nvPr/>
        </p:nvSpPr>
        <p:spPr>
          <a:xfrm>
            <a:off x="182880" y="3913632"/>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Race</a:t>
            </a:r>
            <a:endParaRPr lang="en-US" sz="850" dirty="0"/>
          </a:p>
        </p:txBody>
      </p:sp>
      <p:sp>
        <p:nvSpPr>
          <p:cNvPr id="105" name="Text 103"/>
          <p:cNvSpPr/>
          <p:nvPr/>
        </p:nvSpPr>
        <p:spPr>
          <a:xfrm>
            <a:off x="1234440" y="3913632"/>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FairFace</a:t>
            </a:r>
            <a:endParaRPr lang="en-US" sz="750" dirty="0"/>
          </a:p>
        </p:txBody>
      </p:sp>
      <p:sp>
        <p:nvSpPr>
          <p:cNvPr id="106" name="Text 104"/>
          <p:cNvSpPr/>
          <p:nvPr/>
        </p:nvSpPr>
        <p:spPr>
          <a:xfrm>
            <a:off x="2670048" y="3913632"/>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 (%)</a:t>
            </a:r>
            <a:endParaRPr lang="en-US" sz="800" dirty="0"/>
          </a:p>
        </p:txBody>
      </p:sp>
      <p:sp>
        <p:nvSpPr>
          <p:cNvPr id="107" name="Text 105"/>
          <p:cNvSpPr/>
          <p:nvPr/>
        </p:nvSpPr>
        <p:spPr>
          <a:xfrm>
            <a:off x="3547872" y="3913632"/>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108" name="Text 106"/>
          <p:cNvSpPr/>
          <p:nvPr/>
        </p:nvSpPr>
        <p:spPr>
          <a:xfrm>
            <a:off x="4681728" y="3913632"/>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99.96</a:t>
            </a:r>
            <a:endParaRPr lang="en-US" sz="850" dirty="0"/>
          </a:p>
        </p:txBody>
      </p:sp>
      <p:sp>
        <p:nvSpPr>
          <p:cNvPr id="109" name="Text 107"/>
          <p:cNvSpPr/>
          <p:nvPr/>
        </p:nvSpPr>
        <p:spPr>
          <a:xfrm>
            <a:off x="5925312" y="3913632"/>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110" name="Shape 108"/>
          <p:cNvSpPr/>
          <p:nvPr/>
        </p:nvSpPr>
        <p:spPr>
          <a:xfrm>
            <a:off x="7132320" y="3950208"/>
            <a:ext cx="1737360" cy="228600"/>
          </a:xfrm>
          <a:prstGeom prst="rect">
            <a:avLst>
              <a:gd name="adj" fmla="val 16000"/>
            </a:avLst>
          </a:prstGeom>
          <a:solidFill>
            <a:srgbClr val="D97706">
              <a:alpha val="18000"/>
            </a:srgbClr>
          </a:solidFill>
          <a:ln w="6350">
            <a:solidFill>
              <a:srgbClr val="D97706"/>
            </a:solidFill>
            <a:prstDash val="solid"/>
          </a:ln>
        </p:spPr>
      </p:sp>
      <p:sp>
        <p:nvSpPr>
          <p:cNvPr id="111" name="Text 109"/>
          <p:cNvSpPr/>
          <p:nvPr/>
        </p:nvSpPr>
        <p:spPr>
          <a:xfrm>
            <a:off x="7132320" y="3950208"/>
            <a:ext cx="1737360" cy="228600"/>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SUSPECT</a:t>
            </a:r>
            <a:endParaRPr lang="en-US" sz="750" dirty="0"/>
          </a:p>
        </p:txBody>
      </p:sp>
      <p:sp>
        <p:nvSpPr>
          <p:cNvPr id="112" name="Shape 110"/>
          <p:cNvSpPr/>
          <p:nvPr/>
        </p:nvSpPr>
        <p:spPr>
          <a:xfrm>
            <a:off x="182880" y="4215384"/>
            <a:ext cx="8778240" cy="301752"/>
          </a:xfrm>
          <a:prstGeom prst="rect">
            <a:avLst/>
          </a:prstGeom>
          <a:solidFill>
            <a:srgbClr val="F8FAFC"/>
          </a:solidFill>
          <a:ln w="5080">
            <a:solidFill>
              <a:srgbClr val="CBD5E1"/>
            </a:solidFill>
            <a:prstDash val="solid"/>
          </a:ln>
        </p:spPr>
      </p:sp>
      <p:sp>
        <p:nvSpPr>
          <p:cNvPr id="113" name="Text 111"/>
          <p:cNvSpPr/>
          <p:nvPr/>
        </p:nvSpPr>
        <p:spPr>
          <a:xfrm>
            <a:off x="182880" y="4215384"/>
            <a:ext cx="1005840" cy="301752"/>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Visibility</a:t>
            </a:r>
            <a:endParaRPr lang="en-US" sz="850" dirty="0"/>
          </a:p>
        </p:txBody>
      </p:sp>
      <p:sp>
        <p:nvSpPr>
          <p:cNvPr id="114" name="Text 112"/>
          <p:cNvSpPr/>
          <p:nvPr/>
        </p:nvSpPr>
        <p:spPr>
          <a:xfrm>
            <a:off x="1234440" y="4215384"/>
            <a:ext cx="1389888" cy="301752"/>
          </a:xfrm>
          <a:prstGeom prst="rect">
            <a:avLst/>
          </a:prstGeom>
          <a:noFill/>
          <a:ln/>
        </p:spPr>
        <p:txBody>
          <a:bodyPr wrap="square" lIns="38100" tIns="38100" rIns="38100" bIns="38100"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COFW</a:t>
            </a:r>
            <a:endParaRPr lang="en-US" sz="750" dirty="0"/>
          </a:p>
        </p:txBody>
      </p:sp>
      <p:sp>
        <p:nvSpPr>
          <p:cNvPr id="115" name="Text 113"/>
          <p:cNvSpPr/>
          <p:nvPr/>
        </p:nvSpPr>
        <p:spPr>
          <a:xfrm>
            <a:off x="2670048" y="4215384"/>
            <a:ext cx="841248" cy="301752"/>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Recall@P80 (%)</a:t>
            </a:r>
            <a:endParaRPr lang="en-US" sz="800" dirty="0"/>
          </a:p>
        </p:txBody>
      </p:sp>
      <p:sp>
        <p:nvSpPr>
          <p:cNvPr id="116" name="Text 114"/>
          <p:cNvSpPr/>
          <p:nvPr/>
        </p:nvSpPr>
        <p:spPr>
          <a:xfrm>
            <a:off x="3547872" y="4215384"/>
            <a:ext cx="1078992"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72.56</a:t>
            </a:r>
            <a:endParaRPr lang="en-US" sz="850" dirty="0"/>
          </a:p>
        </p:txBody>
      </p:sp>
      <p:sp>
        <p:nvSpPr>
          <p:cNvPr id="117" name="Text 115"/>
          <p:cNvSpPr/>
          <p:nvPr/>
        </p:nvSpPr>
        <p:spPr>
          <a:xfrm>
            <a:off x="4681728" y="4215384"/>
            <a:ext cx="1207008" cy="301752"/>
          </a:xfrm>
          <a:prstGeom prst="rect">
            <a:avLst/>
          </a:prstGeom>
          <a:noFill/>
          <a:ln/>
        </p:spPr>
        <p:txBody>
          <a:bodyPr wrap="square" lIns="38100" tIns="38100" rIns="38100" bIns="3810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99.25</a:t>
            </a:r>
            <a:endParaRPr lang="en-US" sz="850" dirty="0"/>
          </a:p>
        </p:txBody>
      </p:sp>
      <p:sp>
        <p:nvSpPr>
          <p:cNvPr id="118" name="Text 116"/>
          <p:cNvSpPr/>
          <p:nvPr/>
        </p:nvSpPr>
        <p:spPr>
          <a:xfrm>
            <a:off x="5925312" y="4215384"/>
            <a:ext cx="1115568" cy="301752"/>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+26.7pp</a:t>
            </a:r>
            <a:endParaRPr lang="en-US" sz="850" dirty="0"/>
          </a:p>
        </p:txBody>
      </p:sp>
      <p:sp>
        <p:nvSpPr>
          <p:cNvPr id="119" name="Shape 117"/>
          <p:cNvSpPr/>
          <p:nvPr/>
        </p:nvSpPr>
        <p:spPr>
          <a:xfrm>
            <a:off x="7132320" y="4251960"/>
            <a:ext cx="1737360" cy="228600"/>
          </a:xfrm>
          <a:prstGeom prst="rect">
            <a:avLst>
              <a:gd name="adj" fmla="val 16000"/>
            </a:avLst>
          </a:prstGeom>
          <a:solidFill>
            <a:srgbClr val="D97706">
              <a:alpha val="18000"/>
            </a:srgbClr>
          </a:solidFill>
          <a:ln w="6350">
            <a:solidFill>
              <a:srgbClr val="D97706"/>
            </a:solidFill>
            <a:prstDash val="solid"/>
          </a:ln>
        </p:spPr>
      </p:sp>
      <p:sp>
        <p:nvSpPr>
          <p:cNvPr id="120" name="Text 118"/>
          <p:cNvSpPr/>
          <p:nvPr/>
        </p:nvSpPr>
        <p:spPr>
          <a:xfrm>
            <a:off x="7132320" y="4251960"/>
            <a:ext cx="1737360" cy="228600"/>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SUSPECT</a:t>
            </a:r>
            <a:endParaRPr lang="en-US" sz="750" dirty="0"/>
          </a:p>
        </p:txBody>
      </p:sp>
      <p:sp>
        <p:nvSpPr>
          <p:cNvPr id="121" name="Text 119"/>
          <p:cNvSpPr/>
          <p:nvPr/>
        </p:nvSpPr>
        <p:spPr>
          <a:xfrm>
            <a:off x="182880" y="4864608"/>
            <a:ext cx="8778240" cy="201168"/>
          </a:xfrm>
          <a:prstGeom prst="rect">
            <a:avLst/>
          </a:prstGeom>
          <a:noFill/>
          <a:ln/>
        </p:spPr>
        <p:txBody>
          <a:bodyPr wrap="square" lIns="0" tIns="0" rIns="0" bIns="0"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SUSPECT = value exceeds paper by large margin, likely class imbalance or metric implementation issue.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sp>
      <p:sp>
        <p:nvSpPr>
          <p:cNvPr id="3" name="Text 1"/>
          <p:cNvSpPr/>
          <p:nvPr/>
        </p:nvSpPr>
        <p:spPr>
          <a:xfrm>
            <a:off x="320040" y="0"/>
            <a:ext cx="64008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Interpreting the Gaps</a:t>
            </a:r>
            <a:endParaRPr lang="en-US" sz="2000" dirty="0"/>
          </a:p>
        </p:txBody>
      </p:sp>
      <p:sp>
        <p:nvSpPr>
          <p:cNvPr id="4" name="Text 2"/>
          <p:cNvSpPr/>
          <p:nvPr/>
        </p:nvSpPr>
        <p:spPr>
          <a:xfrm>
            <a:off x="6583680" y="0"/>
            <a:ext cx="2377440" cy="502920"/>
          </a:xfrm>
          <a:prstGeom prst="rect">
            <a:avLst/>
          </a:prstGeom>
          <a:noFill/>
          <a:ln/>
        </p:spPr>
        <p:txBody>
          <a:bodyPr wrap="square" lIns="0" tIns="0" rIns="0" bIns="0" rtlCol="0" anchor="ctr"/>
          <a:lstStyle/>
          <a:p>
            <a:pPr algn="r" indent="0" marL="0">
              <a:buNone/>
            </a:pPr>
            <a:r>
              <a:rPr lang="en-US" sz="1000" dirty="0">
                <a:solidFill>
                  <a:srgbClr val="7DD3D2"/>
                </a:solidFill>
                <a:latin typeface="Calibri" pitchFamily="34" charset="0"/>
                <a:ea typeface="Calibri" pitchFamily="34" charset="-122"/>
                <a:cs typeface="Calibri" pitchFamily="34" charset="-120"/>
              </a:rPr>
              <a:t>Three failure modes</a:t>
            </a:r>
            <a:endParaRPr lang="en-US" sz="1000" dirty="0"/>
          </a:p>
        </p:txBody>
      </p:sp>
      <p:sp>
        <p:nvSpPr>
          <p:cNvPr id="5" name="Shape 3"/>
          <p:cNvSpPr/>
          <p:nvPr/>
        </p:nvSpPr>
        <p:spPr>
          <a:xfrm>
            <a:off x="182880" y="594360"/>
            <a:ext cx="2852928" cy="4343400"/>
          </a:xfrm>
          <a:prstGeom prst="rect">
            <a:avLst>
              <a:gd name="adj" fmla="val 2564"/>
            </a:avLst>
          </a:prstGeom>
          <a:solidFill>
            <a:srgbClr val="F0FDF4"/>
          </a:solidFill>
          <a:ln w="12700">
            <a:solidFill>
              <a:srgbClr val="16A34A"/>
            </a:solidFill>
            <a:prstDash val="solid"/>
          </a:ln>
        </p:spPr>
      </p:sp>
      <p:sp>
        <p:nvSpPr>
          <p:cNvPr id="6" name="Shape 4"/>
          <p:cNvSpPr/>
          <p:nvPr/>
        </p:nvSpPr>
        <p:spPr>
          <a:xfrm>
            <a:off x="182880" y="594360"/>
            <a:ext cx="2852928" cy="384048"/>
          </a:xfrm>
          <a:prstGeom prst="rect">
            <a:avLst>
              <a:gd name="adj" fmla="val 9524"/>
            </a:avLst>
          </a:prstGeom>
          <a:solidFill>
            <a:srgbClr val="16A34A"/>
          </a:solidFill>
          <a:ln w="12700">
            <a:solidFill>
              <a:srgbClr val="16A34A"/>
            </a:solidFill>
            <a:prstDash val="solid"/>
          </a:ln>
        </p:spPr>
      </p:sp>
      <p:sp>
        <p:nvSpPr>
          <p:cNvPr id="7" name="Text 5"/>
          <p:cNvSpPr/>
          <p:nvPr/>
        </p:nvSpPr>
        <p:spPr>
          <a:xfrm>
            <a:off x="182880" y="594360"/>
            <a:ext cx="2852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 — Near Match</a:t>
            </a:r>
            <a:endParaRPr lang="en-US" sz="1200" dirty="0"/>
          </a:p>
        </p:txBody>
      </p:sp>
      <p:sp>
        <p:nvSpPr>
          <p:cNvPr id="8" name="Text 6"/>
          <p:cNvSpPr/>
          <p:nvPr/>
        </p:nvSpPr>
        <p:spPr>
          <a:xfrm>
            <a:off x="292608" y="1042416"/>
            <a:ext cx="2633472" cy="201168"/>
          </a:xfrm>
          <a:prstGeom prst="rect">
            <a:avLst/>
          </a:prstGeom>
          <a:noFill/>
          <a:ln/>
        </p:spPr>
        <p:txBody>
          <a:bodyPr wrap="square" lIns="0" tIns="0" rIns="0" bIns="0" rtlCol="0" anchor="ctr"/>
          <a:lstStyle/>
          <a:p>
            <a:pPr indent="0" marL="0">
              <a:buNone/>
            </a:pPr>
            <a:r>
              <a:rPr lang="en-US" sz="900" b="1" dirty="0">
                <a:solidFill>
                  <a:srgbClr val="16A34A"/>
                </a:solidFill>
                <a:latin typeface="Calibri" pitchFamily="34" charset="0"/>
                <a:ea typeface="Calibri" pitchFamily="34" charset="-122"/>
                <a:cs typeface="Calibri" pitchFamily="34" charset="-120"/>
              </a:rPr>
              <a:t>Tasks</a:t>
            </a:r>
            <a:endParaRPr lang="en-US" sz="900" dirty="0"/>
          </a:p>
        </p:txBody>
      </p:sp>
      <p:sp>
        <p:nvSpPr>
          <p:cNvPr id="9" name="Shape 7"/>
          <p:cNvSpPr/>
          <p:nvPr/>
        </p:nvSpPr>
        <p:spPr>
          <a:xfrm>
            <a:off x="292608" y="1261872"/>
            <a:ext cx="2633472" cy="822960"/>
          </a:xfrm>
          <a:prstGeom prst="rect">
            <a:avLst>
              <a:gd name="adj" fmla="val 4444"/>
            </a:avLst>
          </a:prstGeom>
          <a:solidFill>
            <a:srgbClr val="16A34A">
              <a:alpha val="10000"/>
            </a:srgbClr>
          </a:solidFill>
          <a:ln w="5080">
            <a:solidFill>
              <a:srgbClr val="16A34A"/>
            </a:solidFill>
            <a:prstDash val="solid"/>
          </a:ln>
        </p:spPr>
      </p:sp>
      <p:sp>
        <p:nvSpPr>
          <p:cNvPr id="10" name="Text 8"/>
          <p:cNvSpPr/>
          <p:nvPr/>
        </p:nvSpPr>
        <p:spPr>
          <a:xfrm>
            <a:off x="347472" y="1298448"/>
            <a:ext cx="2523744" cy="749808"/>
          </a:xfrm>
          <a:prstGeom prst="rect">
            <a:avLst/>
          </a:prstGeom>
          <a:noFill/>
          <a:ln/>
        </p:spPr>
        <p:txBody>
          <a:bodyPr wrap="square" lIns="0" tIns="0" rIns="0" bIns="0" rtlCol="0" anchor="ctr"/>
          <a:lstStyle/>
          <a:p>
            <a:pPr indent="0" marL="0">
              <a:buNone/>
            </a:pPr>
            <a:r>
              <a:rPr lang="en-US" sz="900" dirty="0">
                <a:solidFill>
                  <a:srgbClr val="0D1B2A"/>
                </a:solidFill>
                <a:latin typeface="Calibri" pitchFamily="34" charset="0"/>
                <a:ea typeface="Calibri" pitchFamily="34" charset="-122"/>
                <a:cs typeface="Calibri" pitchFamily="34" charset="-120"/>
              </a:rPr>
              <a:t>Attribute (CelebA): 91.27% vs 91.83%</a:t>
            </a:r>
            <a:endParaRPr lang="en-US" sz="900" dirty="0"/>
          </a:p>
          <a:p>
            <a:pPr indent="0" marL="0">
              <a:buNone/>
            </a:pPr>
            <a:r>
              <a:rPr lang="en-US" sz="900" dirty="0">
                <a:solidFill>
                  <a:srgbClr val="0D1B2A"/>
                </a:solidFill>
                <a:latin typeface="Calibri" pitchFamily="34" charset="0"/>
                <a:ea typeface="Calibri" pitchFamily="34" charset="-122"/>
                <a:cs typeface="Calibri" pitchFamily="34" charset="-120"/>
              </a:rPr>
              <a:t>Segmentation: 85.91% vs 92.01%</a:t>
            </a:r>
            <a:endParaRPr lang="en-US" sz="900" dirty="0"/>
          </a:p>
        </p:txBody>
      </p:sp>
      <p:sp>
        <p:nvSpPr>
          <p:cNvPr id="11" name="Text 9"/>
          <p:cNvSpPr/>
          <p:nvPr/>
        </p:nvSpPr>
        <p:spPr>
          <a:xfrm>
            <a:off x="292608" y="2176272"/>
            <a:ext cx="2633472" cy="201168"/>
          </a:xfrm>
          <a:prstGeom prst="rect">
            <a:avLst/>
          </a:prstGeom>
          <a:noFill/>
          <a:ln/>
        </p:spPr>
        <p:txBody>
          <a:bodyPr wrap="square" lIns="0" tIns="0" rIns="0" bIns="0" rtlCol="0" anchor="ctr"/>
          <a:lstStyle/>
          <a:p>
            <a:pPr indent="0" marL="0">
              <a:buNone/>
            </a:pPr>
            <a:r>
              <a:rPr lang="en-US" sz="900" b="1" dirty="0">
                <a:solidFill>
                  <a:srgbClr val="16A34A"/>
                </a:solidFill>
                <a:latin typeface="Calibri" pitchFamily="34" charset="0"/>
                <a:ea typeface="Calibri" pitchFamily="34" charset="-122"/>
                <a:cs typeface="Calibri" pitchFamily="34" charset="-120"/>
              </a:rPr>
              <a:t>Root Cause</a:t>
            </a:r>
            <a:endParaRPr lang="en-US" sz="900" dirty="0"/>
          </a:p>
        </p:txBody>
      </p:sp>
      <p:sp>
        <p:nvSpPr>
          <p:cNvPr id="12" name="Text 10"/>
          <p:cNvSpPr/>
          <p:nvPr/>
        </p:nvSpPr>
        <p:spPr>
          <a:xfrm>
            <a:off x="292608" y="2395728"/>
            <a:ext cx="2633472" cy="1097280"/>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Pipeline is correct. 6pp seg gap likely from MLP landmark head substitute affecting shared face representation. Attribute near-perfect — robust task head.</a:t>
            </a:r>
            <a:endParaRPr lang="en-US" sz="850" dirty="0"/>
          </a:p>
        </p:txBody>
      </p:sp>
      <p:sp>
        <p:nvSpPr>
          <p:cNvPr id="13" name="Text 11"/>
          <p:cNvSpPr/>
          <p:nvPr/>
        </p:nvSpPr>
        <p:spPr>
          <a:xfrm>
            <a:off x="292608" y="3566160"/>
            <a:ext cx="2633472" cy="201168"/>
          </a:xfrm>
          <a:prstGeom prst="rect">
            <a:avLst/>
          </a:prstGeom>
          <a:noFill/>
          <a:ln/>
        </p:spPr>
        <p:txBody>
          <a:bodyPr wrap="square" lIns="0" tIns="0" rIns="0" bIns="0" rtlCol="0" anchor="ctr"/>
          <a:lstStyle/>
          <a:p>
            <a:pPr indent="0" marL="0">
              <a:buNone/>
            </a:pPr>
            <a:r>
              <a:rPr lang="en-US" sz="900" b="1" dirty="0">
                <a:solidFill>
                  <a:srgbClr val="16A34A"/>
                </a:solidFill>
                <a:latin typeface="Calibri" pitchFamily="34" charset="0"/>
                <a:ea typeface="Calibri" pitchFamily="34" charset="-122"/>
                <a:cs typeface="Calibri" pitchFamily="34" charset="-120"/>
              </a:rPr>
              <a:t>Implication</a:t>
            </a:r>
            <a:endParaRPr lang="en-US" sz="900" dirty="0"/>
          </a:p>
        </p:txBody>
      </p:sp>
      <p:sp>
        <p:nvSpPr>
          <p:cNvPr id="14" name="Shape 12"/>
          <p:cNvSpPr/>
          <p:nvPr/>
        </p:nvSpPr>
        <p:spPr>
          <a:xfrm>
            <a:off x="292608" y="3785616"/>
            <a:ext cx="2633472" cy="914400"/>
          </a:xfrm>
          <a:prstGeom prst="rect">
            <a:avLst>
              <a:gd name="adj" fmla="val 4000"/>
            </a:avLst>
          </a:prstGeom>
          <a:solidFill>
            <a:srgbClr val="16A34A">
              <a:alpha val="12000"/>
            </a:srgbClr>
          </a:solidFill>
          <a:ln w="5080">
            <a:solidFill>
              <a:srgbClr val="16A34A"/>
            </a:solidFill>
            <a:prstDash val="solid"/>
          </a:ln>
        </p:spPr>
      </p:sp>
      <p:sp>
        <p:nvSpPr>
          <p:cNvPr id="15" name="Text 13"/>
          <p:cNvSpPr/>
          <p:nvPr/>
        </p:nvSpPr>
        <p:spPr>
          <a:xfrm>
            <a:off x="347472" y="3822192"/>
            <a:ext cx="2523744" cy="822960"/>
          </a:xfrm>
          <a:prstGeom prst="rect">
            <a:avLst/>
          </a:prstGeom>
          <a:noFill/>
          <a:ln/>
        </p:spPr>
        <p:txBody>
          <a:bodyPr wrap="square" lIns="0" tIns="0" rIns="0" bIns="0" rtlCol="0" anchor="ctr"/>
          <a:lstStyle/>
          <a:p>
            <a:pPr indent="0" marL="0">
              <a:buNone/>
            </a:pPr>
            <a:r>
              <a:rPr lang="en-US" sz="850" dirty="0">
                <a:solidFill>
                  <a:srgbClr val="0D1B2A"/>
                </a:solidFill>
                <a:latin typeface="Calibri" pitchFamily="34" charset="0"/>
                <a:ea typeface="Calibri" pitchFamily="34" charset="-122"/>
                <a:cs typeface="Calibri" pitchFamily="34" charset="-120"/>
              </a:rPr>
              <a:t>Our training loop, loss implementation, and data pipeline are validated.</a:t>
            </a:r>
            <a:endParaRPr lang="en-US" sz="850" dirty="0"/>
          </a:p>
        </p:txBody>
      </p:sp>
      <p:sp>
        <p:nvSpPr>
          <p:cNvPr id="16" name="Shape 14"/>
          <p:cNvSpPr/>
          <p:nvPr/>
        </p:nvSpPr>
        <p:spPr>
          <a:xfrm>
            <a:off x="3172968" y="594360"/>
            <a:ext cx="2852928" cy="4343400"/>
          </a:xfrm>
          <a:prstGeom prst="rect">
            <a:avLst>
              <a:gd name="adj" fmla="val 2564"/>
            </a:avLst>
          </a:prstGeom>
          <a:solidFill>
            <a:srgbClr val="FFFBEB"/>
          </a:solidFill>
          <a:ln w="12700">
            <a:solidFill>
              <a:srgbClr val="D97706"/>
            </a:solidFill>
            <a:prstDash val="solid"/>
          </a:ln>
        </p:spPr>
      </p:sp>
      <p:sp>
        <p:nvSpPr>
          <p:cNvPr id="17" name="Shape 15"/>
          <p:cNvSpPr/>
          <p:nvPr/>
        </p:nvSpPr>
        <p:spPr>
          <a:xfrm>
            <a:off x="3172968" y="594360"/>
            <a:ext cx="2852928" cy="384048"/>
          </a:xfrm>
          <a:prstGeom prst="rect">
            <a:avLst>
              <a:gd name="adj" fmla="val 9524"/>
            </a:avLst>
          </a:prstGeom>
          <a:solidFill>
            <a:srgbClr val="D97706"/>
          </a:solidFill>
          <a:ln w="12700">
            <a:solidFill>
              <a:srgbClr val="D97706"/>
            </a:solidFill>
            <a:prstDash val="solid"/>
          </a:ln>
        </p:spPr>
      </p:sp>
      <p:sp>
        <p:nvSpPr>
          <p:cNvPr id="18" name="Text 16"/>
          <p:cNvSpPr/>
          <p:nvPr/>
        </p:nvSpPr>
        <p:spPr>
          <a:xfrm>
            <a:off x="3172968" y="594360"/>
            <a:ext cx="2852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 — Metric / Unit Mismatch</a:t>
            </a:r>
            <a:endParaRPr lang="en-US" sz="1200" dirty="0"/>
          </a:p>
        </p:txBody>
      </p:sp>
      <p:sp>
        <p:nvSpPr>
          <p:cNvPr id="19" name="Text 17"/>
          <p:cNvSpPr/>
          <p:nvPr/>
        </p:nvSpPr>
        <p:spPr>
          <a:xfrm>
            <a:off x="3282696" y="1042416"/>
            <a:ext cx="2633472" cy="201168"/>
          </a:xfrm>
          <a:prstGeom prst="rect">
            <a:avLst/>
          </a:prstGeom>
          <a:noFill/>
          <a:ln/>
        </p:spPr>
        <p:txBody>
          <a:bodyPr wrap="square" lIns="0" tIns="0" rIns="0" bIns="0" rtlCol="0" anchor="ctr"/>
          <a:lstStyle/>
          <a:p>
            <a:pPr indent="0" marL="0">
              <a:buNone/>
            </a:pPr>
            <a:r>
              <a:rPr lang="en-US" sz="900" b="1" dirty="0">
                <a:solidFill>
                  <a:srgbClr val="D97706"/>
                </a:solidFill>
                <a:latin typeface="Calibri" pitchFamily="34" charset="0"/>
                <a:ea typeface="Calibri" pitchFamily="34" charset="-122"/>
                <a:cs typeface="Calibri" pitchFamily="34" charset="-120"/>
              </a:rPr>
              <a:t>Tasks</a:t>
            </a:r>
            <a:endParaRPr lang="en-US" sz="900" dirty="0"/>
          </a:p>
        </p:txBody>
      </p:sp>
      <p:sp>
        <p:nvSpPr>
          <p:cNvPr id="20" name="Shape 18"/>
          <p:cNvSpPr/>
          <p:nvPr/>
        </p:nvSpPr>
        <p:spPr>
          <a:xfrm>
            <a:off x="3282696" y="1261872"/>
            <a:ext cx="2633472" cy="822960"/>
          </a:xfrm>
          <a:prstGeom prst="rect">
            <a:avLst>
              <a:gd name="adj" fmla="val 4444"/>
            </a:avLst>
          </a:prstGeom>
          <a:solidFill>
            <a:srgbClr val="D97706">
              <a:alpha val="10000"/>
            </a:srgbClr>
          </a:solidFill>
          <a:ln w="5080">
            <a:solidFill>
              <a:srgbClr val="D97706"/>
            </a:solidFill>
            <a:prstDash val="solid"/>
          </a:ln>
        </p:spPr>
      </p:sp>
      <p:sp>
        <p:nvSpPr>
          <p:cNvPr id="21" name="Text 19"/>
          <p:cNvSpPr/>
          <p:nvPr/>
        </p:nvSpPr>
        <p:spPr>
          <a:xfrm>
            <a:off x="3337560" y="1298448"/>
            <a:ext cx="2523744" cy="749808"/>
          </a:xfrm>
          <a:prstGeom prst="rect">
            <a:avLst/>
          </a:prstGeom>
          <a:noFill/>
          <a:ln/>
        </p:spPr>
        <p:txBody>
          <a:bodyPr wrap="square" lIns="0" tIns="0" rIns="0" bIns="0" rtlCol="0" anchor="ctr"/>
          <a:lstStyle/>
          <a:p>
            <a:pPr indent="0" marL="0">
              <a:buNone/>
            </a:pPr>
            <a:r>
              <a:rPr lang="en-US" sz="900" dirty="0">
                <a:solidFill>
                  <a:srgbClr val="0D1B2A"/>
                </a:solidFill>
                <a:latin typeface="Calibri" pitchFamily="34" charset="0"/>
                <a:ea typeface="Calibri" pitchFamily="34" charset="-122"/>
                <a:cs typeface="Calibri" pitchFamily="34" charset="-120"/>
              </a:rPr>
              <a:t>Landmark NME: 0.0117 (raw) vs 4.67%</a:t>
            </a:r>
            <a:endParaRPr lang="en-US" sz="900" dirty="0"/>
          </a:p>
          <a:p>
            <a:pPr indent="0" marL="0">
              <a:buNone/>
            </a:pPr>
            <a:r>
              <a:rPr lang="en-US" sz="900" dirty="0">
                <a:solidFill>
                  <a:srgbClr val="0D1B2A"/>
                </a:solidFill>
                <a:latin typeface="Calibri" pitchFamily="34" charset="0"/>
                <a:ea typeface="Calibri" pitchFamily="34" charset="-122"/>
                <a:cs typeface="Calibri" pitchFamily="34" charset="-120"/>
              </a:rPr>
              <a:t>Headpose MAE: 0.379 (raw) vs 3.52°</a:t>
            </a:r>
            <a:endParaRPr lang="en-US" sz="900" dirty="0"/>
          </a:p>
        </p:txBody>
      </p:sp>
      <p:sp>
        <p:nvSpPr>
          <p:cNvPr id="22" name="Text 20"/>
          <p:cNvSpPr/>
          <p:nvPr/>
        </p:nvSpPr>
        <p:spPr>
          <a:xfrm>
            <a:off x="3282696" y="2176272"/>
            <a:ext cx="2633472" cy="201168"/>
          </a:xfrm>
          <a:prstGeom prst="rect">
            <a:avLst/>
          </a:prstGeom>
          <a:noFill/>
          <a:ln/>
        </p:spPr>
        <p:txBody>
          <a:bodyPr wrap="square" lIns="0" tIns="0" rIns="0" bIns="0" rtlCol="0" anchor="ctr"/>
          <a:lstStyle/>
          <a:p>
            <a:pPr indent="0" marL="0">
              <a:buNone/>
            </a:pPr>
            <a:r>
              <a:rPr lang="en-US" sz="900" b="1" dirty="0">
                <a:solidFill>
                  <a:srgbClr val="D97706"/>
                </a:solidFill>
                <a:latin typeface="Calibri" pitchFamily="34" charset="0"/>
                <a:ea typeface="Calibri" pitchFamily="34" charset="-122"/>
                <a:cs typeface="Calibri" pitchFamily="34" charset="-120"/>
              </a:rPr>
              <a:t>Root Cause</a:t>
            </a:r>
            <a:endParaRPr lang="en-US" sz="900" dirty="0"/>
          </a:p>
        </p:txBody>
      </p:sp>
      <p:sp>
        <p:nvSpPr>
          <p:cNvPr id="23" name="Text 21"/>
          <p:cNvSpPr/>
          <p:nvPr/>
        </p:nvSpPr>
        <p:spPr>
          <a:xfrm>
            <a:off x="3282696" y="2395728"/>
            <a:ext cx="2633472" cy="1097280"/>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Script outputs raw values in different units than the paper reports. Landmark: fraction vs. %. Headpose: radians vs. degrees. After normalization, both may match.</a:t>
            </a:r>
            <a:endParaRPr lang="en-US" sz="850" dirty="0"/>
          </a:p>
        </p:txBody>
      </p:sp>
      <p:sp>
        <p:nvSpPr>
          <p:cNvPr id="24" name="Text 22"/>
          <p:cNvSpPr/>
          <p:nvPr/>
        </p:nvSpPr>
        <p:spPr>
          <a:xfrm>
            <a:off x="3282696" y="3566160"/>
            <a:ext cx="2633472" cy="201168"/>
          </a:xfrm>
          <a:prstGeom prst="rect">
            <a:avLst/>
          </a:prstGeom>
          <a:noFill/>
          <a:ln/>
        </p:spPr>
        <p:txBody>
          <a:bodyPr wrap="square" lIns="0" tIns="0" rIns="0" bIns="0" rtlCol="0" anchor="ctr"/>
          <a:lstStyle/>
          <a:p>
            <a:pPr indent="0" marL="0">
              <a:buNone/>
            </a:pPr>
            <a:r>
              <a:rPr lang="en-US" sz="900" b="1" dirty="0">
                <a:solidFill>
                  <a:srgbClr val="D97706"/>
                </a:solidFill>
                <a:latin typeface="Calibri" pitchFamily="34" charset="0"/>
                <a:ea typeface="Calibri" pitchFamily="34" charset="-122"/>
                <a:cs typeface="Calibri" pitchFamily="34" charset="-120"/>
              </a:rPr>
              <a:t>Implication</a:t>
            </a:r>
            <a:endParaRPr lang="en-US" sz="900" dirty="0"/>
          </a:p>
        </p:txBody>
      </p:sp>
      <p:sp>
        <p:nvSpPr>
          <p:cNvPr id="25" name="Shape 23"/>
          <p:cNvSpPr/>
          <p:nvPr/>
        </p:nvSpPr>
        <p:spPr>
          <a:xfrm>
            <a:off x="3282696" y="3785616"/>
            <a:ext cx="2633472" cy="914400"/>
          </a:xfrm>
          <a:prstGeom prst="rect">
            <a:avLst>
              <a:gd name="adj" fmla="val 4000"/>
            </a:avLst>
          </a:prstGeom>
          <a:solidFill>
            <a:srgbClr val="D97706">
              <a:alpha val="12000"/>
            </a:srgbClr>
          </a:solidFill>
          <a:ln w="5080">
            <a:solidFill>
              <a:srgbClr val="D97706"/>
            </a:solidFill>
            <a:prstDash val="solid"/>
          </a:ln>
        </p:spPr>
      </p:sp>
      <p:sp>
        <p:nvSpPr>
          <p:cNvPr id="26" name="Text 24"/>
          <p:cNvSpPr/>
          <p:nvPr/>
        </p:nvSpPr>
        <p:spPr>
          <a:xfrm>
            <a:off x="3337560" y="3822192"/>
            <a:ext cx="2523744" cy="822960"/>
          </a:xfrm>
          <a:prstGeom prst="rect">
            <a:avLst/>
          </a:prstGeom>
          <a:noFill/>
          <a:ln/>
        </p:spPr>
        <p:txBody>
          <a:bodyPr wrap="square" lIns="0" tIns="0" rIns="0" bIns="0" rtlCol="0" anchor="ctr"/>
          <a:lstStyle/>
          <a:p>
            <a:pPr indent="0" marL="0">
              <a:buNone/>
            </a:pPr>
            <a:r>
              <a:rPr lang="en-US" sz="850" dirty="0">
                <a:solidFill>
                  <a:srgbClr val="0D1B2A"/>
                </a:solidFill>
                <a:latin typeface="Calibri" pitchFamily="34" charset="0"/>
                <a:ea typeface="Calibri" pitchFamily="34" charset="-122"/>
                <a:cs typeface="Calibri" pitchFamily="34" charset="-120"/>
              </a:rPr>
              <a:t>Metric under-documentation is a reproducibility failure independent of model quality.</a:t>
            </a:r>
            <a:endParaRPr lang="en-US" sz="850" dirty="0"/>
          </a:p>
        </p:txBody>
      </p:sp>
      <p:sp>
        <p:nvSpPr>
          <p:cNvPr id="27" name="Shape 25"/>
          <p:cNvSpPr/>
          <p:nvPr/>
        </p:nvSpPr>
        <p:spPr>
          <a:xfrm>
            <a:off x="6163056" y="594360"/>
            <a:ext cx="2852928" cy="4343400"/>
          </a:xfrm>
          <a:prstGeom prst="rect">
            <a:avLst>
              <a:gd name="adj" fmla="val 2564"/>
            </a:avLst>
          </a:prstGeom>
          <a:solidFill>
            <a:srgbClr val="FEF2F2"/>
          </a:solidFill>
          <a:ln w="12700">
            <a:solidFill>
              <a:srgbClr val="DC2626"/>
            </a:solidFill>
            <a:prstDash val="solid"/>
          </a:ln>
        </p:spPr>
      </p:sp>
      <p:sp>
        <p:nvSpPr>
          <p:cNvPr id="28" name="Shape 26"/>
          <p:cNvSpPr/>
          <p:nvPr/>
        </p:nvSpPr>
        <p:spPr>
          <a:xfrm>
            <a:off x="6163056" y="594360"/>
            <a:ext cx="2852928" cy="384048"/>
          </a:xfrm>
          <a:prstGeom prst="rect">
            <a:avLst>
              <a:gd name="adj" fmla="val 9524"/>
            </a:avLst>
          </a:prstGeom>
          <a:solidFill>
            <a:srgbClr val="DC2626"/>
          </a:solidFill>
          <a:ln w="12700">
            <a:solidFill>
              <a:srgbClr val="DC2626"/>
            </a:solidFill>
            <a:prstDash val="solid"/>
          </a:ln>
        </p:spPr>
      </p:sp>
      <p:sp>
        <p:nvSpPr>
          <p:cNvPr id="29" name="Text 27"/>
          <p:cNvSpPr/>
          <p:nvPr/>
        </p:nvSpPr>
        <p:spPr>
          <a:xfrm>
            <a:off x="6163056" y="594360"/>
            <a:ext cx="2852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 — Genuine Training Failure</a:t>
            </a:r>
            <a:endParaRPr lang="en-US" sz="1200" dirty="0"/>
          </a:p>
        </p:txBody>
      </p:sp>
      <p:sp>
        <p:nvSpPr>
          <p:cNvPr id="30" name="Text 28"/>
          <p:cNvSpPr/>
          <p:nvPr/>
        </p:nvSpPr>
        <p:spPr>
          <a:xfrm>
            <a:off x="6272784" y="1042416"/>
            <a:ext cx="2633472" cy="201168"/>
          </a:xfrm>
          <a:prstGeom prst="rect">
            <a:avLst/>
          </a:prstGeom>
          <a:noFill/>
          <a:ln/>
        </p:spPr>
        <p:txBody>
          <a:bodyPr wrap="square" lIns="0" tIns="0" rIns="0" bIns="0"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Tasks</a:t>
            </a:r>
            <a:endParaRPr lang="en-US" sz="900" dirty="0"/>
          </a:p>
        </p:txBody>
      </p:sp>
      <p:sp>
        <p:nvSpPr>
          <p:cNvPr id="31" name="Shape 29"/>
          <p:cNvSpPr/>
          <p:nvPr/>
        </p:nvSpPr>
        <p:spPr>
          <a:xfrm>
            <a:off x="6272784" y="1261872"/>
            <a:ext cx="2633472" cy="822960"/>
          </a:xfrm>
          <a:prstGeom prst="rect">
            <a:avLst>
              <a:gd name="adj" fmla="val 4444"/>
            </a:avLst>
          </a:prstGeom>
          <a:solidFill>
            <a:srgbClr val="DC2626">
              <a:alpha val="10000"/>
            </a:srgbClr>
          </a:solidFill>
          <a:ln w="5080">
            <a:solidFill>
              <a:srgbClr val="DC2626"/>
            </a:solidFill>
            <a:prstDash val="solid"/>
          </a:ln>
        </p:spPr>
      </p:sp>
      <p:sp>
        <p:nvSpPr>
          <p:cNvPr id="32" name="Text 30"/>
          <p:cNvSpPr/>
          <p:nvPr/>
        </p:nvSpPr>
        <p:spPr>
          <a:xfrm>
            <a:off x="6327648" y="1298448"/>
            <a:ext cx="2523744" cy="749808"/>
          </a:xfrm>
          <a:prstGeom prst="rect">
            <a:avLst/>
          </a:prstGeom>
          <a:noFill/>
          <a:ln/>
        </p:spPr>
        <p:txBody>
          <a:bodyPr wrap="square" lIns="0" tIns="0" rIns="0" bIns="0" rtlCol="0" anchor="ctr"/>
          <a:lstStyle/>
          <a:p>
            <a:pPr indent="0" marL="0">
              <a:buNone/>
            </a:pPr>
            <a:r>
              <a:rPr lang="en-US" sz="900" dirty="0">
                <a:solidFill>
                  <a:srgbClr val="0D1B2A"/>
                </a:solidFill>
                <a:latin typeface="Calibri" pitchFamily="34" charset="0"/>
                <a:ea typeface="Calibri" pitchFamily="34" charset="-122"/>
                <a:cs typeface="Calibri" pitchFamily="34" charset="-120"/>
              </a:rPr>
              <a:t>Age MAE: 35.27 years vs 4.17 years (UTKFace)</a:t>
            </a:r>
            <a:endParaRPr lang="en-US" sz="900" dirty="0"/>
          </a:p>
          <a:p>
            <a:pPr indent="0" marL="0">
              <a:buNone/>
            </a:pPr>
            <a:r>
              <a:rPr lang="en-US" sz="900" dirty="0">
                <a:solidFill>
                  <a:srgbClr val="0D1B2A"/>
                </a:solidFill>
                <a:latin typeface="Calibri" pitchFamily="34" charset="0"/>
                <a:ea typeface="Calibri" pitchFamily="34" charset="-122"/>
                <a:cs typeface="Calibri" pitchFamily="34" charset="-120"/>
              </a:rPr>
              <a:t>Gender/Race FairFace: 100% / 99.96% (trivial)</a:t>
            </a:r>
            <a:endParaRPr lang="en-US" sz="900" dirty="0"/>
          </a:p>
        </p:txBody>
      </p:sp>
      <p:sp>
        <p:nvSpPr>
          <p:cNvPr id="33" name="Text 31"/>
          <p:cNvSpPr/>
          <p:nvPr/>
        </p:nvSpPr>
        <p:spPr>
          <a:xfrm>
            <a:off x="6272784" y="2176272"/>
            <a:ext cx="2633472" cy="201168"/>
          </a:xfrm>
          <a:prstGeom prst="rect">
            <a:avLst/>
          </a:prstGeom>
          <a:noFill/>
          <a:ln/>
        </p:spPr>
        <p:txBody>
          <a:bodyPr wrap="square" lIns="0" tIns="0" rIns="0" bIns="0"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Root Cause</a:t>
            </a:r>
            <a:endParaRPr lang="en-US" sz="900" dirty="0"/>
          </a:p>
        </p:txBody>
      </p:sp>
      <p:sp>
        <p:nvSpPr>
          <p:cNvPr id="34" name="Text 32"/>
          <p:cNvSpPr/>
          <p:nvPr/>
        </p:nvSpPr>
        <p:spPr>
          <a:xfrm>
            <a:off x="6272784" y="2395728"/>
            <a:ext cx="2633472" cy="1097280"/>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Age: likely multi-task gradient interference with λ=1 weights. Gender/race FairFace: class imbalance in eval set or data leakage. UTKFace gender (85%) looks plausible.</a:t>
            </a:r>
            <a:endParaRPr lang="en-US" sz="850" dirty="0"/>
          </a:p>
        </p:txBody>
      </p:sp>
      <p:sp>
        <p:nvSpPr>
          <p:cNvPr id="35" name="Text 33"/>
          <p:cNvSpPr/>
          <p:nvPr/>
        </p:nvSpPr>
        <p:spPr>
          <a:xfrm>
            <a:off x="6272784" y="3566160"/>
            <a:ext cx="2633472" cy="201168"/>
          </a:xfrm>
          <a:prstGeom prst="rect">
            <a:avLst/>
          </a:prstGeom>
          <a:noFill/>
          <a:ln/>
        </p:spPr>
        <p:txBody>
          <a:bodyPr wrap="square" lIns="0" tIns="0" rIns="0" bIns="0"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Implication</a:t>
            </a:r>
            <a:endParaRPr lang="en-US" sz="900" dirty="0"/>
          </a:p>
        </p:txBody>
      </p:sp>
      <p:sp>
        <p:nvSpPr>
          <p:cNvPr id="36" name="Shape 34"/>
          <p:cNvSpPr/>
          <p:nvPr/>
        </p:nvSpPr>
        <p:spPr>
          <a:xfrm>
            <a:off x="6272784" y="3785616"/>
            <a:ext cx="2633472" cy="914400"/>
          </a:xfrm>
          <a:prstGeom prst="rect">
            <a:avLst>
              <a:gd name="adj" fmla="val 4000"/>
            </a:avLst>
          </a:prstGeom>
          <a:solidFill>
            <a:srgbClr val="DC2626">
              <a:alpha val="12000"/>
            </a:srgbClr>
          </a:solidFill>
          <a:ln w="5080">
            <a:solidFill>
              <a:srgbClr val="DC2626"/>
            </a:solidFill>
            <a:prstDash val="solid"/>
          </a:ln>
        </p:spPr>
      </p:sp>
      <p:sp>
        <p:nvSpPr>
          <p:cNvPr id="37" name="Text 35"/>
          <p:cNvSpPr/>
          <p:nvPr/>
        </p:nvSpPr>
        <p:spPr>
          <a:xfrm>
            <a:off x="6327648" y="3822192"/>
            <a:ext cx="2523744" cy="822960"/>
          </a:xfrm>
          <a:prstGeom prst="rect">
            <a:avLst/>
          </a:prstGeom>
          <a:noFill/>
          <a:ln/>
        </p:spPr>
        <p:txBody>
          <a:bodyPr wrap="square" lIns="0" tIns="0" rIns="0" bIns="0" rtlCol="0" anchor="ctr"/>
          <a:lstStyle/>
          <a:p>
            <a:pPr indent="0" marL="0">
              <a:buNone/>
            </a:pPr>
            <a:r>
              <a:rPr lang="en-US" sz="850" dirty="0">
                <a:solidFill>
                  <a:srgbClr val="0D1B2A"/>
                </a:solidFill>
                <a:latin typeface="Calibri" pitchFamily="34" charset="0"/>
                <a:ea typeface="Calibri" pitchFamily="34" charset="-122"/>
                <a:cs typeface="Calibri" pitchFamily="34" charset="-120"/>
              </a:rPr>
              <a:t>λ=1 assumption may be incorrect for tasks with very different loss scales. Paper underspecification directly causes this.</a:t>
            </a:r>
            <a:endParaRPr lang="en-US" sz="850" dirty="0"/>
          </a:p>
        </p:txBody>
      </p:sp>
      <p:sp>
        <p:nvSpPr>
          <p:cNvPr id="38" name="Text 36"/>
          <p:cNvSpPr/>
          <p:nvPr/>
        </p:nvSpPr>
        <p:spPr>
          <a:xfrm>
            <a:off x="182880" y="4892040"/>
            <a:ext cx="8778240" cy="201168"/>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Key insight: Architecture is sound. Failures trace to underspecified λ weights, metric documentation gaps, and missing training code — not model design.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sp>
      <p:sp>
        <p:nvSpPr>
          <p:cNvPr id="3" name="Text 1"/>
          <p:cNvSpPr/>
          <p:nvPr/>
        </p:nvSpPr>
        <p:spPr>
          <a:xfrm>
            <a:off x="320040" y="0"/>
            <a:ext cx="64008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Ablation: Data Augmentation</a:t>
            </a:r>
            <a:endParaRPr lang="en-US" sz="2000" dirty="0"/>
          </a:p>
        </p:txBody>
      </p:sp>
      <p:sp>
        <p:nvSpPr>
          <p:cNvPr id="4" name="Text 2"/>
          <p:cNvSpPr/>
          <p:nvPr/>
        </p:nvSpPr>
        <p:spPr>
          <a:xfrm>
            <a:off x="5943600" y="0"/>
            <a:ext cx="3017520" cy="502920"/>
          </a:xfrm>
          <a:prstGeom prst="rect">
            <a:avLst/>
          </a:prstGeom>
          <a:noFill/>
          <a:ln/>
        </p:spPr>
        <p:txBody>
          <a:bodyPr wrap="square" lIns="0" tIns="0" rIns="0" bIns="0" rtlCol="0" anchor="ctr"/>
          <a:lstStyle/>
          <a:p>
            <a:pPr algn="r" indent="0" marL="0">
              <a:buNone/>
            </a:pPr>
            <a:r>
              <a:rPr lang="en-US" sz="1000" dirty="0">
                <a:solidFill>
                  <a:srgbClr val="7DD3D2"/>
                </a:solidFill>
                <a:latin typeface="Calibri" pitchFamily="34" charset="0"/>
                <a:ea typeface="Calibri" pitchFamily="34" charset="-122"/>
                <a:cs typeface="Calibri" pitchFamily="34" charset="-120"/>
              </a:rPr>
              <a:t>With vs. without augmentation</a:t>
            </a:r>
            <a:endParaRPr lang="en-US" sz="1000" dirty="0"/>
          </a:p>
        </p:txBody>
      </p:sp>
      <p:sp>
        <p:nvSpPr>
          <p:cNvPr id="5" name="Shape 3"/>
          <p:cNvSpPr/>
          <p:nvPr/>
        </p:nvSpPr>
        <p:spPr>
          <a:xfrm>
            <a:off x="182880" y="594360"/>
            <a:ext cx="201168" cy="201168"/>
          </a:xfrm>
          <a:prstGeom prst="rect">
            <a:avLst/>
          </a:prstGeom>
          <a:solidFill>
            <a:srgbClr val="0E7C7B"/>
          </a:solidFill>
          <a:ln w="12700">
            <a:solidFill>
              <a:srgbClr val="0E7C7B"/>
            </a:solidFill>
            <a:prstDash val="solid"/>
          </a:ln>
        </p:spPr>
      </p:sp>
      <p:sp>
        <p:nvSpPr>
          <p:cNvPr id="6" name="Text 4"/>
          <p:cNvSpPr/>
          <p:nvPr/>
        </p:nvSpPr>
        <p:spPr>
          <a:xfrm>
            <a:off x="438912" y="594360"/>
            <a:ext cx="1828800" cy="201168"/>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With augmentation</a:t>
            </a:r>
            <a:endParaRPr lang="en-US" sz="900" dirty="0"/>
          </a:p>
        </p:txBody>
      </p:sp>
      <p:sp>
        <p:nvSpPr>
          <p:cNvPr id="7" name="Shape 5"/>
          <p:cNvSpPr/>
          <p:nvPr/>
        </p:nvSpPr>
        <p:spPr>
          <a:xfrm>
            <a:off x="2468880" y="594360"/>
            <a:ext cx="201168" cy="201168"/>
          </a:xfrm>
          <a:prstGeom prst="rect">
            <a:avLst/>
          </a:prstGeom>
          <a:solidFill>
            <a:srgbClr val="64748B"/>
          </a:solidFill>
          <a:ln w="12700">
            <a:solidFill>
              <a:srgbClr val="64748B"/>
            </a:solidFill>
            <a:prstDash val="solid"/>
          </a:ln>
        </p:spPr>
      </p:sp>
      <p:sp>
        <p:nvSpPr>
          <p:cNvPr id="8" name="Text 6"/>
          <p:cNvSpPr/>
          <p:nvPr/>
        </p:nvSpPr>
        <p:spPr>
          <a:xfrm>
            <a:off x="2724912" y="594360"/>
            <a:ext cx="2011680" cy="201168"/>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Without augmentation</a:t>
            </a:r>
            <a:endParaRPr lang="en-US" sz="900" dirty="0"/>
          </a:p>
        </p:txBody>
      </p:sp>
      <p:sp>
        <p:nvSpPr>
          <p:cNvPr id="9" name="Shape 7"/>
          <p:cNvSpPr/>
          <p:nvPr/>
        </p:nvSpPr>
        <p:spPr>
          <a:xfrm>
            <a:off x="182880" y="859536"/>
            <a:ext cx="8778240" cy="301752"/>
          </a:xfrm>
          <a:prstGeom prst="rect">
            <a:avLst/>
          </a:prstGeom>
          <a:solidFill>
            <a:srgbClr val="0E7C7B"/>
          </a:solidFill>
          <a:ln w="12700">
            <a:solidFill>
              <a:srgbClr val="0E7C7B"/>
            </a:solidFill>
            <a:prstDash val="solid"/>
          </a:ln>
        </p:spPr>
      </p:sp>
      <p:sp>
        <p:nvSpPr>
          <p:cNvPr id="10" name="Text 8"/>
          <p:cNvSpPr/>
          <p:nvPr/>
        </p:nvSpPr>
        <p:spPr>
          <a:xfrm>
            <a:off x="182880" y="859536"/>
            <a:ext cx="100584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Task</a:t>
            </a:r>
            <a:endParaRPr lang="en-US" sz="900" dirty="0"/>
          </a:p>
        </p:txBody>
      </p:sp>
      <p:sp>
        <p:nvSpPr>
          <p:cNvPr id="11" name="Text 9"/>
          <p:cNvSpPr/>
          <p:nvPr/>
        </p:nvSpPr>
        <p:spPr>
          <a:xfrm>
            <a:off x="1234440" y="859536"/>
            <a:ext cx="132588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Dataset</a:t>
            </a:r>
            <a:endParaRPr lang="en-US" sz="900" dirty="0"/>
          </a:p>
        </p:txBody>
      </p:sp>
      <p:sp>
        <p:nvSpPr>
          <p:cNvPr id="12" name="Text 10"/>
          <p:cNvSpPr/>
          <p:nvPr/>
        </p:nvSpPr>
        <p:spPr>
          <a:xfrm>
            <a:off x="2606040" y="859536"/>
            <a:ext cx="804672"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p>
        </p:txBody>
      </p:sp>
      <p:sp>
        <p:nvSpPr>
          <p:cNvPr id="13" name="Text 11"/>
          <p:cNvSpPr/>
          <p:nvPr/>
        </p:nvSpPr>
        <p:spPr>
          <a:xfrm>
            <a:off x="3456432" y="859536"/>
            <a:ext cx="1024128"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With Aug</a:t>
            </a:r>
            <a:endParaRPr lang="en-US" sz="900" dirty="0"/>
          </a:p>
        </p:txBody>
      </p:sp>
      <p:sp>
        <p:nvSpPr>
          <p:cNvPr id="14" name="Text 12"/>
          <p:cNvSpPr/>
          <p:nvPr/>
        </p:nvSpPr>
        <p:spPr>
          <a:xfrm>
            <a:off x="4526280" y="859536"/>
            <a:ext cx="1078992"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Without Aug</a:t>
            </a:r>
            <a:endParaRPr lang="en-US" sz="900" dirty="0"/>
          </a:p>
        </p:txBody>
      </p:sp>
      <p:sp>
        <p:nvSpPr>
          <p:cNvPr id="15" name="Text 13"/>
          <p:cNvSpPr/>
          <p:nvPr/>
        </p:nvSpPr>
        <p:spPr>
          <a:xfrm>
            <a:off x="5650992" y="859536"/>
            <a:ext cx="1161288"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Δ Difference</a:t>
            </a:r>
            <a:endParaRPr lang="en-US" sz="900" dirty="0"/>
          </a:p>
        </p:txBody>
      </p:sp>
      <p:sp>
        <p:nvSpPr>
          <p:cNvPr id="16" name="Text 14"/>
          <p:cNvSpPr/>
          <p:nvPr/>
        </p:nvSpPr>
        <p:spPr>
          <a:xfrm>
            <a:off x="6858000" y="859536"/>
            <a:ext cx="2057400" cy="301752"/>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Key Finding</a:t>
            </a:r>
            <a:endParaRPr lang="en-US" sz="900" dirty="0"/>
          </a:p>
        </p:txBody>
      </p:sp>
      <p:sp>
        <p:nvSpPr>
          <p:cNvPr id="17" name="Shape 15"/>
          <p:cNvSpPr/>
          <p:nvPr/>
        </p:nvSpPr>
        <p:spPr>
          <a:xfrm>
            <a:off x="182880" y="1188720"/>
            <a:ext cx="8778240" cy="356616"/>
          </a:xfrm>
          <a:prstGeom prst="rect">
            <a:avLst/>
          </a:prstGeom>
          <a:solidFill>
            <a:srgbClr val="FFFFFF"/>
          </a:solidFill>
          <a:ln w="5080">
            <a:solidFill>
              <a:srgbClr val="CBD5E1"/>
            </a:solidFill>
            <a:prstDash val="solid"/>
          </a:ln>
        </p:spPr>
      </p:sp>
      <p:sp>
        <p:nvSpPr>
          <p:cNvPr id="18" name="Text 16"/>
          <p:cNvSpPr/>
          <p:nvPr/>
        </p:nvSpPr>
        <p:spPr>
          <a:xfrm>
            <a:off x="182880" y="1188720"/>
            <a:ext cx="1005840" cy="356616"/>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Attribute</a:t>
            </a:r>
            <a:endParaRPr lang="en-US" sz="850" dirty="0"/>
          </a:p>
        </p:txBody>
      </p:sp>
      <p:sp>
        <p:nvSpPr>
          <p:cNvPr id="19" name="Text 17"/>
          <p:cNvSpPr/>
          <p:nvPr/>
        </p:nvSpPr>
        <p:spPr>
          <a:xfrm>
            <a:off x="1234440" y="1188720"/>
            <a:ext cx="1325880" cy="356616"/>
          </a:xfrm>
          <a:prstGeom prst="rect">
            <a:avLst/>
          </a:prstGeom>
          <a:noFill/>
          <a:ln/>
        </p:spPr>
        <p:txBody>
          <a:bodyPr wrap="square" lIns="38100" tIns="38100" rIns="38100" bIns="3810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CelebA</a:t>
            </a:r>
            <a:endParaRPr lang="en-US" sz="800" dirty="0"/>
          </a:p>
        </p:txBody>
      </p:sp>
      <p:sp>
        <p:nvSpPr>
          <p:cNvPr id="20" name="Text 18"/>
          <p:cNvSpPr/>
          <p:nvPr/>
        </p:nvSpPr>
        <p:spPr>
          <a:xfrm>
            <a:off x="2606040" y="1188720"/>
            <a:ext cx="804672" cy="356616"/>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 (%)</a:t>
            </a:r>
            <a:endParaRPr lang="en-US" sz="800" dirty="0"/>
          </a:p>
        </p:txBody>
      </p:sp>
      <p:sp>
        <p:nvSpPr>
          <p:cNvPr id="21" name="Text 19"/>
          <p:cNvSpPr/>
          <p:nvPr/>
        </p:nvSpPr>
        <p:spPr>
          <a:xfrm>
            <a:off x="3456432" y="1188720"/>
            <a:ext cx="1024128" cy="356616"/>
          </a:xfrm>
          <a:prstGeom prst="rect">
            <a:avLst/>
          </a:prstGeom>
          <a:noFill/>
          <a:ln/>
        </p:spPr>
        <p:txBody>
          <a:bodyPr wrap="square" lIns="38100" tIns="38100" rIns="38100" bIns="38100" rtlCol="0" anchor="ctr"/>
          <a:lstStyle/>
          <a:p>
            <a:pPr algn="ctr" indent="0" marL="0">
              <a:buNone/>
            </a:pPr>
            <a:r>
              <a:rPr lang="en-US" sz="850" b="1" dirty="0">
                <a:solidFill>
                  <a:srgbClr val="0E7C7B"/>
                </a:solidFill>
                <a:latin typeface="Calibri" pitchFamily="34" charset="0"/>
                <a:ea typeface="Calibri" pitchFamily="34" charset="-122"/>
                <a:cs typeface="Calibri" pitchFamily="34" charset="-120"/>
              </a:rPr>
              <a:t>91.27</a:t>
            </a:r>
            <a:endParaRPr lang="en-US" sz="850" dirty="0"/>
          </a:p>
        </p:txBody>
      </p:sp>
      <p:sp>
        <p:nvSpPr>
          <p:cNvPr id="22" name="Text 20"/>
          <p:cNvSpPr/>
          <p:nvPr/>
        </p:nvSpPr>
        <p:spPr>
          <a:xfrm>
            <a:off x="4526280" y="1188720"/>
            <a:ext cx="1078992" cy="356616"/>
          </a:xfrm>
          <a:prstGeom prst="rect">
            <a:avLst/>
          </a:prstGeom>
          <a:noFill/>
          <a:ln/>
        </p:spPr>
        <p:txBody>
          <a:bodyPr wrap="square" lIns="38100" tIns="38100" rIns="38100" bIns="3810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91.25</a:t>
            </a:r>
            <a:endParaRPr lang="en-US" sz="850" dirty="0"/>
          </a:p>
        </p:txBody>
      </p:sp>
      <p:sp>
        <p:nvSpPr>
          <p:cNvPr id="23" name="Text 21"/>
          <p:cNvSpPr/>
          <p:nvPr/>
        </p:nvSpPr>
        <p:spPr>
          <a:xfrm>
            <a:off x="5650992" y="1188720"/>
            <a:ext cx="1161288" cy="356616"/>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≈0 (+0.02)</a:t>
            </a:r>
            <a:endParaRPr lang="en-US" sz="850" dirty="0"/>
          </a:p>
        </p:txBody>
      </p:sp>
      <p:sp>
        <p:nvSpPr>
          <p:cNvPr id="24" name="Shape 22"/>
          <p:cNvSpPr/>
          <p:nvPr/>
        </p:nvSpPr>
        <p:spPr>
          <a:xfrm>
            <a:off x="6903720" y="1234440"/>
            <a:ext cx="1965960" cy="265176"/>
          </a:xfrm>
          <a:prstGeom prst="rect">
            <a:avLst>
              <a:gd name="adj" fmla="val 13793"/>
            </a:avLst>
          </a:prstGeom>
          <a:solidFill>
            <a:srgbClr val="64748B">
              <a:alpha val="12000"/>
            </a:srgbClr>
          </a:solidFill>
          <a:ln w="5080">
            <a:solidFill>
              <a:srgbClr val="64748B"/>
            </a:solidFill>
            <a:prstDash val="solid"/>
          </a:ln>
        </p:spPr>
      </p:sp>
      <p:sp>
        <p:nvSpPr>
          <p:cNvPr id="25" name="Text 23"/>
          <p:cNvSpPr/>
          <p:nvPr/>
        </p:nvSpPr>
        <p:spPr>
          <a:xfrm>
            <a:off x="6931152" y="1234440"/>
            <a:ext cx="1920240" cy="265176"/>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No effect — robust task</a:t>
            </a:r>
            <a:endParaRPr lang="en-US" sz="750" dirty="0"/>
          </a:p>
        </p:txBody>
      </p:sp>
      <p:sp>
        <p:nvSpPr>
          <p:cNvPr id="26" name="Shape 24"/>
          <p:cNvSpPr/>
          <p:nvPr/>
        </p:nvSpPr>
        <p:spPr>
          <a:xfrm>
            <a:off x="182880" y="1545336"/>
            <a:ext cx="8778240" cy="356616"/>
          </a:xfrm>
          <a:prstGeom prst="rect">
            <a:avLst/>
          </a:prstGeom>
          <a:solidFill>
            <a:srgbClr val="F8FAFC"/>
          </a:solidFill>
          <a:ln w="5080">
            <a:solidFill>
              <a:srgbClr val="CBD5E1"/>
            </a:solidFill>
            <a:prstDash val="solid"/>
          </a:ln>
        </p:spPr>
      </p:sp>
      <p:sp>
        <p:nvSpPr>
          <p:cNvPr id="27" name="Text 25"/>
          <p:cNvSpPr/>
          <p:nvPr/>
        </p:nvSpPr>
        <p:spPr>
          <a:xfrm>
            <a:off x="182880" y="1545336"/>
            <a:ext cx="1005840" cy="356616"/>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Segmentation</a:t>
            </a:r>
            <a:endParaRPr lang="en-US" sz="850" dirty="0"/>
          </a:p>
        </p:txBody>
      </p:sp>
      <p:sp>
        <p:nvSpPr>
          <p:cNvPr id="28" name="Text 26"/>
          <p:cNvSpPr/>
          <p:nvPr/>
        </p:nvSpPr>
        <p:spPr>
          <a:xfrm>
            <a:off x="1234440" y="1545336"/>
            <a:ext cx="1325880" cy="356616"/>
          </a:xfrm>
          <a:prstGeom prst="rect">
            <a:avLst/>
          </a:prstGeom>
          <a:noFill/>
          <a:ln/>
        </p:spPr>
        <p:txBody>
          <a:bodyPr wrap="square" lIns="38100" tIns="38100" rIns="38100" bIns="3810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CelebAMHQ</a:t>
            </a:r>
            <a:endParaRPr lang="en-US" sz="800" dirty="0"/>
          </a:p>
        </p:txBody>
      </p:sp>
      <p:sp>
        <p:nvSpPr>
          <p:cNvPr id="29" name="Text 27"/>
          <p:cNvSpPr/>
          <p:nvPr/>
        </p:nvSpPr>
        <p:spPr>
          <a:xfrm>
            <a:off x="2606040" y="1545336"/>
            <a:ext cx="804672" cy="356616"/>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F1 (%)</a:t>
            </a:r>
            <a:endParaRPr lang="en-US" sz="800" dirty="0"/>
          </a:p>
        </p:txBody>
      </p:sp>
      <p:sp>
        <p:nvSpPr>
          <p:cNvPr id="30" name="Text 28"/>
          <p:cNvSpPr/>
          <p:nvPr/>
        </p:nvSpPr>
        <p:spPr>
          <a:xfrm>
            <a:off x="3456432" y="1545336"/>
            <a:ext cx="1024128" cy="356616"/>
          </a:xfrm>
          <a:prstGeom prst="rect">
            <a:avLst/>
          </a:prstGeom>
          <a:noFill/>
          <a:ln/>
        </p:spPr>
        <p:txBody>
          <a:bodyPr wrap="square" lIns="38100" tIns="38100" rIns="38100" bIns="38100" rtlCol="0" anchor="ctr"/>
          <a:lstStyle/>
          <a:p>
            <a:pPr algn="ctr" indent="0" marL="0">
              <a:buNone/>
            </a:pPr>
            <a:r>
              <a:rPr lang="en-US" sz="850" b="1" dirty="0">
                <a:solidFill>
                  <a:srgbClr val="0E7C7B"/>
                </a:solidFill>
                <a:latin typeface="Calibri" pitchFamily="34" charset="0"/>
                <a:ea typeface="Calibri" pitchFamily="34" charset="-122"/>
                <a:cs typeface="Calibri" pitchFamily="34" charset="-120"/>
              </a:rPr>
              <a:t>85.91</a:t>
            </a:r>
            <a:endParaRPr lang="en-US" sz="850" dirty="0"/>
          </a:p>
        </p:txBody>
      </p:sp>
      <p:sp>
        <p:nvSpPr>
          <p:cNvPr id="31" name="Text 29"/>
          <p:cNvSpPr/>
          <p:nvPr/>
        </p:nvSpPr>
        <p:spPr>
          <a:xfrm>
            <a:off x="4526280" y="1545336"/>
            <a:ext cx="1078992" cy="356616"/>
          </a:xfrm>
          <a:prstGeom prst="rect">
            <a:avLst/>
          </a:prstGeom>
          <a:noFill/>
          <a:ln/>
        </p:spPr>
        <p:txBody>
          <a:bodyPr wrap="square" lIns="38100" tIns="38100" rIns="38100" bIns="3810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86.11</a:t>
            </a:r>
            <a:endParaRPr lang="en-US" sz="850" dirty="0"/>
          </a:p>
        </p:txBody>
      </p:sp>
      <p:sp>
        <p:nvSpPr>
          <p:cNvPr id="32" name="Text 30"/>
          <p:cNvSpPr/>
          <p:nvPr/>
        </p:nvSpPr>
        <p:spPr>
          <a:xfrm>
            <a:off x="5650992" y="1545336"/>
            <a:ext cx="1161288" cy="356616"/>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−0.2pp</a:t>
            </a:r>
            <a:endParaRPr lang="en-US" sz="850" dirty="0"/>
          </a:p>
        </p:txBody>
      </p:sp>
      <p:sp>
        <p:nvSpPr>
          <p:cNvPr id="33" name="Shape 31"/>
          <p:cNvSpPr/>
          <p:nvPr/>
        </p:nvSpPr>
        <p:spPr>
          <a:xfrm>
            <a:off x="6903720" y="1591056"/>
            <a:ext cx="1965960" cy="265176"/>
          </a:xfrm>
          <a:prstGeom prst="rect">
            <a:avLst>
              <a:gd name="adj" fmla="val 13793"/>
            </a:avLst>
          </a:prstGeom>
          <a:solidFill>
            <a:srgbClr val="64748B">
              <a:alpha val="12000"/>
            </a:srgbClr>
          </a:solidFill>
          <a:ln w="5080">
            <a:solidFill>
              <a:srgbClr val="64748B"/>
            </a:solidFill>
            <a:prstDash val="solid"/>
          </a:ln>
        </p:spPr>
      </p:sp>
      <p:sp>
        <p:nvSpPr>
          <p:cNvPr id="34" name="Text 32"/>
          <p:cNvSpPr/>
          <p:nvPr/>
        </p:nvSpPr>
        <p:spPr>
          <a:xfrm>
            <a:off x="6931152" y="1591056"/>
            <a:ext cx="1920240" cy="265176"/>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Slight edge without aug</a:t>
            </a:r>
            <a:endParaRPr lang="en-US" sz="750" dirty="0"/>
          </a:p>
        </p:txBody>
      </p:sp>
      <p:sp>
        <p:nvSpPr>
          <p:cNvPr id="35" name="Shape 33"/>
          <p:cNvSpPr/>
          <p:nvPr/>
        </p:nvSpPr>
        <p:spPr>
          <a:xfrm>
            <a:off x="182880" y="1901952"/>
            <a:ext cx="8778240" cy="356616"/>
          </a:xfrm>
          <a:prstGeom prst="rect">
            <a:avLst/>
          </a:prstGeom>
          <a:solidFill>
            <a:srgbClr val="FFFFFF"/>
          </a:solidFill>
          <a:ln w="5080">
            <a:solidFill>
              <a:srgbClr val="CBD5E1"/>
            </a:solidFill>
            <a:prstDash val="solid"/>
          </a:ln>
        </p:spPr>
      </p:sp>
      <p:sp>
        <p:nvSpPr>
          <p:cNvPr id="36" name="Text 34"/>
          <p:cNvSpPr/>
          <p:nvPr/>
        </p:nvSpPr>
        <p:spPr>
          <a:xfrm>
            <a:off x="182880" y="1901952"/>
            <a:ext cx="1005840" cy="356616"/>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Gender</a:t>
            </a:r>
            <a:endParaRPr lang="en-US" sz="850" dirty="0"/>
          </a:p>
        </p:txBody>
      </p:sp>
      <p:sp>
        <p:nvSpPr>
          <p:cNvPr id="37" name="Text 35"/>
          <p:cNvSpPr/>
          <p:nvPr/>
        </p:nvSpPr>
        <p:spPr>
          <a:xfrm>
            <a:off x="1234440" y="1901952"/>
            <a:ext cx="1325880" cy="356616"/>
          </a:xfrm>
          <a:prstGeom prst="rect">
            <a:avLst/>
          </a:prstGeom>
          <a:noFill/>
          <a:ln/>
        </p:spPr>
        <p:txBody>
          <a:bodyPr wrap="square" lIns="38100" tIns="38100" rIns="38100" bIns="38100" rtlCol="0" anchor="ctr"/>
          <a:lstStyle/>
          <a:p>
            <a:pPr indent="0" marL="0">
              <a:buNone/>
            </a:pPr>
            <a:r>
              <a:rPr lang="en-US" sz="800" dirty="0">
                <a:solidFill>
                  <a:srgbClr val="64748B"/>
                </a:solidFill>
                <a:latin typeface="Calibri" pitchFamily="34" charset="0"/>
                <a:ea typeface="Calibri" pitchFamily="34" charset="-122"/>
                <a:cs typeface="Calibri" pitchFamily="34" charset="-120"/>
              </a:rPr>
              <a:t>FairFace</a:t>
            </a:r>
            <a:endParaRPr lang="en-US" sz="800" dirty="0"/>
          </a:p>
        </p:txBody>
      </p:sp>
      <p:sp>
        <p:nvSpPr>
          <p:cNvPr id="38" name="Text 36"/>
          <p:cNvSpPr/>
          <p:nvPr/>
        </p:nvSpPr>
        <p:spPr>
          <a:xfrm>
            <a:off x="2606040" y="1901952"/>
            <a:ext cx="804672" cy="356616"/>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 (%)</a:t>
            </a:r>
            <a:endParaRPr lang="en-US" sz="800" dirty="0"/>
          </a:p>
        </p:txBody>
      </p:sp>
      <p:sp>
        <p:nvSpPr>
          <p:cNvPr id="39" name="Text 37"/>
          <p:cNvSpPr/>
          <p:nvPr/>
        </p:nvSpPr>
        <p:spPr>
          <a:xfrm>
            <a:off x="3456432" y="1901952"/>
            <a:ext cx="1024128" cy="356616"/>
          </a:xfrm>
          <a:prstGeom prst="rect">
            <a:avLst/>
          </a:prstGeom>
          <a:noFill/>
          <a:ln/>
        </p:spPr>
        <p:txBody>
          <a:bodyPr wrap="square" lIns="38100" tIns="38100" rIns="38100" bIns="38100" rtlCol="0" anchor="ctr"/>
          <a:lstStyle/>
          <a:p>
            <a:pPr algn="ctr" indent="0" marL="0">
              <a:buNone/>
            </a:pPr>
            <a:r>
              <a:rPr lang="en-US" sz="850" b="1" dirty="0">
                <a:solidFill>
                  <a:srgbClr val="0E7C7B"/>
                </a:solidFill>
                <a:latin typeface="Calibri" pitchFamily="34" charset="0"/>
                <a:ea typeface="Calibri" pitchFamily="34" charset="-122"/>
                <a:cs typeface="Calibri" pitchFamily="34" charset="-120"/>
              </a:rPr>
              <a:t>100.0</a:t>
            </a:r>
            <a:endParaRPr lang="en-US" sz="850" dirty="0"/>
          </a:p>
        </p:txBody>
      </p:sp>
      <p:sp>
        <p:nvSpPr>
          <p:cNvPr id="40" name="Text 38"/>
          <p:cNvSpPr/>
          <p:nvPr/>
        </p:nvSpPr>
        <p:spPr>
          <a:xfrm>
            <a:off x="4526280" y="1901952"/>
            <a:ext cx="1078992" cy="356616"/>
          </a:xfrm>
          <a:prstGeom prst="rect">
            <a:avLst/>
          </a:prstGeom>
          <a:noFill/>
          <a:ln/>
        </p:spPr>
        <p:txBody>
          <a:bodyPr wrap="square" lIns="38100" tIns="38100" rIns="38100" bIns="3810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100.0</a:t>
            </a:r>
            <a:endParaRPr lang="en-US" sz="850" dirty="0"/>
          </a:p>
        </p:txBody>
      </p:sp>
      <p:sp>
        <p:nvSpPr>
          <p:cNvPr id="41" name="Text 39"/>
          <p:cNvSpPr/>
          <p:nvPr/>
        </p:nvSpPr>
        <p:spPr>
          <a:xfrm>
            <a:off x="5650992" y="1901952"/>
            <a:ext cx="1161288" cy="356616"/>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0</a:t>
            </a:r>
            <a:endParaRPr lang="en-US" sz="850" dirty="0"/>
          </a:p>
        </p:txBody>
      </p:sp>
      <p:sp>
        <p:nvSpPr>
          <p:cNvPr id="42" name="Shape 40"/>
          <p:cNvSpPr/>
          <p:nvPr/>
        </p:nvSpPr>
        <p:spPr>
          <a:xfrm>
            <a:off x="6903720" y="1947672"/>
            <a:ext cx="1965960" cy="265176"/>
          </a:xfrm>
          <a:prstGeom prst="rect">
            <a:avLst>
              <a:gd name="adj" fmla="val 13793"/>
            </a:avLst>
          </a:prstGeom>
          <a:solidFill>
            <a:srgbClr val="D97706">
              <a:alpha val="12000"/>
            </a:srgbClr>
          </a:solidFill>
          <a:ln w="5080">
            <a:solidFill>
              <a:srgbClr val="D97706"/>
            </a:solidFill>
            <a:prstDash val="solid"/>
          </a:ln>
        </p:spPr>
      </p:sp>
      <p:sp>
        <p:nvSpPr>
          <p:cNvPr id="43" name="Text 41"/>
          <p:cNvSpPr/>
          <p:nvPr/>
        </p:nvSpPr>
        <p:spPr>
          <a:xfrm>
            <a:off x="6931152" y="1947672"/>
            <a:ext cx="1920240" cy="265176"/>
          </a:xfrm>
          <a:prstGeom prst="rect">
            <a:avLst/>
          </a:prstGeom>
          <a:noFill/>
          <a:ln/>
        </p:spPr>
        <p:txBody>
          <a:bodyPr wrap="square" lIns="0" tIns="0" rIns="0" bIns="0" rtlCol="0" anchor="ctr"/>
          <a:lstStyle/>
          <a:p>
            <a:pPr indent="0" marL="0">
              <a:buNone/>
            </a:pPr>
            <a:r>
              <a:rPr lang="en-US" sz="750" dirty="0">
                <a:solidFill>
                  <a:srgbClr val="D97706"/>
                </a:solidFill>
                <a:latin typeface="Calibri" pitchFamily="34" charset="0"/>
                <a:ea typeface="Calibri" pitchFamily="34" charset="-122"/>
                <a:cs typeface="Calibri" pitchFamily="34" charset="-120"/>
              </a:rPr>
              <a:t>Saturated — suspect metric</a:t>
            </a:r>
            <a:endParaRPr lang="en-US" sz="750" dirty="0"/>
          </a:p>
        </p:txBody>
      </p:sp>
      <p:sp>
        <p:nvSpPr>
          <p:cNvPr id="44" name="Shape 42"/>
          <p:cNvSpPr/>
          <p:nvPr/>
        </p:nvSpPr>
        <p:spPr>
          <a:xfrm>
            <a:off x="182880" y="2258568"/>
            <a:ext cx="8778240" cy="356616"/>
          </a:xfrm>
          <a:prstGeom prst="rect">
            <a:avLst/>
          </a:prstGeom>
          <a:solidFill>
            <a:srgbClr val="F8FAFC"/>
          </a:solidFill>
          <a:ln w="5080">
            <a:solidFill>
              <a:srgbClr val="CBD5E1"/>
            </a:solidFill>
            <a:prstDash val="solid"/>
          </a:ln>
        </p:spPr>
      </p:sp>
      <p:sp>
        <p:nvSpPr>
          <p:cNvPr id="45" name="Text 43"/>
          <p:cNvSpPr/>
          <p:nvPr/>
        </p:nvSpPr>
        <p:spPr>
          <a:xfrm>
            <a:off x="182880" y="2258568"/>
            <a:ext cx="1005840" cy="356616"/>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Landmark</a:t>
            </a:r>
            <a:endParaRPr lang="en-US" sz="850" dirty="0"/>
          </a:p>
        </p:txBody>
      </p:sp>
      <p:sp>
        <p:nvSpPr>
          <p:cNvPr id="46" name="Text 44"/>
          <p:cNvSpPr/>
          <p:nvPr/>
        </p:nvSpPr>
        <p:spPr>
          <a:xfrm>
            <a:off x="1234440" y="2258568"/>
            <a:ext cx="1325880" cy="356616"/>
          </a:xfrm>
          <a:prstGeom prst="rect">
            <a:avLst/>
          </a:prstGeom>
          <a:noFill/>
          <a:ln/>
        </p:spPr>
        <p:txBody>
          <a:bodyPr wrap="square" lIns="38100" tIns="38100" rIns="38100" bIns="38100" rtlCol="0" anchor="ctr"/>
          <a:lstStyle/>
          <a:p>
            <a:pPr indent="0" marL="0">
              <a:buNone/>
            </a:pPr>
            <a:r>
              <a:rPr lang="en-US" sz="800" dirty="0">
                <a:solidFill>
                  <a:srgbClr val="64748B"/>
                </a:solidFill>
                <a:latin typeface="Calibri" pitchFamily="34" charset="0"/>
                <a:ea typeface="Calibri" pitchFamily="34" charset="-122"/>
                <a:cs typeface="Calibri" pitchFamily="34" charset="-120"/>
              </a:rPr>
              <a:t>300W</a:t>
            </a:r>
            <a:endParaRPr lang="en-US" sz="800" dirty="0"/>
          </a:p>
        </p:txBody>
      </p:sp>
      <p:sp>
        <p:nvSpPr>
          <p:cNvPr id="47" name="Text 45"/>
          <p:cNvSpPr/>
          <p:nvPr/>
        </p:nvSpPr>
        <p:spPr>
          <a:xfrm>
            <a:off x="2606040" y="2258568"/>
            <a:ext cx="804672" cy="356616"/>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NME (%)</a:t>
            </a:r>
            <a:endParaRPr lang="en-US" sz="800" dirty="0"/>
          </a:p>
        </p:txBody>
      </p:sp>
      <p:sp>
        <p:nvSpPr>
          <p:cNvPr id="48" name="Text 46"/>
          <p:cNvSpPr/>
          <p:nvPr/>
        </p:nvSpPr>
        <p:spPr>
          <a:xfrm>
            <a:off x="3456432" y="2258568"/>
            <a:ext cx="1024128" cy="356616"/>
          </a:xfrm>
          <a:prstGeom prst="rect">
            <a:avLst/>
          </a:prstGeom>
          <a:noFill/>
          <a:ln/>
        </p:spPr>
        <p:txBody>
          <a:bodyPr wrap="square" lIns="38100" tIns="38100" rIns="38100" bIns="38100" rtlCol="0" anchor="ctr"/>
          <a:lstStyle/>
          <a:p>
            <a:pPr algn="ctr" indent="0" marL="0">
              <a:buNone/>
            </a:pPr>
            <a:r>
              <a:rPr lang="en-US" sz="850" b="1" dirty="0">
                <a:solidFill>
                  <a:srgbClr val="0E7C7B"/>
                </a:solidFill>
                <a:latin typeface="Calibri" pitchFamily="34" charset="0"/>
                <a:ea typeface="Calibri" pitchFamily="34" charset="-122"/>
                <a:cs typeface="Calibri" pitchFamily="34" charset="-120"/>
              </a:rPr>
              <a:t>0.0117</a:t>
            </a:r>
            <a:endParaRPr lang="en-US" sz="850" dirty="0"/>
          </a:p>
        </p:txBody>
      </p:sp>
      <p:sp>
        <p:nvSpPr>
          <p:cNvPr id="49" name="Text 47"/>
          <p:cNvSpPr/>
          <p:nvPr/>
        </p:nvSpPr>
        <p:spPr>
          <a:xfrm>
            <a:off x="4526280" y="2258568"/>
            <a:ext cx="1078992" cy="356616"/>
          </a:xfrm>
          <a:prstGeom prst="rect">
            <a:avLst/>
          </a:prstGeom>
          <a:noFill/>
          <a:ln/>
        </p:spPr>
        <p:txBody>
          <a:bodyPr wrap="square" lIns="38100" tIns="38100" rIns="38100" bIns="3810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0.0410</a:t>
            </a:r>
            <a:endParaRPr lang="en-US" sz="850" dirty="0"/>
          </a:p>
        </p:txBody>
      </p:sp>
      <p:sp>
        <p:nvSpPr>
          <p:cNvPr id="50" name="Text 48"/>
          <p:cNvSpPr/>
          <p:nvPr/>
        </p:nvSpPr>
        <p:spPr>
          <a:xfrm>
            <a:off x="5650992" y="2258568"/>
            <a:ext cx="1161288" cy="356616"/>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−0.029</a:t>
            </a:r>
            <a:endParaRPr lang="en-US" sz="850" dirty="0"/>
          </a:p>
        </p:txBody>
      </p:sp>
      <p:sp>
        <p:nvSpPr>
          <p:cNvPr id="51" name="Shape 49"/>
          <p:cNvSpPr/>
          <p:nvPr/>
        </p:nvSpPr>
        <p:spPr>
          <a:xfrm>
            <a:off x="6903720" y="2304288"/>
            <a:ext cx="1965960" cy="265176"/>
          </a:xfrm>
          <a:prstGeom prst="rect">
            <a:avLst>
              <a:gd name="adj" fmla="val 13793"/>
            </a:avLst>
          </a:prstGeom>
          <a:solidFill>
            <a:srgbClr val="16A34A">
              <a:alpha val="12000"/>
            </a:srgbClr>
          </a:solidFill>
          <a:ln w="5080">
            <a:solidFill>
              <a:srgbClr val="16A34A"/>
            </a:solidFill>
            <a:prstDash val="solid"/>
          </a:ln>
        </p:spPr>
      </p:sp>
      <p:sp>
        <p:nvSpPr>
          <p:cNvPr id="52" name="Text 50"/>
          <p:cNvSpPr/>
          <p:nvPr/>
        </p:nvSpPr>
        <p:spPr>
          <a:xfrm>
            <a:off x="6931152" y="2304288"/>
            <a:ext cx="1920240" cy="265176"/>
          </a:xfrm>
          <a:prstGeom prst="rect">
            <a:avLst/>
          </a:prstGeom>
          <a:noFill/>
          <a:ln/>
        </p:spPr>
        <p:txBody>
          <a:bodyPr wrap="square" lIns="0" tIns="0" rIns="0" bIns="0" rtlCol="0" anchor="ctr"/>
          <a:lstStyle/>
          <a:p>
            <a:pPr indent="0" marL="0">
              <a:buNone/>
            </a:pPr>
            <a:r>
              <a:rPr lang="en-US" sz="750" dirty="0">
                <a:solidFill>
                  <a:srgbClr val="16A34A"/>
                </a:solidFill>
                <a:latin typeface="Calibri" pitchFamily="34" charset="0"/>
                <a:ea typeface="Calibri" pitchFamily="34" charset="-122"/>
                <a:cs typeface="Calibri" pitchFamily="34" charset="-120"/>
              </a:rPr>
              <a:t>Augmentation critical for geometry</a:t>
            </a:r>
            <a:endParaRPr lang="en-US" sz="750" dirty="0"/>
          </a:p>
        </p:txBody>
      </p:sp>
      <p:sp>
        <p:nvSpPr>
          <p:cNvPr id="53" name="Shape 51"/>
          <p:cNvSpPr/>
          <p:nvPr/>
        </p:nvSpPr>
        <p:spPr>
          <a:xfrm>
            <a:off x="182880" y="2615184"/>
            <a:ext cx="8778240" cy="356616"/>
          </a:xfrm>
          <a:prstGeom prst="rect">
            <a:avLst/>
          </a:prstGeom>
          <a:solidFill>
            <a:srgbClr val="FFFFFF"/>
          </a:solidFill>
          <a:ln w="5080">
            <a:solidFill>
              <a:srgbClr val="CBD5E1"/>
            </a:solidFill>
            <a:prstDash val="solid"/>
          </a:ln>
        </p:spPr>
      </p:sp>
      <p:sp>
        <p:nvSpPr>
          <p:cNvPr id="54" name="Text 52"/>
          <p:cNvSpPr/>
          <p:nvPr/>
        </p:nvSpPr>
        <p:spPr>
          <a:xfrm>
            <a:off x="182880" y="2615184"/>
            <a:ext cx="1005840" cy="356616"/>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Headpose</a:t>
            </a:r>
            <a:endParaRPr lang="en-US" sz="850" dirty="0"/>
          </a:p>
        </p:txBody>
      </p:sp>
      <p:sp>
        <p:nvSpPr>
          <p:cNvPr id="55" name="Text 53"/>
          <p:cNvSpPr/>
          <p:nvPr/>
        </p:nvSpPr>
        <p:spPr>
          <a:xfrm>
            <a:off x="1234440" y="2615184"/>
            <a:ext cx="1325880" cy="356616"/>
          </a:xfrm>
          <a:prstGeom prst="rect">
            <a:avLst/>
          </a:prstGeom>
          <a:noFill/>
          <a:ln/>
        </p:spPr>
        <p:txBody>
          <a:bodyPr wrap="square" lIns="38100" tIns="38100" rIns="38100" bIns="38100" rtlCol="0" anchor="ctr"/>
          <a:lstStyle/>
          <a:p>
            <a:pPr indent="0" marL="0">
              <a:buNone/>
            </a:pPr>
            <a:r>
              <a:rPr lang="en-US" sz="800" dirty="0">
                <a:solidFill>
                  <a:srgbClr val="64748B"/>
                </a:solidFill>
                <a:latin typeface="Calibri" pitchFamily="34" charset="0"/>
                <a:ea typeface="Calibri" pitchFamily="34" charset="-122"/>
                <a:cs typeface="Calibri" pitchFamily="34" charset="-120"/>
              </a:rPr>
              <a:t>BIWI</a:t>
            </a:r>
            <a:endParaRPr lang="en-US" sz="800" dirty="0"/>
          </a:p>
        </p:txBody>
      </p:sp>
      <p:sp>
        <p:nvSpPr>
          <p:cNvPr id="56" name="Text 54"/>
          <p:cNvSpPr/>
          <p:nvPr/>
        </p:nvSpPr>
        <p:spPr>
          <a:xfrm>
            <a:off x="2606040" y="2615184"/>
            <a:ext cx="804672" cy="356616"/>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MAE (deg)</a:t>
            </a:r>
            <a:endParaRPr lang="en-US" sz="800" dirty="0"/>
          </a:p>
        </p:txBody>
      </p:sp>
      <p:sp>
        <p:nvSpPr>
          <p:cNvPr id="57" name="Text 55"/>
          <p:cNvSpPr/>
          <p:nvPr/>
        </p:nvSpPr>
        <p:spPr>
          <a:xfrm>
            <a:off x="3456432" y="2615184"/>
            <a:ext cx="1024128" cy="356616"/>
          </a:xfrm>
          <a:prstGeom prst="rect">
            <a:avLst/>
          </a:prstGeom>
          <a:noFill/>
          <a:ln/>
        </p:spPr>
        <p:txBody>
          <a:bodyPr wrap="square" lIns="38100" tIns="38100" rIns="38100" bIns="38100" rtlCol="0" anchor="ctr"/>
          <a:lstStyle/>
          <a:p>
            <a:pPr algn="ctr" indent="0" marL="0">
              <a:buNone/>
            </a:pPr>
            <a:r>
              <a:rPr lang="en-US" sz="850" b="1" dirty="0">
                <a:solidFill>
                  <a:srgbClr val="0E7C7B"/>
                </a:solidFill>
                <a:latin typeface="Calibri" pitchFamily="34" charset="0"/>
                <a:ea typeface="Calibri" pitchFamily="34" charset="-122"/>
                <a:cs typeface="Calibri" pitchFamily="34" charset="-120"/>
              </a:rPr>
              <a:t>0.379</a:t>
            </a:r>
            <a:endParaRPr lang="en-US" sz="850" dirty="0"/>
          </a:p>
        </p:txBody>
      </p:sp>
      <p:sp>
        <p:nvSpPr>
          <p:cNvPr id="58" name="Text 56"/>
          <p:cNvSpPr/>
          <p:nvPr/>
        </p:nvSpPr>
        <p:spPr>
          <a:xfrm>
            <a:off x="4526280" y="2615184"/>
            <a:ext cx="1078992" cy="356616"/>
          </a:xfrm>
          <a:prstGeom prst="rect">
            <a:avLst/>
          </a:prstGeom>
          <a:noFill/>
          <a:ln/>
        </p:spPr>
        <p:txBody>
          <a:bodyPr wrap="square" lIns="38100" tIns="38100" rIns="38100" bIns="3810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0.382</a:t>
            </a:r>
            <a:endParaRPr lang="en-US" sz="850" dirty="0"/>
          </a:p>
        </p:txBody>
      </p:sp>
      <p:sp>
        <p:nvSpPr>
          <p:cNvPr id="59" name="Text 57"/>
          <p:cNvSpPr/>
          <p:nvPr/>
        </p:nvSpPr>
        <p:spPr>
          <a:xfrm>
            <a:off x="5650992" y="2615184"/>
            <a:ext cx="1161288" cy="356616"/>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≈0 (−0.003)</a:t>
            </a:r>
            <a:endParaRPr lang="en-US" sz="850" dirty="0"/>
          </a:p>
        </p:txBody>
      </p:sp>
      <p:sp>
        <p:nvSpPr>
          <p:cNvPr id="60" name="Shape 58"/>
          <p:cNvSpPr/>
          <p:nvPr/>
        </p:nvSpPr>
        <p:spPr>
          <a:xfrm>
            <a:off x="6903720" y="2660904"/>
            <a:ext cx="1965960" cy="265176"/>
          </a:xfrm>
          <a:prstGeom prst="rect">
            <a:avLst>
              <a:gd name="adj" fmla="val 13793"/>
            </a:avLst>
          </a:prstGeom>
          <a:solidFill>
            <a:srgbClr val="64748B">
              <a:alpha val="12000"/>
            </a:srgbClr>
          </a:solidFill>
          <a:ln w="5080">
            <a:solidFill>
              <a:srgbClr val="64748B"/>
            </a:solidFill>
            <a:prstDash val="solid"/>
          </a:ln>
        </p:spPr>
      </p:sp>
      <p:sp>
        <p:nvSpPr>
          <p:cNvPr id="61" name="Text 59"/>
          <p:cNvSpPr/>
          <p:nvPr/>
        </p:nvSpPr>
        <p:spPr>
          <a:xfrm>
            <a:off x="6931152" y="2660904"/>
            <a:ext cx="1920240" cy="265176"/>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Minimal — headpose robust</a:t>
            </a:r>
            <a:endParaRPr lang="en-US" sz="750" dirty="0"/>
          </a:p>
        </p:txBody>
      </p:sp>
      <p:sp>
        <p:nvSpPr>
          <p:cNvPr id="62" name="Shape 60"/>
          <p:cNvSpPr/>
          <p:nvPr/>
        </p:nvSpPr>
        <p:spPr>
          <a:xfrm>
            <a:off x="182880" y="2971800"/>
            <a:ext cx="8778240" cy="356616"/>
          </a:xfrm>
          <a:prstGeom prst="rect">
            <a:avLst/>
          </a:prstGeom>
          <a:solidFill>
            <a:srgbClr val="F8FAFC"/>
          </a:solidFill>
          <a:ln w="5080">
            <a:solidFill>
              <a:srgbClr val="CBD5E1"/>
            </a:solidFill>
            <a:prstDash val="solid"/>
          </a:ln>
        </p:spPr>
      </p:sp>
      <p:sp>
        <p:nvSpPr>
          <p:cNvPr id="63" name="Text 61"/>
          <p:cNvSpPr/>
          <p:nvPr/>
        </p:nvSpPr>
        <p:spPr>
          <a:xfrm>
            <a:off x="182880" y="2971800"/>
            <a:ext cx="1005840" cy="356616"/>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Age</a:t>
            </a:r>
            <a:endParaRPr lang="en-US" sz="850" dirty="0"/>
          </a:p>
        </p:txBody>
      </p:sp>
      <p:sp>
        <p:nvSpPr>
          <p:cNvPr id="64" name="Text 62"/>
          <p:cNvSpPr/>
          <p:nvPr/>
        </p:nvSpPr>
        <p:spPr>
          <a:xfrm>
            <a:off x="1234440" y="2971800"/>
            <a:ext cx="1325880" cy="356616"/>
          </a:xfrm>
          <a:prstGeom prst="rect">
            <a:avLst/>
          </a:prstGeom>
          <a:noFill/>
          <a:ln/>
        </p:spPr>
        <p:txBody>
          <a:bodyPr wrap="square" lIns="38100" tIns="38100" rIns="38100" bIns="38100" rtlCol="0" anchor="ctr"/>
          <a:lstStyle/>
          <a:p>
            <a:pPr indent="0" marL="0">
              <a:buNone/>
            </a:pPr>
            <a:r>
              <a:rPr lang="en-US" sz="800" dirty="0">
                <a:solidFill>
                  <a:srgbClr val="64748B"/>
                </a:solidFill>
                <a:latin typeface="Calibri" pitchFamily="34" charset="0"/>
                <a:ea typeface="Calibri" pitchFamily="34" charset="-122"/>
                <a:cs typeface="Calibri" pitchFamily="34" charset="-120"/>
              </a:rPr>
              <a:t>UTKFace</a:t>
            </a:r>
            <a:endParaRPr lang="en-US" sz="800" dirty="0"/>
          </a:p>
        </p:txBody>
      </p:sp>
      <p:sp>
        <p:nvSpPr>
          <p:cNvPr id="65" name="Text 63"/>
          <p:cNvSpPr/>
          <p:nvPr/>
        </p:nvSpPr>
        <p:spPr>
          <a:xfrm>
            <a:off x="2606040" y="2971800"/>
            <a:ext cx="804672" cy="356616"/>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MAE (yrs)</a:t>
            </a:r>
            <a:endParaRPr lang="en-US" sz="800" dirty="0"/>
          </a:p>
        </p:txBody>
      </p:sp>
      <p:sp>
        <p:nvSpPr>
          <p:cNvPr id="66" name="Text 64"/>
          <p:cNvSpPr/>
          <p:nvPr/>
        </p:nvSpPr>
        <p:spPr>
          <a:xfrm>
            <a:off x="3456432" y="2971800"/>
            <a:ext cx="1024128" cy="356616"/>
          </a:xfrm>
          <a:prstGeom prst="rect">
            <a:avLst/>
          </a:prstGeom>
          <a:noFill/>
          <a:ln/>
        </p:spPr>
        <p:txBody>
          <a:bodyPr wrap="square" lIns="38100" tIns="38100" rIns="38100" bIns="38100" rtlCol="0" anchor="ctr"/>
          <a:lstStyle/>
          <a:p>
            <a:pPr algn="ctr" indent="0" marL="0">
              <a:buNone/>
            </a:pPr>
            <a:r>
              <a:rPr lang="en-US" sz="850" b="1" dirty="0">
                <a:solidFill>
                  <a:srgbClr val="0E7C7B"/>
                </a:solidFill>
                <a:latin typeface="Calibri" pitchFamily="34" charset="0"/>
                <a:ea typeface="Calibri" pitchFamily="34" charset="-122"/>
                <a:cs typeface="Calibri" pitchFamily="34" charset="-120"/>
              </a:rPr>
              <a:t>35.27</a:t>
            </a:r>
            <a:endParaRPr lang="en-US" sz="850" dirty="0"/>
          </a:p>
        </p:txBody>
      </p:sp>
      <p:sp>
        <p:nvSpPr>
          <p:cNvPr id="67" name="Text 65"/>
          <p:cNvSpPr/>
          <p:nvPr/>
        </p:nvSpPr>
        <p:spPr>
          <a:xfrm>
            <a:off x="4526280" y="2971800"/>
            <a:ext cx="1078992" cy="356616"/>
          </a:xfrm>
          <a:prstGeom prst="rect">
            <a:avLst/>
          </a:prstGeom>
          <a:noFill/>
          <a:ln/>
        </p:spPr>
        <p:txBody>
          <a:bodyPr wrap="square" lIns="38100" tIns="38100" rIns="38100" bIns="3810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36.13</a:t>
            </a:r>
            <a:endParaRPr lang="en-US" sz="850" dirty="0"/>
          </a:p>
        </p:txBody>
      </p:sp>
      <p:sp>
        <p:nvSpPr>
          <p:cNvPr id="68" name="Text 66"/>
          <p:cNvSpPr/>
          <p:nvPr/>
        </p:nvSpPr>
        <p:spPr>
          <a:xfrm>
            <a:off x="5650992" y="2971800"/>
            <a:ext cx="1161288" cy="356616"/>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−0.86yr</a:t>
            </a:r>
            <a:endParaRPr lang="en-US" sz="850" dirty="0"/>
          </a:p>
        </p:txBody>
      </p:sp>
      <p:sp>
        <p:nvSpPr>
          <p:cNvPr id="69" name="Shape 67"/>
          <p:cNvSpPr/>
          <p:nvPr/>
        </p:nvSpPr>
        <p:spPr>
          <a:xfrm>
            <a:off x="6903720" y="3017520"/>
            <a:ext cx="1965960" cy="265176"/>
          </a:xfrm>
          <a:prstGeom prst="rect">
            <a:avLst>
              <a:gd name="adj" fmla="val 13793"/>
            </a:avLst>
          </a:prstGeom>
          <a:solidFill>
            <a:srgbClr val="D97706">
              <a:alpha val="12000"/>
            </a:srgbClr>
          </a:solidFill>
          <a:ln w="5080">
            <a:solidFill>
              <a:srgbClr val="D97706"/>
            </a:solidFill>
            <a:prstDash val="solid"/>
          </a:ln>
        </p:spPr>
      </p:sp>
      <p:sp>
        <p:nvSpPr>
          <p:cNvPr id="70" name="Text 68"/>
          <p:cNvSpPr/>
          <p:nvPr/>
        </p:nvSpPr>
        <p:spPr>
          <a:xfrm>
            <a:off x="6931152" y="3017520"/>
            <a:ext cx="1920240" cy="265176"/>
          </a:xfrm>
          <a:prstGeom prst="rect">
            <a:avLst/>
          </a:prstGeom>
          <a:noFill/>
          <a:ln/>
        </p:spPr>
        <p:txBody>
          <a:bodyPr wrap="square" lIns="0" tIns="0" rIns="0" bIns="0" rtlCol="0" anchor="ctr"/>
          <a:lstStyle/>
          <a:p>
            <a:pPr indent="0" marL="0">
              <a:buNone/>
            </a:pPr>
            <a:r>
              <a:rPr lang="en-US" sz="750" dirty="0">
                <a:solidFill>
                  <a:srgbClr val="D97706"/>
                </a:solidFill>
                <a:latin typeface="Calibri" pitchFamily="34" charset="0"/>
                <a:ea typeface="Calibri" pitchFamily="34" charset="-122"/>
                <a:cs typeface="Calibri" pitchFamily="34" charset="-120"/>
              </a:rPr>
              <a:t>Small gain — core failure persists</a:t>
            </a:r>
            <a:endParaRPr lang="en-US" sz="750" dirty="0"/>
          </a:p>
        </p:txBody>
      </p:sp>
      <p:sp>
        <p:nvSpPr>
          <p:cNvPr id="71" name="Shape 69"/>
          <p:cNvSpPr/>
          <p:nvPr/>
        </p:nvSpPr>
        <p:spPr>
          <a:xfrm>
            <a:off x="182880" y="3328416"/>
            <a:ext cx="8778240" cy="356616"/>
          </a:xfrm>
          <a:prstGeom prst="rect">
            <a:avLst/>
          </a:prstGeom>
          <a:solidFill>
            <a:srgbClr val="FFFFFF"/>
          </a:solidFill>
          <a:ln w="5080">
            <a:solidFill>
              <a:srgbClr val="CBD5E1"/>
            </a:solidFill>
            <a:prstDash val="solid"/>
          </a:ln>
        </p:spPr>
      </p:sp>
      <p:sp>
        <p:nvSpPr>
          <p:cNvPr id="72" name="Text 70"/>
          <p:cNvSpPr/>
          <p:nvPr/>
        </p:nvSpPr>
        <p:spPr>
          <a:xfrm>
            <a:off x="182880" y="3328416"/>
            <a:ext cx="1005840" cy="356616"/>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Visibility</a:t>
            </a:r>
            <a:endParaRPr lang="en-US" sz="850" dirty="0"/>
          </a:p>
        </p:txBody>
      </p:sp>
      <p:sp>
        <p:nvSpPr>
          <p:cNvPr id="73" name="Text 71"/>
          <p:cNvSpPr/>
          <p:nvPr/>
        </p:nvSpPr>
        <p:spPr>
          <a:xfrm>
            <a:off x="1234440" y="3328416"/>
            <a:ext cx="1325880" cy="356616"/>
          </a:xfrm>
          <a:prstGeom prst="rect">
            <a:avLst/>
          </a:prstGeom>
          <a:noFill/>
          <a:ln/>
        </p:spPr>
        <p:txBody>
          <a:bodyPr wrap="square" lIns="38100" tIns="38100" rIns="38100" bIns="3810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COFW</a:t>
            </a:r>
            <a:endParaRPr lang="en-US" sz="800" dirty="0"/>
          </a:p>
        </p:txBody>
      </p:sp>
      <p:sp>
        <p:nvSpPr>
          <p:cNvPr id="74" name="Text 72"/>
          <p:cNvSpPr/>
          <p:nvPr/>
        </p:nvSpPr>
        <p:spPr>
          <a:xfrm>
            <a:off x="2606040" y="3328416"/>
            <a:ext cx="804672" cy="356616"/>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Recall@P80 (%)</a:t>
            </a:r>
            <a:endParaRPr lang="en-US" sz="800" dirty="0"/>
          </a:p>
        </p:txBody>
      </p:sp>
      <p:sp>
        <p:nvSpPr>
          <p:cNvPr id="75" name="Text 73"/>
          <p:cNvSpPr/>
          <p:nvPr/>
        </p:nvSpPr>
        <p:spPr>
          <a:xfrm>
            <a:off x="3456432" y="3328416"/>
            <a:ext cx="1024128" cy="356616"/>
          </a:xfrm>
          <a:prstGeom prst="rect">
            <a:avLst/>
          </a:prstGeom>
          <a:noFill/>
          <a:ln/>
        </p:spPr>
        <p:txBody>
          <a:bodyPr wrap="square" lIns="38100" tIns="38100" rIns="38100" bIns="38100" rtlCol="0" anchor="ctr"/>
          <a:lstStyle/>
          <a:p>
            <a:pPr algn="ctr" indent="0" marL="0">
              <a:buNone/>
            </a:pPr>
            <a:r>
              <a:rPr lang="en-US" sz="850" b="1" dirty="0">
                <a:solidFill>
                  <a:srgbClr val="0E7C7B"/>
                </a:solidFill>
                <a:latin typeface="Calibri" pitchFamily="34" charset="0"/>
                <a:ea typeface="Calibri" pitchFamily="34" charset="-122"/>
                <a:cs typeface="Calibri" pitchFamily="34" charset="-120"/>
              </a:rPr>
              <a:t>99.25</a:t>
            </a:r>
            <a:endParaRPr lang="en-US" sz="850" dirty="0"/>
          </a:p>
        </p:txBody>
      </p:sp>
      <p:sp>
        <p:nvSpPr>
          <p:cNvPr id="76" name="Text 74"/>
          <p:cNvSpPr/>
          <p:nvPr/>
        </p:nvSpPr>
        <p:spPr>
          <a:xfrm>
            <a:off x="4526280" y="3328416"/>
            <a:ext cx="1078992" cy="356616"/>
          </a:xfrm>
          <a:prstGeom prst="rect">
            <a:avLst/>
          </a:prstGeom>
          <a:noFill/>
          <a:ln/>
        </p:spPr>
        <p:txBody>
          <a:bodyPr wrap="square" lIns="38100" tIns="38100" rIns="38100" bIns="3810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99.36</a:t>
            </a:r>
            <a:endParaRPr lang="en-US" sz="850" dirty="0"/>
          </a:p>
        </p:txBody>
      </p:sp>
      <p:sp>
        <p:nvSpPr>
          <p:cNvPr id="77" name="Text 75"/>
          <p:cNvSpPr/>
          <p:nvPr/>
        </p:nvSpPr>
        <p:spPr>
          <a:xfrm>
            <a:off x="5650992" y="3328416"/>
            <a:ext cx="1161288" cy="356616"/>
          </a:xfrm>
          <a:prstGeom prst="rect">
            <a:avLst/>
          </a:prstGeom>
          <a:noFill/>
          <a:ln/>
        </p:spPr>
        <p:txBody>
          <a:bodyPr wrap="square" lIns="38100" tIns="38100" rIns="38100" bIns="38100"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−0.11pp</a:t>
            </a:r>
            <a:endParaRPr lang="en-US" sz="850" dirty="0"/>
          </a:p>
        </p:txBody>
      </p:sp>
      <p:sp>
        <p:nvSpPr>
          <p:cNvPr id="78" name="Shape 76"/>
          <p:cNvSpPr/>
          <p:nvPr/>
        </p:nvSpPr>
        <p:spPr>
          <a:xfrm>
            <a:off x="6903720" y="3374136"/>
            <a:ext cx="1965960" cy="265176"/>
          </a:xfrm>
          <a:prstGeom prst="rect">
            <a:avLst>
              <a:gd name="adj" fmla="val 13793"/>
            </a:avLst>
          </a:prstGeom>
          <a:solidFill>
            <a:srgbClr val="64748B">
              <a:alpha val="12000"/>
            </a:srgbClr>
          </a:solidFill>
          <a:ln w="5080">
            <a:solidFill>
              <a:srgbClr val="64748B"/>
            </a:solidFill>
            <a:prstDash val="solid"/>
          </a:ln>
        </p:spPr>
      </p:sp>
      <p:sp>
        <p:nvSpPr>
          <p:cNvPr id="79" name="Text 77"/>
          <p:cNvSpPr/>
          <p:nvPr/>
        </p:nvSpPr>
        <p:spPr>
          <a:xfrm>
            <a:off x="6931152" y="3374136"/>
            <a:ext cx="1920240" cy="265176"/>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No effect</a:t>
            </a:r>
            <a:endParaRPr lang="en-US" sz="750" dirty="0"/>
          </a:p>
        </p:txBody>
      </p:sp>
      <p:sp>
        <p:nvSpPr>
          <p:cNvPr id="80" name="Shape 78"/>
          <p:cNvSpPr/>
          <p:nvPr/>
        </p:nvSpPr>
        <p:spPr>
          <a:xfrm>
            <a:off x="182880" y="3749040"/>
            <a:ext cx="8778240" cy="566928"/>
          </a:xfrm>
          <a:prstGeom prst="rect">
            <a:avLst>
              <a:gd name="adj" fmla="val 9677"/>
            </a:avLst>
          </a:prstGeom>
          <a:solidFill>
            <a:srgbClr val="F0FDF4"/>
          </a:solidFill>
          <a:ln w="9525">
            <a:solidFill>
              <a:srgbClr val="16A34A"/>
            </a:solidFill>
            <a:prstDash val="solid"/>
          </a:ln>
        </p:spPr>
      </p:sp>
      <p:sp>
        <p:nvSpPr>
          <p:cNvPr id="81" name="Text 79"/>
          <p:cNvSpPr/>
          <p:nvPr/>
        </p:nvSpPr>
        <p:spPr>
          <a:xfrm>
            <a:off x="347472" y="3794760"/>
            <a:ext cx="914400" cy="475488"/>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Key finding:</a:t>
            </a:r>
            <a:endParaRPr lang="en-US" sz="1000" dirty="0"/>
          </a:p>
        </p:txBody>
      </p:sp>
      <p:sp>
        <p:nvSpPr>
          <p:cNvPr id="82" name="Text 80"/>
          <p:cNvSpPr/>
          <p:nvPr/>
        </p:nvSpPr>
        <p:spPr>
          <a:xfrm>
            <a:off x="1298448" y="3794760"/>
            <a:ext cx="7498080"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Augmentation matters most for geometric tasks (landmark NME: 0.0117 vs 0.041 — 3.5× improvement). Classification tasks (attribute, gender) are essentially invariant to augmentation. Most other tasks show &lt;1% difference, suggesting the model learns robust representations regardless.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sp>
      <p:sp>
        <p:nvSpPr>
          <p:cNvPr id="3" name="Text 1"/>
          <p:cNvSpPr/>
          <p:nvPr/>
        </p:nvSpPr>
        <p:spPr>
          <a:xfrm>
            <a:off x="320040" y="0"/>
            <a:ext cx="731520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Ablations: Attention Mechanism  &amp;  Sampling Strategy</a:t>
            </a:r>
            <a:endParaRPr lang="en-US" sz="1800" dirty="0"/>
          </a:p>
        </p:txBody>
      </p:sp>
      <p:sp>
        <p:nvSpPr>
          <p:cNvPr id="4" name="Shape 2"/>
          <p:cNvSpPr/>
          <p:nvPr/>
        </p:nvSpPr>
        <p:spPr>
          <a:xfrm>
            <a:off x="182880" y="594360"/>
            <a:ext cx="8778240" cy="365760"/>
          </a:xfrm>
          <a:prstGeom prst="rect">
            <a:avLst>
              <a:gd name="adj" fmla="val 15000"/>
            </a:avLst>
          </a:prstGeom>
          <a:solidFill>
            <a:srgbClr val="FEF3C7"/>
          </a:solidFill>
          <a:ln w="12700">
            <a:solidFill>
              <a:srgbClr val="D97706"/>
            </a:solidFill>
            <a:prstDash val="solid"/>
          </a:ln>
        </p:spPr>
      </p:sp>
      <p:sp>
        <p:nvSpPr>
          <p:cNvPr id="5" name="Text 3"/>
          <p:cNvSpPr/>
          <p:nvPr/>
        </p:nvSpPr>
        <p:spPr>
          <a:xfrm>
            <a:off x="320040" y="594360"/>
            <a:ext cx="8503920" cy="365760"/>
          </a:xfrm>
          <a:prstGeom prst="rect">
            <a:avLst/>
          </a:prstGeom>
          <a:noFill/>
          <a:ln/>
        </p:spPr>
        <p:txBody>
          <a:bodyPr wrap="square" lIns="0" tIns="0" rIns="0" bIns="0" rtlCol="0" anchor="ctr"/>
          <a:lstStyle/>
          <a:p>
            <a:pPr indent="0" marL="0">
              <a:buNone/>
            </a:pPr>
            <a:r>
              <a:rPr lang="en-US" sz="1000" b="1" dirty="0">
                <a:solidFill>
                  <a:srgbClr val="92400E"/>
                </a:solidFill>
                <a:latin typeface="Calibri" pitchFamily="34" charset="0"/>
                <a:ea typeface="Calibri" pitchFamily="34" charset="-122"/>
                <a:cs typeface="Calibri" pitchFamily="34" charset="-120"/>
              </a:rPr>
              <a:t>⚠  Training error encountered during ablation run — currently being rerun. Results will be reported in the final write-up.</a:t>
            </a:r>
            <a:endParaRPr lang="en-US" sz="1000" dirty="0"/>
          </a:p>
        </p:txBody>
      </p:sp>
      <p:sp>
        <p:nvSpPr>
          <p:cNvPr id="6" name="Text 4"/>
          <p:cNvSpPr/>
          <p:nvPr/>
        </p:nvSpPr>
        <p:spPr>
          <a:xfrm>
            <a:off x="182880" y="1078992"/>
            <a:ext cx="8778240" cy="25603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Ablation 1 — Bidirectional vs. Standard Cross-Attention</a:t>
            </a:r>
            <a:endParaRPr lang="en-US" sz="1200" dirty="0"/>
          </a:p>
        </p:txBody>
      </p:sp>
      <p:sp>
        <p:nvSpPr>
          <p:cNvPr id="7" name="Shape 5"/>
          <p:cNvSpPr/>
          <p:nvPr/>
        </p:nvSpPr>
        <p:spPr>
          <a:xfrm>
            <a:off x="182880" y="1371600"/>
            <a:ext cx="8778240" cy="274320"/>
          </a:xfrm>
          <a:prstGeom prst="rect">
            <a:avLst/>
          </a:prstGeom>
          <a:solidFill>
            <a:srgbClr val="0D1B2A"/>
          </a:solidFill>
          <a:ln w="12700">
            <a:solidFill>
              <a:srgbClr val="0D1B2A"/>
            </a:solidFill>
            <a:prstDash val="solid"/>
          </a:ln>
        </p:spPr>
      </p:sp>
      <p:sp>
        <p:nvSpPr>
          <p:cNvPr id="8" name="Text 6"/>
          <p:cNvSpPr/>
          <p:nvPr/>
        </p:nvSpPr>
        <p:spPr>
          <a:xfrm>
            <a:off x="182880" y="1371600"/>
            <a:ext cx="960120" cy="274320"/>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Task</a:t>
            </a:r>
            <a:endParaRPr lang="en-US" sz="900" dirty="0"/>
          </a:p>
        </p:txBody>
      </p:sp>
      <p:sp>
        <p:nvSpPr>
          <p:cNvPr id="9" name="Text 7"/>
          <p:cNvSpPr/>
          <p:nvPr/>
        </p:nvSpPr>
        <p:spPr>
          <a:xfrm>
            <a:off x="1188720" y="1371600"/>
            <a:ext cx="1325880" cy="274320"/>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Dataset</a:t>
            </a:r>
            <a:endParaRPr lang="en-US" sz="900" dirty="0"/>
          </a:p>
        </p:txBody>
      </p:sp>
      <p:sp>
        <p:nvSpPr>
          <p:cNvPr id="10" name="Text 8"/>
          <p:cNvSpPr/>
          <p:nvPr/>
        </p:nvSpPr>
        <p:spPr>
          <a:xfrm>
            <a:off x="2560320" y="1371600"/>
            <a:ext cx="777240" cy="274320"/>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p>
        </p:txBody>
      </p:sp>
      <p:sp>
        <p:nvSpPr>
          <p:cNvPr id="11" name="Text 9"/>
          <p:cNvSpPr/>
          <p:nvPr/>
        </p:nvSpPr>
        <p:spPr>
          <a:xfrm>
            <a:off x="3383280" y="1371600"/>
            <a:ext cx="2057400" cy="274320"/>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Bidirectional CA (ours)</a:t>
            </a:r>
            <a:endParaRPr lang="en-US" sz="900" dirty="0"/>
          </a:p>
        </p:txBody>
      </p:sp>
      <p:sp>
        <p:nvSpPr>
          <p:cNvPr id="12" name="Text 10"/>
          <p:cNvSpPr/>
          <p:nvPr/>
        </p:nvSpPr>
        <p:spPr>
          <a:xfrm>
            <a:off x="5486400" y="1371600"/>
            <a:ext cx="1965960" cy="274320"/>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Standard CA</a:t>
            </a:r>
            <a:endParaRPr lang="en-US" sz="900" dirty="0"/>
          </a:p>
        </p:txBody>
      </p:sp>
      <p:sp>
        <p:nvSpPr>
          <p:cNvPr id="13" name="Text 11"/>
          <p:cNvSpPr/>
          <p:nvPr/>
        </p:nvSpPr>
        <p:spPr>
          <a:xfrm>
            <a:off x="7498080" y="1371600"/>
            <a:ext cx="1417320" cy="274320"/>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Δ</a:t>
            </a:r>
            <a:endParaRPr lang="en-US" sz="900" dirty="0"/>
          </a:p>
        </p:txBody>
      </p:sp>
      <p:sp>
        <p:nvSpPr>
          <p:cNvPr id="14" name="Shape 12"/>
          <p:cNvSpPr/>
          <p:nvPr/>
        </p:nvSpPr>
        <p:spPr>
          <a:xfrm>
            <a:off x="182880" y="1664208"/>
            <a:ext cx="8778240" cy="274320"/>
          </a:xfrm>
          <a:prstGeom prst="rect">
            <a:avLst/>
          </a:prstGeom>
          <a:solidFill>
            <a:srgbClr val="FFFFFF"/>
          </a:solidFill>
          <a:ln w="5080">
            <a:solidFill>
              <a:srgbClr val="CBD5E1"/>
            </a:solidFill>
            <a:prstDash val="solid"/>
          </a:ln>
        </p:spPr>
      </p:sp>
      <p:sp>
        <p:nvSpPr>
          <p:cNvPr id="15" name="Text 13"/>
          <p:cNvSpPr/>
          <p:nvPr/>
        </p:nvSpPr>
        <p:spPr>
          <a:xfrm>
            <a:off x="182880" y="1664208"/>
            <a:ext cx="960120" cy="274320"/>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Segmentation</a:t>
            </a:r>
            <a:endParaRPr lang="en-US" sz="850" dirty="0"/>
          </a:p>
        </p:txBody>
      </p:sp>
      <p:sp>
        <p:nvSpPr>
          <p:cNvPr id="16" name="Text 14"/>
          <p:cNvSpPr/>
          <p:nvPr/>
        </p:nvSpPr>
        <p:spPr>
          <a:xfrm>
            <a:off x="2560320" y="1664208"/>
            <a:ext cx="777240" cy="274320"/>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F1 (%)</a:t>
            </a:r>
            <a:endParaRPr lang="en-US" sz="800" dirty="0"/>
          </a:p>
        </p:txBody>
      </p:sp>
      <p:sp>
        <p:nvSpPr>
          <p:cNvPr id="17" name="Shape 15"/>
          <p:cNvSpPr/>
          <p:nvPr/>
        </p:nvSpPr>
        <p:spPr>
          <a:xfrm>
            <a:off x="3456432" y="1709928"/>
            <a:ext cx="1911096" cy="182880"/>
          </a:xfrm>
          <a:prstGeom prst="rect">
            <a:avLst>
              <a:gd name="adj" fmla="val 15000"/>
            </a:avLst>
          </a:prstGeom>
          <a:solidFill>
            <a:srgbClr val="EDE9FE"/>
          </a:solidFill>
          <a:ln w="5080">
            <a:solidFill>
              <a:srgbClr val="7C3AED"/>
            </a:solidFill>
            <a:prstDash val="solid"/>
          </a:ln>
        </p:spPr>
      </p:sp>
      <p:sp>
        <p:nvSpPr>
          <p:cNvPr id="18" name="Text 16"/>
          <p:cNvSpPr/>
          <p:nvPr/>
        </p:nvSpPr>
        <p:spPr>
          <a:xfrm>
            <a:off x="3456432" y="1709928"/>
            <a:ext cx="191109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19" name="Shape 17"/>
          <p:cNvSpPr/>
          <p:nvPr/>
        </p:nvSpPr>
        <p:spPr>
          <a:xfrm>
            <a:off x="5559552" y="1709928"/>
            <a:ext cx="1819656" cy="182880"/>
          </a:xfrm>
          <a:prstGeom prst="rect">
            <a:avLst>
              <a:gd name="adj" fmla="val 15000"/>
            </a:avLst>
          </a:prstGeom>
          <a:solidFill>
            <a:srgbClr val="EDE9FE"/>
          </a:solidFill>
          <a:ln w="5080">
            <a:solidFill>
              <a:srgbClr val="7C3AED"/>
            </a:solidFill>
            <a:prstDash val="solid"/>
          </a:ln>
        </p:spPr>
      </p:sp>
      <p:sp>
        <p:nvSpPr>
          <p:cNvPr id="20" name="Text 18"/>
          <p:cNvSpPr/>
          <p:nvPr/>
        </p:nvSpPr>
        <p:spPr>
          <a:xfrm>
            <a:off x="5559552" y="1709928"/>
            <a:ext cx="181965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21" name="Shape 19"/>
          <p:cNvSpPr/>
          <p:nvPr/>
        </p:nvSpPr>
        <p:spPr>
          <a:xfrm>
            <a:off x="7571232" y="1709928"/>
            <a:ext cx="1271016" cy="182880"/>
          </a:xfrm>
          <a:prstGeom prst="rect">
            <a:avLst>
              <a:gd name="adj" fmla="val 15000"/>
            </a:avLst>
          </a:prstGeom>
          <a:solidFill>
            <a:srgbClr val="EDE9FE"/>
          </a:solidFill>
          <a:ln w="5080">
            <a:solidFill>
              <a:srgbClr val="7C3AED"/>
            </a:solidFill>
            <a:prstDash val="solid"/>
          </a:ln>
        </p:spPr>
      </p:sp>
      <p:sp>
        <p:nvSpPr>
          <p:cNvPr id="22" name="Text 20"/>
          <p:cNvSpPr/>
          <p:nvPr/>
        </p:nvSpPr>
        <p:spPr>
          <a:xfrm>
            <a:off x="7571232" y="1709928"/>
            <a:ext cx="127101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23" name="Shape 21"/>
          <p:cNvSpPr/>
          <p:nvPr/>
        </p:nvSpPr>
        <p:spPr>
          <a:xfrm>
            <a:off x="182880" y="1938528"/>
            <a:ext cx="8778240" cy="274320"/>
          </a:xfrm>
          <a:prstGeom prst="rect">
            <a:avLst/>
          </a:prstGeom>
          <a:solidFill>
            <a:srgbClr val="F8FAFC"/>
          </a:solidFill>
          <a:ln w="5080">
            <a:solidFill>
              <a:srgbClr val="CBD5E1"/>
            </a:solidFill>
            <a:prstDash val="solid"/>
          </a:ln>
        </p:spPr>
      </p:sp>
      <p:sp>
        <p:nvSpPr>
          <p:cNvPr id="24" name="Text 22"/>
          <p:cNvSpPr/>
          <p:nvPr/>
        </p:nvSpPr>
        <p:spPr>
          <a:xfrm>
            <a:off x="182880" y="1938528"/>
            <a:ext cx="960120" cy="274320"/>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Landmark</a:t>
            </a:r>
            <a:endParaRPr lang="en-US" sz="850" dirty="0"/>
          </a:p>
        </p:txBody>
      </p:sp>
      <p:sp>
        <p:nvSpPr>
          <p:cNvPr id="25" name="Text 23"/>
          <p:cNvSpPr/>
          <p:nvPr/>
        </p:nvSpPr>
        <p:spPr>
          <a:xfrm>
            <a:off x="2560320" y="1938528"/>
            <a:ext cx="777240" cy="274320"/>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NME (%)</a:t>
            </a:r>
            <a:endParaRPr lang="en-US" sz="800" dirty="0"/>
          </a:p>
        </p:txBody>
      </p:sp>
      <p:sp>
        <p:nvSpPr>
          <p:cNvPr id="26" name="Shape 24"/>
          <p:cNvSpPr/>
          <p:nvPr/>
        </p:nvSpPr>
        <p:spPr>
          <a:xfrm>
            <a:off x="3456432" y="1984248"/>
            <a:ext cx="1911096" cy="182880"/>
          </a:xfrm>
          <a:prstGeom prst="rect">
            <a:avLst>
              <a:gd name="adj" fmla="val 15000"/>
            </a:avLst>
          </a:prstGeom>
          <a:solidFill>
            <a:srgbClr val="EDE9FE"/>
          </a:solidFill>
          <a:ln w="5080">
            <a:solidFill>
              <a:srgbClr val="7C3AED"/>
            </a:solidFill>
            <a:prstDash val="solid"/>
          </a:ln>
        </p:spPr>
      </p:sp>
      <p:sp>
        <p:nvSpPr>
          <p:cNvPr id="27" name="Text 25"/>
          <p:cNvSpPr/>
          <p:nvPr/>
        </p:nvSpPr>
        <p:spPr>
          <a:xfrm>
            <a:off x="3456432" y="1984248"/>
            <a:ext cx="191109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28" name="Shape 26"/>
          <p:cNvSpPr/>
          <p:nvPr/>
        </p:nvSpPr>
        <p:spPr>
          <a:xfrm>
            <a:off x="5559552" y="1984248"/>
            <a:ext cx="1819656" cy="182880"/>
          </a:xfrm>
          <a:prstGeom prst="rect">
            <a:avLst>
              <a:gd name="adj" fmla="val 15000"/>
            </a:avLst>
          </a:prstGeom>
          <a:solidFill>
            <a:srgbClr val="EDE9FE"/>
          </a:solidFill>
          <a:ln w="5080">
            <a:solidFill>
              <a:srgbClr val="7C3AED"/>
            </a:solidFill>
            <a:prstDash val="solid"/>
          </a:ln>
        </p:spPr>
      </p:sp>
      <p:sp>
        <p:nvSpPr>
          <p:cNvPr id="29" name="Text 27"/>
          <p:cNvSpPr/>
          <p:nvPr/>
        </p:nvSpPr>
        <p:spPr>
          <a:xfrm>
            <a:off x="5559552" y="1984248"/>
            <a:ext cx="181965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30" name="Shape 28"/>
          <p:cNvSpPr/>
          <p:nvPr/>
        </p:nvSpPr>
        <p:spPr>
          <a:xfrm>
            <a:off x="7571232" y="1984248"/>
            <a:ext cx="1271016" cy="182880"/>
          </a:xfrm>
          <a:prstGeom prst="rect">
            <a:avLst>
              <a:gd name="adj" fmla="val 15000"/>
            </a:avLst>
          </a:prstGeom>
          <a:solidFill>
            <a:srgbClr val="EDE9FE"/>
          </a:solidFill>
          <a:ln w="5080">
            <a:solidFill>
              <a:srgbClr val="7C3AED"/>
            </a:solidFill>
            <a:prstDash val="solid"/>
          </a:ln>
        </p:spPr>
      </p:sp>
      <p:sp>
        <p:nvSpPr>
          <p:cNvPr id="31" name="Text 29"/>
          <p:cNvSpPr/>
          <p:nvPr/>
        </p:nvSpPr>
        <p:spPr>
          <a:xfrm>
            <a:off x="7571232" y="1984248"/>
            <a:ext cx="127101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32" name="Shape 30"/>
          <p:cNvSpPr/>
          <p:nvPr/>
        </p:nvSpPr>
        <p:spPr>
          <a:xfrm>
            <a:off x="182880" y="2212848"/>
            <a:ext cx="8778240" cy="274320"/>
          </a:xfrm>
          <a:prstGeom prst="rect">
            <a:avLst/>
          </a:prstGeom>
          <a:solidFill>
            <a:srgbClr val="FFFFFF"/>
          </a:solidFill>
          <a:ln w="5080">
            <a:solidFill>
              <a:srgbClr val="CBD5E1"/>
            </a:solidFill>
            <a:prstDash val="solid"/>
          </a:ln>
        </p:spPr>
      </p:sp>
      <p:sp>
        <p:nvSpPr>
          <p:cNvPr id="33" name="Text 31"/>
          <p:cNvSpPr/>
          <p:nvPr/>
        </p:nvSpPr>
        <p:spPr>
          <a:xfrm>
            <a:off x="182880" y="2212848"/>
            <a:ext cx="960120" cy="274320"/>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Headpose</a:t>
            </a:r>
            <a:endParaRPr lang="en-US" sz="850" dirty="0"/>
          </a:p>
        </p:txBody>
      </p:sp>
      <p:sp>
        <p:nvSpPr>
          <p:cNvPr id="34" name="Text 32"/>
          <p:cNvSpPr/>
          <p:nvPr/>
        </p:nvSpPr>
        <p:spPr>
          <a:xfrm>
            <a:off x="2560320" y="2212848"/>
            <a:ext cx="777240" cy="274320"/>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MAE (deg)</a:t>
            </a:r>
            <a:endParaRPr lang="en-US" sz="800" dirty="0"/>
          </a:p>
        </p:txBody>
      </p:sp>
      <p:sp>
        <p:nvSpPr>
          <p:cNvPr id="35" name="Shape 33"/>
          <p:cNvSpPr/>
          <p:nvPr/>
        </p:nvSpPr>
        <p:spPr>
          <a:xfrm>
            <a:off x="3456432" y="2258568"/>
            <a:ext cx="1911096" cy="182880"/>
          </a:xfrm>
          <a:prstGeom prst="rect">
            <a:avLst>
              <a:gd name="adj" fmla="val 15000"/>
            </a:avLst>
          </a:prstGeom>
          <a:solidFill>
            <a:srgbClr val="EDE9FE"/>
          </a:solidFill>
          <a:ln w="5080">
            <a:solidFill>
              <a:srgbClr val="7C3AED"/>
            </a:solidFill>
            <a:prstDash val="solid"/>
          </a:ln>
        </p:spPr>
      </p:sp>
      <p:sp>
        <p:nvSpPr>
          <p:cNvPr id="36" name="Text 34"/>
          <p:cNvSpPr/>
          <p:nvPr/>
        </p:nvSpPr>
        <p:spPr>
          <a:xfrm>
            <a:off x="3456432" y="2258568"/>
            <a:ext cx="191109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37" name="Shape 35"/>
          <p:cNvSpPr/>
          <p:nvPr/>
        </p:nvSpPr>
        <p:spPr>
          <a:xfrm>
            <a:off x="5559552" y="2258568"/>
            <a:ext cx="1819656" cy="182880"/>
          </a:xfrm>
          <a:prstGeom prst="rect">
            <a:avLst>
              <a:gd name="adj" fmla="val 15000"/>
            </a:avLst>
          </a:prstGeom>
          <a:solidFill>
            <a:srgbClr val="EDE9FE"/>
          </a:solidFill>
          <a:ln w="5080">
            <a:solidFill>
              <a:srgbClr val="7C3AED"/>
            </a:solidFill>
            <a:prstDash val="solid"/>
          </a:ln>
        </p:spPr>
      </p:sp>
      <p:sp>
        <p:nvSpPr>
          <p:cNvPr id="38" name="Text 36"/>
          <p:cNvSpPr/>
          <p:nvPr/>
        </p:nvSpPr>
        <p:spPr>
          <a:xfrm>
            <a:off x="5559552" y="2258568"/>
            <a:ext cx="181965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39" name="Shape 37"/>
          <p:cNvSpPr/>
          <p:nvPr/>
        </p:nvSpPr>
        <p:spPr>
          <a:xfrm>
            <a:off x="7571232" y="2258568"/>
            <a:ext cx="1271016" cy="182880"/>
          </a:xfrm>
          <a:prstGeom prst="rect">
            <a:avLst>
              <a:gd name="adj" fmla="val 15000"/>
            </a:avLst>
          </a:prstGeom>
          <a:solidFill>
            <a:srgbClr val="EDE9FE"/>
          </a:solidFill>
          <a:ln w="5080">
            <a:solidFill>
              <a:srgbClr val="7C3AED"/>
            </a:solidFill>
            <a:prstDash val="solid"/>
          </a:ln>
        </p:spPr>
      </p:sp>
      <p:sp>
        <p:nvSpPr>
          <p:cNvPr id="40" name="Text 38"/>
          <p:cNvSpPr/>
          <p:nvPr/>
        </p:nvSpPr>
        <p:spPr>
          <a:xfrm>
            <a:off x="7571232" y="2258568"/>
            <a:ext cx="127101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41" name="Shape 39"/>
          <p:cNvSpPr/>
          <p:nvPr/>
        </p:nvSpPr>
        <p:spPr>
          <a:xfrm>
            <a:off x="182880" y="2487168"/>
            <a:ext cx="8778240" cy="274320"/>
          </a:xfrm>
          <a:prstGeom prst="rect">
            <a:avLst/>
          </a:prstGeom>
          <a:solidFill>
            <a:srgbClr val="F8FAFC"/>
          </a:solidFill>
          <a:ln w="5080">
            <a:solidFill>
              <a:srgbClr val="CBD5E1"/>
            </a:solidFill>
            <a:prstDash val="solid"/>
          </a:ln>
        </p:spPr>
      </p:sp>
      <p:sp>
        <p:nvSpPr>
          <p:cNvPr id="42" name="Text 40"/>
          <p:cNvSpPr/>
          <p:nvPr/>
        </p:nvSpPr>
        <p:spPr>
          <a:xfrm>
            <a:off x="182880" y="2487168"/>
            <a:ext cx="960120" cy="274320"/>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Attribute (CelebA)</a:t>
            </a:r>
            <a:endParaRPr lang="en-US" sz="850" dirty="0"/>
          </a:p>
        </p:txBody>
      </p:sp>
      <p:sp>
        <p:nvSpPr>
          <p:cNvPr id="43" name="Text 41"/>
          <p:cNvSpPr/>
          <p:nvPr/>
        </p:nvSpPr>
        <p:spPr>
          <a:xfrm>
            <a:off x="2560320" y="2487168"/>
            <a:ext cx="777240" cy="274320"/>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Accuracy (%)</a:t>
            </a:r>
            <a:endParaRPr lang="en-US" sz="800" dirty="0"/>
          </a:p>
        </p:txBody>
      </p:sp>
      <p:sp>
        <p:nvSpPr>
          <p:cNvPr id="44" name="Shape 42"/>
          <p:cNvSpPr/>
          <p:nvPr/>
        </p:nvSpPr>
        <p:spPr>
          <a:xfrm>
            <a:off x="3456432" y="2532888"/>
            <a:ext cx="1911096" cy="182880"/>
          </a:xfrm>
          <a:prstGeom prst="rect">
            <a:avLst>
              <a:gd name="adj" fmla="val 15000"/>
            </a:avLst>
          </a:prstGeom>
          <a:solidFill>
            <a:srgbClr val="EDE9FE"/>
          </a:solidFill>
          <a:ln w="5080">
            <a:solidFill>
              <a:srgbClr val="7C3AED"/>
            </a:solidFill>
            <a:prstDash val="solid"/>
          </a:ln>
        </p:spPr>
      </p:sp>
      <p:sp>
        <p:nvSpPr>
          <p:cNvPr id="45" name="Text 43"/>
          <p:cNvSpPr/>
          <p:nvPr/>
        </p:nvSpPr>
        <p:spPr>
          <a:xfrm>
            <a:off x="3456432" y="2532888"/>
            <a:ext cx="191109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46" name="Shape 44"/>
          <p:cNvSpPr/>
          <p:nvPr/>
        </p:nvSpPr>
        <p:spPr>
          <a:xfrm>
            <a:off x="5559552" y="2532888"/>
            <a:ext cx="1819656" cy="182880"/>
          </a:xfrm>
          <a:prstGeom prst="rect">
            <a:avLst>
              <a:gd name="adj" fmla="val 15000"/>
            </a:avLst>
          </a:prstGeom>
          <a:solidFill>
            <a:srgbClr val="EDE9FE"/>
          </a:solidFill>
          <a:ln w="5080">
            <a:solidFill>
              <a:srgbClr val="7C3AED"/>
            </a:solidFill>
            <a:prstDash val="solid"/>
          </a:ln>
        </p:spPr>
      </p:sp>
      <p:sp>
        <p:nvSpPr>
          <p:cNvPr id="47" name="Text 45"/>
          <p:cNvSpPr/>
          <p:nvPr/>
        </p:nvSpPr>
        <p:spPr>
          <a:xfrm>
            <a:off x="5559552" y="2532888"/>
            <a:ext cx="181965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48" name="Shape 46"/>
          <p:cNvSpPr/>
          <p:nvPr/>
        </p:nvSpPr>
        <p:spPr>
          <a:xfrm>
            <a:off x="7571232" y="2532888"/>
            <a:ext cx="1271016" cy="182880"/>
          </a:xfrm>
          <a:prstGeom prst="rect">
            <a:avLst>
              <a:gd name="adj" fmla="val 15000"/>
            </a:avLst>
          </a:prstGeom>
          <a:solidFill>
            <a:srgbClr val="EDE9FE"/>
          </a:solidFill>
          <a:ln w="5080">
            <a:solidFill>
              <a:srgbClr val="7C3AED"/>
            </a:solidFill>
            <a:prstDash val="solid"/>
          </a:ln>
        </p:spPr>
      </p:sp>
      <p:sp>
        <p:nvSpPr>
          <p:cNvPr id="49" name="Text 47"/>
          <p:cNvSpPr/>
          <p:nvPr/>
        </p:nvSpPr>
        <p:spPr>
          <a:xfrm>
            <a:off x="7571232" y="2532888"/>
            <a:ext cx="127101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50" name="Shape 48"/>
          <p:cNvSpPr/>
          <p:nvPr/>
        </p:nvSpPr>
        <p:spPr>
          <a:xfrm>
            <a:off x="182880" y="2761488"/>
            <a:ext cx="8778240" cy="274320"/>
          </a:xfrm>
          <a:prstGeom prst="rect">
            <a:avLst/>
          </a:prstGeom>
          <a:solidFill>
            <a:srgbClr val="FFFFFF"/>
          </a:solidFill>
          <a:ln w="5080">
            <a:solidFill>
              <a:srgbClr val="CBD5E1"/>
            </a:solidFill>
            <a:prstDash val="solid"/>
          </a:ln>
        </p:spPr>
      </p:sp>
      <p:sp>
        <p:nvSpPr>
          <p:cNvPr id="51" name="Text 49"/>
          <p:cNvSpPr/>
          <p:nvPr/>
        </p:nvSpPr>
        <p:spPr>
          <a:xfrm>
            <a:off x="182880" y="2761488"/>
            <a:ext cx="960120" cy="274320"/>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Age (UTKFace)</a:t>
            </a:r>
            <a:endParaRPr lang="en-US" sz="850" dirty="0"/>
          </a:p>
        </p:txBody>
      </p:sp>
      <p:sp>
        <p:nvSpPr>
          <p:cNvPr id="52" name="Text 50"/>
          <p:cNvSpPr/>
          <p:nvPr/>
        </p:nvSpPr>
        <p:spPr>
          <a:xfrm>
            <a:off x="2560320" y="2761488"/>
            <a:ext cx="777240" cy="274320"/>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MAE (years)</a:t>
            </a:r>
            <a:endParaRPr lang="en-US" sz="800" dirty="0"/>
          </a:p>
        </p:txBody>
      </p:sp>
      <p:sp>
        <p:nvSpPr>
          <p:cNvPr id="53" name="Shape 51"/>
          <p:cNvSpPr/>
          <p:nvPr/>
        </p:nvSpPr>
        <p:spPr>
          <a:xfrm>
            <a:off x="3456432" y="2807208"/>
            <a:ext cx="1911096" cy="182880"/>
          </a:xfrm>
          <a:prstGeom prst="rect">
            <a:avLst>
              <a:gd name="adj" fmla="val 15000"/>
            </a:avLst>
          </a:prstGeom>
          <a:solidFill>
            <a:srgbClr val="EDE9FE"/>
          </a:solidFill>
          <a:ln w="5080">
            <a:solidFill>
              <a:srgbClr val="7C3AED"/>
            </a:solidFill>
            <a:prstDash val="solid"/>
          </a:ln>
        </p:spPr>
      </p:sp>
      <p:sp>
        <p:nvSpPr>
          <p:cNvPr id="54" name="Text 52"/>
          <p:cNvSpPr/>
          <p:nvPr/>
        </p:nvSpPr>
        <p:spPr>
          <a:xfrm>
            <a:off x="3456432" y="2807208"/>
            <a:ext cx="191109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55" name="Shape 53"/>
          <p:cNvSpPr/>
          <p:nvPr/>
        </p:nvSpPr>
        <p:spPr>
          <a:xfrm>
            <a:off x="5559552" y="2807208"/>
            <a:ext cx="1819656" cy="182880"/>
          </a:xfrm>
          <a:prstGeom prst="rect">
            <a:avLst>
              <a:gd name="adj" fmla="val 15000"/>
            </a:avLst>
          </a:prstGeom>
          <a:solidFill>
            <a:srgbClr val="EDE9FE"/>
          </a:solidFill>
          <a:ln w="5080">
            <a:solidFill>
              <a:srgbClr val="7C3AED"/>
            </a:solidFill>
            <a:prstDash val="solid"/>
          </a:ln>
        </p:spPr>
      </p:sp>
      <p:sp>
        <p:nvSpPr>
          <p:cNvPr id="56" name="Text 54"/>
          <p:cNvSpPr/>
          <p:nvPr/>
        </p:nvSpPr>
        <p:spPr>
          <a:xfrm>
            <a:off x="5559552" y="2807208"/>
            <a:ext cx="181965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57" name="Shape 55"/>
          <p:cNvSpPr/>
          <p:nvPr/>
        </p:nvSpPr>
        <p:spPr>
          <a:xfrm>
            <a:off x="7571232" y="2807208"/>
            <a:ext cx="1271016" cy="182880"/>
          </a:xfrm>
          <a:prstGeom prst="rect">
            <a:avLst>
              <a:gd name="adj" fmla="val 15000"/>
            </a:avLst>
          </a:prstGeom>
          <a:solidFill>
            <a:srgbClr val="EDE9FE"/>
          </a:solidFill>
          <a:ln w="5080">
            <a:solidFill>
              <a:srgbClr val="7C3AED"/>
            </a:solidFill>
            <a:prstDash val="solid"/>
          </a:ln>
        </p:spPr>
      </p:sp>
      <p:sp>
        <p:nvSpPr>
          <p:cNvPr id="58" name="Text 56"/>
          <p:cNvSpPr/>
          <p:nvPr/>
        </p:nvSpPr>
        <p:spPr>
          <a:xfrm>
            <a:off x="7571232" y="2807208"/>
            <a:ext cx="127101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59" name="Shape 57"/>
          <p:cNvSpPr/>
          <p:nvPr/>
        </p:nvSpPr>
        <p:spPr>
          <a:xfrm>
            <a:off x="182880" y="3035808"/>
            <a:ext cx="8778240" cy="274320"/>
          </a:xfrm>
          <a:prstGeom prst="rect">
            <a:avLst/>
          </a:prstGeom>
          <a:solidFill>
            <a:srgbClr val="F8FAFC"/>
          </a:solidFill>
          <a:ln w="5080">
            <a:solidFill>
              <a:srgbClr val="CBD5E1"/>
            </a:solidFill>
            <a:prstDash val="solid"/>
          </a:ln>
        </p:spPr>
      </p:sp>
      <p:sp>
        <p:nvSpPr>
          <p:cNvPr id="60" name="Text 58"/>
          <p:cNvSpPr/>
          <p:nvPr/>
        </p:nvSpPr>
        <p:spPr>
          <a:xfrm>
            <a:off x="182880" y="3035808"/>
            <a:ext cx="960120" cy="274320"/>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Visibility</a:t>
            </a:r>
            <a:endParaRPr lang="en-US" sz="850" dirty="0"/>
          </a:p>
        </p:txBody>
      </p:sp>
      <p:sp>
        <p:nvSpPr>
          <p:cNvPr id="61" name="Text 59"/>
          <p:cNvSpPr/>
          <p:nvPr/>
        </p:nvSpPr>
        <p:spPr>
          <a:xfrm>
            <a:off x="2560320" y="3035808"/>
            <a:ext cx="777240" cy="274320"/>
          </a:xfrm>
          <a:prstGeom prst="rect">
            <a:avLst/>
          </a:prstGeom>
          <a:noFill/>
          <a:ln/>
        </p:spPr>
        <p:txBody>
          <a:bodyPr wrap="square" lIns="38100" tIns="38100" rIns="38100" bIns="38100" rtlCol="0" anchor="ctr"/>
          <a:lstStyle/>
          <a:p>
            <a:pPr indent="0" marL="0">
              <a:buNone/>
            </a:pPr>
            <a:r>
              <a:rPr lang="en-US" sz="800" dirty="0">
                <a:solidFill>
                  <a:srgbClr val="334155"/>
                </a:solidFill>
                <a:latin typeface="Calibri" pitchFamily="34" charset="0"/>
                <a:ea typeface="Calibri" pitchFamily="34" charset="-122"/>
                <a:cs typeface="Calibri" pitchFamily="34" charset="-120"/>
              </a:rPr>
              <a:t>Recall@P80 (%)</a:t>
            </a:r>
            <a:endParaRPr lang="en-US" sz="800" dirty="0"/>
          </a:p>
        </p:txBody>
      </p:sp>
      <p:sp>
        <p:nvSpPr>
          <p:cNvPr id="62" name="Shape 60"/>
          <p:cNvSpPr/>
          <p:nvPr/>
        </p:nvSpPr>
        <p:spPr>
          <a:xfrm>
            <a:off x="3456432" y="3081528"/>
            <a:ext cx="1911096" cy="182880"/>
          </a:xfrm>
          <a:prstGeom prst="rect">
            <a:avLst>
              <a:gd name="adj" fmla="val 15000"/>
            </a:avLst>
          </a:prstGeom>
          <a:solidFill>
            <a:srgbClr val="EDE9FE"/>
          </a:solidFill>
          <a:ln w="5080">
            <a:solidFill>
              <a:srgbClr val="7C3AED"/>
            </a:solidFill>
            <a:prstDash val="solid"/>
          </a:ln>
        </p:spPr>
      </p:sp>
      <p:sp>
        <p:nvSpPr>
          <p:cNvPr id="63" name="Text 61"/>
          <p:cNvSpPr/>
          <p:nvPr/>
        </p:nvSpPr>
        <p:spPr>
          <a:xfrm>
            <a:off x="3456432" y="3081528"/>
            <a:ext cx="191109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64" name="Shape 62"/>
          <p:cNvSpPr/>
          <p:nvPr/>
        </p:nvSpPr>
        <p:spPr>
          <a:xfrm>
            <a:off x="5559552" y="3081528"/>
            <a:ext cx="1819656" cy="182880"/>
          </a:xfrm>
          <a:prstGeom prst="rect">
            <a:avLst>
              <a:gd name="adj" fmla="val 15000"/>
            </a:avLst>
          </a:prstGeom>
          <a:solidFill>
            <a:srgbClr val="EDE9FE"/>
          </a:solidFill>
          <a:ln w="5080">
            <a:solidFill>
              <a:srgbClr val="7C3AED"/>
            </a:solidFill>
            <a:prstDash val="solid"/>
          </a:ln>
        </p:spPr>
      </p:sp>
      <p:sp>
        <p:nvSpPr>
          <p:cNvPr id="65" name="Text 63"/>
          <p:cNvSpPr/>
          <p:nvPr/>
        </p:nvSpPr>
        <p:spPr>
          <a:xfrm>
            <a:off x="5559552" y="3081528"/>
            <a:ext cx="181965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66" name="Shape 64"/>
          <p:cNvSpPr/>
          <p:nvPr/>
        </p:nvSpPr>
        <p:spPr>
          <a:xfrm>
            <a:off x="7571232" y="3081528"/>
            <a:ext cx="1271016" cy="182880"/>
          </a:xfrm>
          <a:prstGeom prst="rect">
            <a:avLst>
              <a:gd name="adj" fmla="val 15000"/>
            </a:avLst>
          </a:prstGeom>
          <a:solidFill>
            <a:srgbClr val="EDE9FE"/>
          </a:solidFill>
          <a:ln w="5080">
            <a:solidFill>
              <a:srgbClr val="7C3AED"/>
            </a:solidFill>
            <a:prstDash val="solid"/>
          </a:ln>
        </p:spPr>
      </p:sp>
      <p:sp>
        <p:nvSpPr>
          <p:cNvPr id="67" name="Text 65"/>
          <p:cNvSpPr/>
          <p:nvPr/>
        </p:nvSpPr>
        <p:spPr>
          <a:xfrm>
            <a:off x="7571232" y="3081528"/>
            <a:ext cx="127101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68" name="Text 66"/>
          <p:cNvSpPr/>
          <p:nvPr/>
        </p:nvSpPr>
        <p:spPr>
          <a:xfrm>
            <a:off x="182880" y="3383280"/>
            <a:ext cx="8778240" cy="25603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Ablation 2 — Balanced vs. Unbalanced Multi-Task Sampling</a:t>
            </a:r>
            <a:endParaRPr lang="en-US" sz="1200" dirty="0"/>
          </a:p>
        </p:txBody>
      </p:sp>
      <p:sp>
        <p:nvSpPr>
          <p:cNvPr id="69" name="Shape 67"/>
          <p:cNvSpPr/>
          <p:nvPr/>
        </p:nvSpPr>
        <p:spPr>
          <a:xfrm>
            <a:off x="182880" y="3657600"/>
            <a:ext cx="8778240" cy="274320"/>
          </a:xfrm>
          <a:prstGeom prst="rect">
            <a:avLst/>
          </a:prstGeom>
          <a:solidFill>
            <a:srgbClr val="0D1B2A"/>
          </a:solidFill>
          <a:ln w="12700">
            <a:solidFill>
              <a:srgbClr val="0D1B2A"/>
            </a:solidFill>
            <a:prstDash val="solid"/>
          </a:ln>
        </p:spPr>
      </p:sp>
      <p:sp>
        <p:nvSpPr>
          <p:cNvPr id="70" name="Text 68"/>
          <p:cNvSpPr/>
          <p:nvPr/>
        </p:nvSpPr>
        <p:spPr>
          <a:xfrm>
            <a:off x="182880" y="3657600"/>
            <a:ext cx="960120" cy="274320"/>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Task</a:t>
            </a:r>
            <a:endParaRPr lang="en-US" sz="900" dirty="0"/>
          </a:p>
        </p:txBody>
      </p:sp>
      <p:sp>
        <p:nvSpPr>
          <p:cNvPr id="71" name="Text 69"/>
          <p:cNvSpPr/>
          <p:nvPr/>
        </p:nvSpPr>
        <p:spPr>
          <a:xfrm>
            <a:off x="1188720" y="3657600"/>
            <a:ext cx="1325880" cy="274320"/>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p>
        </p:txBody>
      </p:sp>
      <p:sp>
        <p:nvSpPr>
          <p:cNvPr id="72" name="Text 70"/>
          <p:cNvSpPr/>
          <p:nvPr/>
        </p:nvSpPr>
        <p:spPr>
          <a:xfrm>
            <a:off x="2560320" y="3657600"/>
            <a:ext cx="2788920" cy="274320"/>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Balanced Sampling (ours)</a:t>
            </a:r>
            <a:endParaRPr lang="en-US" sz="900" dirty="0"/>
          </a:p>
        </p:txBody>
      </p:sp>
      <p:sp>
        <p:nvSpPr>
          <p:cNvPr id="73" name="Text 71"/>
          <p:cNvSpPr/>
          <p:nvPr/>
        </p:nvSpPr>
        <p:spPr>
          <a:xfrm>
            <a:off x="5394960" y="3657600"/>
            <a:ext cx="2148840" cy="274320"/>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Unbalanced Sampling</a:t>
            </a:r>
            <a:endParaRPr lang="en-US" sz="900" dirty="0"/>
          </a:p>
        </p:txBody>
      </p:sp>
      <p:sp>
        <p:nvSpPr>
          <p:cNvPr id="74" name="Text 72"/>
          <p:cNvSpPr/>
          <p:nvPr/>
        </p:nvSpPr>
        <p:spPr>
          <a:xfrm>
            <a:off x="7589520" y="3657600"/>
            <a:ext cx="1280160" cy="274320"/>
          </a:xfrm>
          <a:prstGeom prst="rect">
            <a:avLst/>
          </a:prstGeom>
          <a:noFill/>
          <a:ln/>
        </p:spPr>
        <p:txBody>
          <a:bodyPr wrap="square" lIns="38100" tIns="38100" rIns="38100" bIns="381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Δ</a:t>
            </a:r>
            <a:endParaRPr lang="en-US" sz="900" dirty="0"/>
          </a:p>
        </p:txBody>
      </p:sp>
      <p:sp>
        <p:nvSpPr>
          <p:cNvPr id="75" name="Shape 73"/>
          <p:cNvSpPr/>
          <p:nvPr/>
        </p:nvSpPr>
        <p:spPr>
          <a:xfrm>
            <a:off x="182880" y="3950208"/>
            <a:ext cx="8778240" cy="274320"/>
          </a:xfrm>
          <a:prstGeom prst="rect">
            <a:avLst/>
          </a:prstGeom>
          <a:solidFill>
            <a:srgbClr val="FFFFFF"/>
          </a:solidFill>
          <a:ln w="5080">
            <a:solidFill>
              <a:srgbClr val="CBD5E1"/>
            </a:solidFill>
            <a:prstDash val="solid"/>
          </a:ln>
        </p:spPr>
      </p:sp>
      <p:sp>
        <p:nvSpPr>
          <p:cNvPr id="76" name="Text 74"/>
          <p:cNvSpPr/>
          <p:nvPr/>
        </p:nvSpPr>
        <p:spPr>
          <a:xfrm>
            <a:off x="182880" y="3950208"/>
            <a:ext cx="960120" cy="274320"/>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Segmentation</a:t>
            </a:r>
            <a:endParaRPr lang="en-US" sz="850" dirty="0"/>
          </a:p>
        </p:txBody>
      </p:sp>
      <p:sp>
        <p:nvSpPr>
          <p:cNvPr id="77" name="Shape 75"/>
          <p:cNvSpPr/>
          <p:nvPr/>
        </p:nvSpPr>
        <p:spPr>
          <a:xfrm>
            <a:off x="2633472" y="3995928"/>
            <a:ext cx="2642616" cy="182880"/>
          </a:xfrm>
          <a:prstGeom prst="rect">
            <a:avLst>
              <a:gd name="adj" fmla="val 15000"/>
            </a:avLst>
          </a:prstGeom>
          <a:solidFill>
            <a:srgbClr val="EDE9FE"/>
          </a:solidFill>
          <a:ln w="5080">
            <a:solidFill>
              <a:srgbClr val="7C3AED"/>
            </a:solidFill>
            <a:prstDash val="solid"/>
          </a:ln>
        </p:spPr>
      </p:sp>
      <p:sp>
        <p:nvSpPr>
          <p:cNvPr id="78" name="Text 76"/>
          <p:cNvSpPr/>
          <p:nvPr/>
        </p:nvSpPr>
        <p:spPr>
          <a:xfrm>
            <a:off x="2633472" y="3995928"/>
            <a:ext cx="264261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79" name="Shape 77"/>
          <p:cNvSpPr/>
          <p:nvPr/>
        </p:nvSpPr>
        <p:spPr>
          <a:xfrm>
            <a:off x="5468112" y="3995928"/>
            <a:ext cx="2002536" cy="182880"/>
          </a:xfrm>
          <a:prstGeom prst="rect">
            <a:avLst>
              <a:gd name="adj" fmla="val 15000"/>
            </a:avLst>
          </a:prstGeom>
          <a:solidFill>
            <a:srgbClr val="EDE9FE"/>
          </a:solidFill>
          <a:ln w="5080">
            <a:solidFill>
              <a:srgbClr val="7C3AED"/>
            </a:solidFill>
            <a:prstDash val="solid"/>
          </a:ln>
        </p:spPr>
      </p:sp>
      <p:sp>
        <p:nvSpPr>
          <p:cNvPr id="80" name="Text 78"/>
          <p:cNvSpPr/>
          <p:nvPr/>
        </p:nvSpPr>
        <p:spPr>
          <a:xfrm>
            <a:off x="5468112" y="3995928"/>
            <a:ext cx="200253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81" name="Shape 79"/>
          <p:cNvSpPr/>
          <p:nvPr/>
        </p:nvSpPr>
        <p:spPr>
          <a:xfrm>
            <a:off x="7662672" y="3995928"/>
            <a:ext cx="1133856" cy="182880"/>
          </a:xfrm>
          <a:prstGeom prst="rect">
            <a:avLst>
              <a:gd name="adj" fmla="val 15000"/>
            </a:avLst>
          </a:prstGeom>
          <a:solidFill>
            <a:srgbClr val="EDE9FE"/>
          </a:solidFill>
          <a:ln w="5080">
            <a:solidFill>
              <a:srgbClr val="7C3AED"/>
            </a:solidFill>
            <a:prstDash val="solid"/>
          </a:ln>
        </p:spPr>
      </p:sp>
      <p:sp>
        <p:nvSpPr>
          <p:cNvPr id="82" name="Text 80"/>
          <p:cNvSpPr/>
          <p:nvPr/>
        </p:nvSpPr>
        <p:spPr>
          <a:xfrm>
            <a:off x="7662672" y="3995928"/>
            <a:ext cx="113385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83" name="Shape 81"/>
          <p:cNvSpPr/>
          <p:nvPr/>
        </p:nvSpPr>
        <p:spPr>
          <a:xfrm>
            <a:off x="182880" y="4224528"/>
            <a:ext cx="8778240" cy="274320"/>
          </a:xfrm>
          <a:prstGeom prst="rect">
            <a:avLst/>
          </a:prstGeom>
          <a:solidFill>
            <a:srgbClr val="F8FAFC"/>
          </a:solidFill>
          <a:ln w="5080">
            <a:solidFill>
              <a:srgbClr val="CBD5E1"/>
            </a:solidFill>
            <a:prstDash val="solid"/>
          </a:ln>
        </p:spPr>
      </p:sp>
      <p:sp>
        <p:nvSpPr>
          <p:cNvPr id="84" name="Text 82"/>
          <p:cNvSpPr/>
          <p:nvPr/>
        </p:nvSpPr>
        <p:spPr>
          <a:xfrm>
            <a:off x="182880" y="4224528"/>
            <a:ext cx="960120" cy="274320"/>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Age (UTKFace)</a:t>
            </a:r>
            <a:endParaRPr lang="en-US" sz="850" dirty="0"/>
          </a:p>
        </p:txBody>
      </p:sp>
      <p:sp>
        <p:nvSpPr>
          <p:cNvPr id="85" name="Shape 83"/>
          <p:cNvSpPr/>
          <p:nvPr/>
        </p:nvSpPr>
        <p:spPr>
          <a:xfrm>
            <a:off x="2633472" y="4270248"/>
            <a:ext cx="2642616" cy="182880"/>
          </a:xfrm>
          <a:prstGeom prst="rect">
            <a:avLst>
              <a:gd name="adj" fmla="val 15000"/>
            </a:avLst>
          </a:prstGeom>
          <a:solidFill>
            <a:srgbClr val="EDE9FE"/>
          </a:solidFill>
          <a:ln w="5080">
            <a:solidFill>
              <a:srgbClr val="7C3AED"/>
            </a:solidFill>
            <a:prstDash val="solid"/>
          </a:ln>
        </p:spPr>
      </p:sp>
      <p:sp>
        <p:nvSpPr>
          <p:cNvPr id="86" name="Text 84"/>
          <p:cNvSpPr/>
          <p:nvPr/>
        </p:nvSpPr>
        <p:spPr>
          <a:xfrm>
            <a:off x="2633472" y="4270248"/>
            <a:ext cx="264261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87" name="Shape 85"/>
          <p:cNvSpPr/>
          <p:nvPr/>
        </p:nvSpPr>
        <p:spPr>
          <a:xfrm>
            <a:off x="5468112" y="4270248"/>
            <a:ext cx="2002536" cy="182880"/>
          </a:xfrm>
          <a:prstGeom prst="rect">
            <a:avLst>
              <a:gd name="adj" fmla="val 15000"/>
            </a:avLst>
          </a:prstGeom>
          <a:solidFill>
            <a:srgbClr val="EDE9FE"/>
          </a:solidFill>
          <a:ln w="5080">
            <a:solidFill>
              <a:srgbClr val="7C3AED"/>
            </a:solidFill>
            <a:prstDash val="solid"/>
          </a:ln>
        </p:spPr>
      </p:sp>
      <p:sp>
        <p:nvSpPr>
          <p:cNvPr id="88" name="Text 86"/>
          <p:cNvSpPr/>
          <p:nvPr/>
        </p:nvSpPr>
        <p:spPr>
          <a:xfrm>
            <a:off x="5468112" y="4270248"/>
            <a:ext cx="200253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89" name="Shape 87"/>
          <p:cNvSpPr/>
          <p:nvPr/>
        </p:nvSpPr>
        <p:spPr>
          <a:xfrm>
            <a:off x="7662672" y="4270248"/>
            <a:ext cx="1133856" cy="182880"/>
          </a:xfrm>
          <a:prstGeom prst="rect">
            <a:avLst>
              <a:gd name="adj" fmla="val 15000"/>
            </a:avLst>
          </a:prstGeom>
          <a:solidFill>
            <a:srgbClr val="EDE9FE"/>
          </a:solidFill>
          <a:ln w="5080">
            <a:solidFill>
              <a:srgbClr val="7C3AED"/>
            </a:solidFill>
            <a:prstDash val="solid"/>
          </a:ln>
        </p:spPr>
      </p:sp>
      <p:sp>
        <p:nvSpPr>
          <p:cNvPr id="90" name="Text 88"/>
          <p:cNvSpPr/>
          <p:nvPr/>
        </p:nvSpPr>
        <p:spPr>
          <a:xfrm>
            <a:off x="7662672" y="4270248"/>
            <a:ext cx="113385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91" name="Shape 89"/>
          <p:cNvSpPr/>
          <p:nvPr/>
        </p:nvSpPr>
        <p:spPr>
          <a:xfrm>
            <a:off x="182880" y="4498848"/>
            <a:ext cx="8778240" cy="274320"/>
          </a:xfrm>
          <a:prstGeom prst="rect">
            <a:avLst/>
          </a:prstGeom>
          <a:solidFill>
            <a:srgbClr val="FFFFFF"/>
          </a:solidFill>
          <a:ln w="5080">
            <a:solidFill>
              <a:srgbClr val="CBD5E1"/>
            </a:solidFill>
            <a:prstDash val="solid"/>
          </a:ln>
        </p:spPr>
      </p:sp>
      <p:sp>
        <p:nvSpPr>
          <p:cNvPr id="92" name="Text 90"/>
          <p:cNvSpPr/>
          <p:nvPr/>
        </p:nvSpPr>
        <p:spPr>
          <a:xfrm>
            <a:off x="182880" y="4498848"/>
            <a:ext cx="960120" cy="274320"/>
          </a:xfrm>
          <a:prstGeom prst="rect">
            <a:avLst/>
          </a:prstGeom>
          <a:noFill/>
          <a:ln/>
        </p:spPr>
        <p:txBody>
          <a:bodyPr wrap="square" lIns="38100" tIns="38100" rIns="38100" bIns="3810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Attribute (CelebA)</a:t>
            </a:r>
            <a:endParaRPr lang="en-US" sz="850" dirty="0"/>
          </a:p>
        </p:txBody>
      </p:sp>
      <p:sp>
        <p:nvSpPr>
          <p:cNvPr id="93" name="Shape 91"/>
          <p:cNvSpPr/>
          <p:nvPr/>
        </p:nvSpPr>
        <p:spPr>
          <a:xfrm>
            <a:off x="2633472" y="4544568"/>
            <a:ext cx="2642616" cy="182880"/>
          </a:xfrm>
          <a:prstGeom prst="rect">
            <a:avLst>
              <a:gd name="adj" fmla="val 15000"/>
            </a:avLst>
          </a:prstGeom>
          <a:solidFill>
            <a:srgbClr val="EDE9FE"/>
          </a:solidFill>
          <a:ln w="5080">
            <a:solidFill>
              <a:srgbClr val="7C3AED"/>
            </a:solidFill>
            <a:prstDash val="solid"/>
          </a:ln>
        </p:spPr>
      </p:sp>
      <p:sp>
        <p:nvSpPr>
          <p:cNvPr id="94" name="Text 92"/>
          <p:cNvSpPr/>
          <p:nvPr/>
        </p:nvSpPr>
        <p:spPr>
          <a:xfrm>
            <a:off x="2633472" y="4544568"/>
            <a:ext cx="264261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95" name="Shape 93"/>
          <p:cNvSpPr/>
          <p:nvPr/>
        </p:nvSpPr>
        <p:spPr>
          <a:xfrm>
            <a:off x="5468112" y="4544568"/>
            <a:ext cx="2002536" cy="182880"/>
          </a:xfrm>
          <a:prstGeom prst="rect">
            <a:avLst>
              <a:gd name="adj" fmla="val 15000"/>
            </a:avLst>
          </a:prstGeom>
          <a:solidFill>
            <a:srgbClr val="EDE9FE"/>
          </a:solidFill>
          <a:ln w="5080">
            <a:solidFill>
              <a:srgbClr val="7C3AED"/>
            </a:solidFill>
            <a:prstDash val="solid"/>
          </a:ln>
        </p:spPr>
      </p:sp>
      <p:sp>
        <p:nvSpPr>
          <p:cNvPr id="96" name="Text 94"/>
          <p:cNvSpPr/>
          <p:nvPr/>
        </p:nvSpPr>
        <p:spPr>
          <a:xfrm>
            <a:off x="5468112" y="4544568"/>
            <a:ext cx="200253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97" name="Shape 95"/>
          <p:cNvSpPr/>
          <p:nvPr/>
        </p:nvSpPr>
        <p:spPr>
          <a:xfrm>
            <a:off x="7662672" y="4544568"/>
            <a:ext cx="1133856" cy="182880"/>
          </a:xfrm>
          <a:prstGeom prst="rect">
            <a:avLst>
              <a:gd name="adj" fmla="val 15000"/>
            </a:avLst>
          </a:prstGeom>
          <a:solidFill>
            <a:srgbClr val="EDE9FE"/>
          </a:solidFill>
          <a:ln w="5080">
            <a:solidFill>
              <a:srgbClr val="7C3AED"/>
            </a:solidFill>
            <a:prstDash val="solid"/>
          </a:ln>
        </p:spPr>
      </p:sp>
      <p:sp>
        <p:nvSpPr>
          <p:cNvPr id="98" name="Text 96"/>
          <p:cNvSpPr/>
          <p:nvPr/>
        </p:nvSpPr>
        <p:spPr>
          <a:xfrm>
            <a:off x="7662672" y="4544568"/>
            <a:ext cx="1133856" cy="182880"/>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pending</a:t>
            </a:r>
            <a:endParaRPr lang="en-US" sz="750" dirty="0"/>
          </a:p>
        </p:txBody>
      </p:sp>
      <p:sp>
        <p:nvSpPr>
          <p:cNvPr id="99" name="Text 97"/>
          <p:cNvSpPr/>
          <p:nvPr/>
        </p:nvSpPr>
        <p:spPr>
          <a:xfrm>
            <a:off x="182880" y="4892040"/>
            <a:ext cx="8778240" cy="201168"/>
          </a:xfrm>
          <a:prstGeom prst="rect">
            <a:avLst/>
          </a:prstGeom>
          <a:noFill/>
          <a:ln/>
        </p:spPr>
        <p:txBody>
          <a:bodyPr wrap="square" lIns="0" tIns="0" rIns="0" bIns="0" rtlCol="0" anchor="ctr"/>
          <a:lstStyle/>
          <a:p>
            <a:pPr indent="0" marL="0">
              <a:buNone/>
            </a:pPr>
            <a:r>
              <a:rPr lang="en-US" sz="850" i="1" dirty="0">
                <a:solidFill>
                  <a:srgbClr val="94A3B8"/>
                </a:solidFill>
                <a:latin typeface="Calibri" pitchFamily="34" charset="0"/>
                <a:ea typeface="Calibri" pitchFamily="34" charset="-122"/>
                <a:cs typeface="Calibri" pitchFamily="34" charset="-120"/>
              </a:rPr>
              <a:t>Hypothesis: balanced sampling should disproportionately benefit underrepresented tasks (COFW-507, 300W-53). Expected to be the largest contributor to age failure recovery.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7B"/>
          </a:solidFill>
          <a:ln w="12700">
            <a:solidFill>
              <a:srgbClr val="0E7C7B"/>
            </a:solidFill>
            <a:prstDash val="solid"/>
          </a:ln>
        </p:spPr>
      </p:sp>
      <p:sp>
        <p:nvSpPr>
          <p:cNvPr id="3" name="Text 1"/>
          <p:cNvSpPr/>
          <p:nvPr/>
        </p:nvSpPr>
        <p:spPr>
          <a:xfrm>
            <a:off x="411480" y="274320"/>
            <a:ext cx="841248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This Project Reveals</a:t>
            </a:r>
            <a:endParaRPr lang="en-US" sz="2800" dirty="0"/>
          </a:p>
        </p:txBody>
      </p:sp>
      <p:sp>
        <p:nvSpPr>
          <p:cNvPr id="4" name="Text 2"/>
          <p:cNvSpPr/>
          <p:nvPr/>
        </p:nvSpPr>
        <p:spPr>
          <a:xfrm>
            <a:off x="411480" y="822960"/>
            <a:ext cx="8412480" cy="256032"/>
          </a:xfrm>
          <a:prstGeom prst="rect">
            <a:avLst/>
          </a:prstGeom>
          <a:noFill/>
          <a:ln/>
        </p:spPr>
        <p:txBody>
          <a:bodyPr wrap="square" lIns="0" tIns="0" rIns="0" bIns="0" rtlCol="0" anchor="ctr"/>
          <a:lstStyle/>
          <a:p>
            <a:pPr indent="0" marL="0">
              <a:buNone/>
            </a:pPr>
            <a:r>
              <a:rPr lang="en-US" sz="1200" i="1" dirty="0">
                <a:solidFill>
                  <a:srgbClr val="7DD3D2"/>
                </a:solidFill>
                <a:latin typeface="Calibri" pitchFamily="34" charset="0"/>
                <a:ea typeface="Calibri" pitchFamily="34" charset="-122"/>
                <a:cs typeface="Calibri" pitchFamily="34" charset="-120"/>
              </a:rPr>
              <a:t>Reproducibility findings from end-to-end FaceXFormer reconstruction</a:t>
            </a:r>
            <a:endParaRPr lang="en-US" sz="1200" dirty="0"/>
          </a:p>
        </p:txBody>
      </p:sp>
      <p:sp>
        <p:nvSpPr>
          <p:cNvPr id="5" name="Shape 3"/>
          <p:cNvSpPr/>
          <p:nvPr/>
        </p:nvSpPr>
        <p:spPr>
          <a:xfrm>
            <a:off x="411480" y="1188720"/>
            <a:ext cx="8321040" cy="987552"/>
          </a:xfrm>
          <a:prstGeom prst="rect">
            <a:avLst>
              <a:gd name="adj" fmla="val 7407"/>
            </a:avLst>
          </a:prstGeom>
          <a:solidFill>
            <a:srgbClr val="FFFFFF">
              <a:alpha val="8000"/>
            </a:srgbClr>
          </a:solidFill>
          <a:ln w="12700">
            <a:solidFill>
              <a:srgbClr val="0E7C7B"/>
            </a:solidFill>
            <a:prstDash val="solid"/>
          </a:ln>
        </p:spPr>
      </p:sp>
      <p:sp>
        <p:nvSpPr>
          <p:cNvPr id="6" name="Shape 4"/>
          <p:cNvSpPr/>
          <p:nvPr/>
        </p:nvSpPr>
        <p:spPr>
          <a:xfrm>
            <a:off x="411480" y="1188720"/>
            <a:ext cx="54864" cy="987552"/>
          </a:xfrm>
          <a:prstGeom prst="rect">
            <a:avLst/>
          </a:prstGeom>
          <a:solidFill>
            <a:srgbClr val="0E7C7B"/>
          </a:solidFill>
          <a:ln w="12700">
            <a:solidFill>
              <a:srgbClr val="0E7C7B"/>
            </a:solidFill>
            <a:prstDash val="solid"/>
          </a:ln>
        </p:spPr>
      </p:sp>
      <p:sp>
        <p:nvSpPr>
          <p:cNvPr id="7" name="Text 5"/>
          <p:cNvSpPr/>
          <p:nvPr/>
        </p:nvSpPr>
        <p:spPr>
          <a:xfrm>
            <a:off x="548640" y="1261872"/>
            <a:ext cx="457200" cy="365760"/>
          </a:xfrm>
          <a:prstGeom prst="rect">
            <a:avLst/>
          </a:prstGeom>
          <a:noFill/>
          <a:ln/>
        </p:spPr>
        <p:txBody>
          <a:bodyPr wrap="square" lIns="0" tIns="0" rIns="0" bIns="0" rtlCol="0" anchor="ctr"/>
          <a:lstStyle/>
          <a:p>
            <a:pPr indent="0" marL="0">
              <a:buNone/>
            </a:pPr>
            <a:r>
              <a:rPr lang="en-US" sz="1800" b="1" dirty="0">
                <a:solidFill>
                  <a:srgbClr val="0E7C7B"/>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1078992" y="1280160"/>
            <a:ext cx="74066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Weights ≠ Reproducibility</a:t>
            </a:r>
            <a:endParaRPr lang="en-US" sz="1300" dirty="0"/>
          </a:p>
        </p:txBody>
      </p:sp>
      <p:sp>
        <p:nvSpPr>
          <p:cNvPr id="9" name="Text 7"/>
          <p:cNvSpPr/>
          <p:nvPr/>
        </p:nvSpPr>
        <p:spPr>
          <a:xfrm>
            <a:off x="1078992" y="1591056"/>
            <a:ext cx="7406640" cy="530352"/>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Releasing pretrained weights is not sufficient. No training loop, no dataloaders, no loss implementations, no multi-task sampler. The unit of reproducibility is the full training pipeline.</a:t>
            </a:r>
            <a:endParaRPr lang="en-US" sz="1000" dirty="0"/>
          </a:p>
        </p:txBody>
      </p:sp>
      <p:sp>
        <p:nvSpPr>
          <p:cNvPr id="10" name="Shape 8"/>
          <p:cNvSpPr/>
          <p:nvPr/>
        </p:nvSpPr>
        <p:spPr>
          <a:xfrm>
            <a:off x="411480" y="2286000"/>
            <a:ext cx="8321040" cy="987552"/>
          </a:xfrm>
          <a:prstGeom prst="rect">
            <a:avLst>
              <a:gd name="adj" fmla="val 7407"/>
            </a:avLst>
          </a:prstGeom>
          <a:solidFill>
            <a:srgbClr val="FFFFFF">
              <a:alpha val="8000"/>
            </a:srgbClr>
          </a:solidFill>
          <a:ln w="12700">
            <a:solidFill>
              <a:srgbClr val="0891B2"/>
            </a:solidFill>
            <a:prstDash val="solid"/>
          </a:ln>
        </p:spPr>
      </p:sp>
      <p:sp>
        <p:nvSpPr>
          <p:cNvPr id="11" name="Shape 9"/>
          <p:cNvSpPr/>
          <p:nvPr/>
        </p:nvSpPr>
        <p:spPr>
          <a:xfrm>
            <a:off x="411480" y="2286000"/>
            <a:ext cx="54864" cy="987552"/>
          </a:xfrm>
          <a:prstGeom prst="rect">
            <a:avLst/>
          </a:prstGeom>
          <a:solidFill>
            <a:srgbClr val="0891B2"/>
          </a:solidFill>
          <a:ln w="12700">
            <a:solidFill>
              <a:srgbClr val="0891B2"/>
            </a:solidFill>
            <a:prstDash val="solid"/>
          </a:ln>
        </p:spPr>
      </p:sp>
      <p:sp>
        <p:nvSpPr>
          <p:cNvPr id="12" name="Text 10"/>
          <p:cNvSpPr/>
          <p:nvPr/>
        </p:nvSpPr>
        <p:spPr>
          <a:xfrm>
            <a:off x="548640" y="2359152"/>
            <a:ext cx="457200" cy="365760"/>
          </a:xfrm>
          <a:prstGeom prst="rect">
            <a:avLst/>
          </a:prstGeom>
          <a:noFill/>
          <a:ln/>
        </p:spPr>
        <p:txBody>
          <a:bodyPr wrap="square" lIns="0" tIns="0" rIns="0" bIns="0" rtlCol="0" anchor="ctr"/>
          <a:lstStyle/>
          <a:p>
            <a:pPr indent="0" marL="0">
              <a:buNone/>
            </a:pPr>
            <a:r>
              <a:rPr lang="en-US" sz="1800" b="1" dirty="0">
                <a:solidFill>
                  <a:srgbClr val="0891B2"/>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1078992" y="2377440"/>
            <a:ext cx="74066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Metric Documentation is Infrastructure</a:t>
            </a:r>
            <a:endParaRPr lang="en-US" sz="1300" dirty="0"/>
          </a:p>
        </p:txBody>
      </p:sp>
      <p:sp>
        <p:nvSpPr>
          <p:cNvPr id="14" name="Text 12"/>
          <p:cNvSpPr/>
          <p:nvPr/>
        </p:nvSpPr>
        <p:spPr>
          <a:xfrm>
            <a:off x="1078992" y="2688336"/>
            <a:ext cx="7406640" cy="530352"/>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Landmark NME and headpose MAE are reported in paper units that differ from script output units. Without normalization rules, the same checkpoint can appear to fail or succeed depending on how you read the metric.</a:t>
            </a:r>
            <a:endParaRPr lang="en-US" sz="1000" dirty="0"/>
          </a:p>
        </p:txBody>
      </p:sp>
      <p:sp>
        <p:nvSpPr>
          <p:cNvPr id="15" name="Shape 13"/>
          <p:cNvSpPr/>
          <p:nvPr/>
        </p:nvSpPr>
        <p:spPr>
          <a:xfrm>
            <a:off x="411480" y="3383280"/>
            <a:ext cx="8321040" cy="987552"/>
          </a:xfrm>
          <a:prstGeom prst="rect">
            <a:avLst>
              <a:gd name="adj" fmla="val 7407"/>
            </a:avLst>
          </a:prstGeom>
          <a:solidFill>
            <a:srgbClr val="FFFFFF">
              <a:alpha val="8000"/>
            </a:srgbClr>
          </a:solidFill>
          <a:ln w="12700">
            <a:solidFill>
              <a:srgbClr val="7C3AED"/>
            </a:solidFill>
            <a:prstDash val="solid"/>
          </a:ln>
        </p:spPr>
      </p:sp>
      <p:sp>
        <p:nvSpPr>
          <p:cNvPr id="16" name="Shape 14"/>
          <p:cNvSpPr/>
          <p:nvPr/>
        </p:nvSpPr>
        <p:spPr>
          <a:xfrm>
            <a:off x="411480" y="3383280"/>
            <a:ext cx="54864" cy="987552"/>
          </a:xfrm>
          <a:prstGeom prst="rect">
            <a:avLst/>
          </a:prstGeom>
          <a:solidFill>
            <a:srgbClr val="7C3AED"/>
          </a:solidFill>
          <a:ln w="12700">
            <a:solidFill>
              <a:srgbClr val="7C3AED"/>
            </a:solidFill>
            <a:prstDash val="solid"/>
          </a:ln>
        </p:spPr>
      </p:sp>
      <p:sp>
        <p:nvSpPr>
          <p:cNvPr id="17" name="Text 15"/>
          <p:cNvSpPr/>
          <p:nvPr/>
        </p:nvSpPr>
        <p:spPr>
          <a:xfrm>
            <a:off x="548640" y="3456432"/>
            <a:ext cx="457200" cy="365760"/>
          </a:xfrm>
          <a:prstGeom prst="rect">
            <a:avLst/>
          </a:prstGeom>
          <a:noFill/>
          <a:ln/>
        </p:spPr>
        <p:txBody>
          <a:bodyPr wrap="square" lIns="0" tIns="0" rIns="0" bIns="0" rtlCol="0" anchor="ctr"/>
          <a:lstStyle/>
          <a:p>
            <a:pPr indent="0" marL="0">
              <a:buNone/>
            </a:pPr>
            <a:r>
              <a:rPr lang="en-US" sz="1800" b="1" dirty="0">
                <a:solidFill>
                  <a:srgbClr val="7C3AED"/>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1078992" y="3474720"/>
            <a:ext cx="74066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Multi-Task λ Weights Are Not Neutral</a:t>
            </a:r>
            <a:endParaRPr lang="en-US" sz="1300" dirty="0"/>
          </a:p>
        </p:txBody>
      </p:sp>
      <p:sp>
        <p:nvSpPr>
          <p:cNvPr id="19" name="Text 17"/>
          <p:cNvSpPr/>
          <p:nvPr/>
        </p:nvSpPr>
        <p:spPr>
          <a:xfrm>
            <a:off x="1078992" y="3785616"/>
            <a:ext cx="7406640" cy="530352"/>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Age MAE of 35 years (vs 4.17) with λ=1 across all tasks signals destructive gradient interference. The paper's silence on λ values is not a minor omission — it determines whether tasks train at all.</a:t>
            </a:r>
            <a:endParaRPr lang="en-US" sz="1000" dirty="0"/>
          </a:p>
        </p:txBody>
      </p:sp>
      <p:sp>
        <p:nvSpPr>
          <p:cNvPr id="20" name="Shape 18"/>
          <p:cNvSpPr/>
          <p:nvPr/>
        </p:nvSpPr>
        <p:spPr>
          <a:xfrm>
            <a:off x="411480" y="4507992"/>
            <a:ext cx="8321040" cy="411480"/>
          </a:xfrm>
          <a:prstGeom prst="rect">
            <a:avLst>
              <a:gd name="adj" fmla="val 13333"/>
            </a:avLst>
          </a:prstGeom>
          <a:solidFill>
            <a:srgbClr val="0E7C7B"/>
          </a:solidFill>
          <a:ln w="12700">
            <a:solidFill>
              <a:srgbClr val="0E7C7B"/>
            </a:solidFill>
            <a:prstDash val="solid"/>
          </a:ln>
        </p:spPr>
      </p:sp>
      <p:sp>
        <p:nvSpPr>
          <p:cNvPr id="21" name="Text 19"/>
          <p:cNvSpPr/>
          <p:nvPr/>
        </p:nvSpPr>
        <p:spPr>
          <a:xfrm>
            <a:off x="411480" y="4507992"/>
            <a:ext cx="83210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FaceXFormer's architecture holds up. Its paper does not fully support independent reproduction.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Reproducing FaceXFormer</dc:title>
  <dc:subject>PptxGenJS Presentation</dc:subject>
  <dc:creator>PptxGenJS</dc:creator>
  <cp:lastModifiedBy>PptxGenJS</cp:lastModifiedBy>
  <cp:revision>1</cp:revision>
  <dcterms:created xsi:type="dcterms:W3CDTF">2026-04-27T19:46:15Z</dcterms:created>
  <dcterms:modified xsi:type="dcterms:W3CDTF">2026-04-27T19:46:15Z</dcterms:modified>
</cp:coreProperties>
</file>