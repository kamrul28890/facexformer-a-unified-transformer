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60" r:id="rId5"/>
    <p:sldId id="258" r:id="rId6"/>
    <p:sldId id="259" r:id="rId7"/>
    <p:sldId id="261" r:id="rId8"/>
    <p:sldId id="262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F7562-6289-49E1-9E10-B72A50EA1CF6}" v="169" dt="2026-04-28T16:39:57.497"/>
    <p1510:client id="{512DC674-0E0B-45E6-9A20-7846E2D2CB5D}" v="61" dt="2026-04-28T16:49:17.602"/>
    <p1510:client id="{6D40D416-575D-49C8-BA8D-7D05E4C4C8D5}" v="19" dt="2026-04-28T16:26:23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19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 Kamruzzaman Kamrul" userId="S::mkamrul@purdue.edu::877b4b6f-ca64-4eb3-b949-b6f9599ec1b0" providerId="AD" clId="Web-{6D40D416-575D-49C8-BA8D-7D05E4C4C8D5}"/>
    <pc:docChg chg="modSld">
      <pc:chgData name="Md Kamruzzaman Kamrul" userId="S::mkamrul@purdue.edu::877b4b6f-ca64-4eb3-b949-b6f9599ec1b0" providerId="AD" clId="Web-{6D40D416-575D-49C8-BA8D-7D05E4C4C8D5}" dt="2026-04-28T16:26:23.484" v="12" actId="20577"/>
      <pc:docMkLst>
        <pc:docMk/>
      </pc:docMkLst>
      <pc:sldChg chg="addSp modSp">
        <pc:chgData name="Md Kamruzzaman Kamrul" userId="S::mkamrul@purdue.edu::877b4b6f-ca64-4eb3-b949-b6f9599ec1b0" providerId="AD" clId="Web-{6D40D416-575D-49C8-BA8D-7D05E4C4C8D5}" dt="2026-04-28T16:26:23.484" v="12" actId="20577"/>
        <pc:sldMkLst>
          <pc:docMk/>
          <pc:sldMk cId="0" sldId="258"/>
        </pc:sldMkLst>
        <pc:spChg chg="mod">
          <ac:chgData name="Md Kamruzzaman Kamrul" userId="S::mkamrul@purdue.edu::877b4b6f-ca64-4eb3-b949-b6f9599ec1b0" providerId="AD" clId="Web-{6D40D416-575D-49C8-BA8D-7D05E4C4C8D5}" dt="2026-04-28T16:25:40.187" v="0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Md Kamruzzaman Kamrul" userId="S::mkamrul@purdue.edu::877b4b6f-ca64-4eb3-b949-b6f9599ec1b0" providerId="AD" clId="Web-{6D40D416-575D-49C8-BA8D-7D05E4C4C8D5}" dt="2026-04-28T16:25:43.859" v="1" actId="14100"/>
          <ac:spMkLst>
            <pc:docMk/>
            <pc:sldMk cId="0" sldId="258"/>
            <ac:spMk id="6" creationId="{00000000-0000-0000-0000-000000000000}"/>
          </ac:spMkLst>
        </pc:spChg>
        <pc:spChg chg="add mod">
          <ac:chgData name="Md Kamruzzaman Kamrul" userId="S::mkamrul@purdue.edu::877b4b6f-ca64-4eb3-b949-b6f9599ec1b0" providerId="AD" clId="Web-{6D40D416-575D-49C8-BA8D-7D05E4C4C8D5}" dt="2026-04-28T16:26:23.484" v="12" actId="20577"/>
          <ac:spMkLst>
            <pc:docMk/>
            <pc:sldMk cId="0" sldId="258"/>
            <ac:spMk id="27" creationId="{A4756346-FDEC-59E5-8F0C-128431FA927F}"/>
          </ac:spMkLst>
        </pc:spChg>
      </pc:sldChg>
    </pc:docChg>
  </pc:docChgLst>
  <pc:docChgLst>
    <pc:chgData name="Md Kamruzzaman Kamrul" userId="S::mkamrul@purdue.edu::877b4b6f-ca64-4eb3-b949-b6f9599ec1b0" providerId="AD" clId="Web-{512DC674-0E0B-45E6-9A20-7846E2D2CB5D}"/>
    <pc:docChg chg="modSld">
      <pc:chgData name="Md Kamruzzaman Kamrul" userId="S::mkamrul@purdue.edu::877b4b6f-ca64-4eb3-b949-b6f9599ec1b0" providerId="AD" clId="Web-{512DC674-0E0B-45E6-9A20-7846E2D2CB5D}" dt="2026-04-28T16:49:17.602" v="60" actId="1076"/>
      <pc:docMkLst>
        <pc:docMk/>
      </pc:docMkLst>
      <pc:sldChg chg="addSp delSp modSp">
        <pc:chgData name="Md Kamruzzaman Kamrul" userId="S::mkamrul@purdue.edu::877b4b6f-ca64-4eb3-b949-b6f9599ec1b0" providerId="AD" clId="Web-{512DC674-0E0B-45E6-9A20-7846E2D2CB5D}" dt="2026-04-28T16:49:17.602" v="60" actId="1076"/>
        <pc:sldMkLst>
          <pc:docMk/>
          <pc:sldMk cId="0" sldId="262"/>
        </pc:sldMkLst>
        <pc:spChg chg="mod">
          <ac:chgData name="Md Kamruzzaman Kamrul" userId="S::mkamrul@purdue.edu::877b4b6f-ca64-4eb3-b949-b6f9599ec1b0" providerId="AD" clId="Web-{512DC674-0E0B-45E6-9A20-7846E2D2CB5D}" dt="2026-04-28T16:46:51.534" v="4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6:51.565" v="50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6:51.596" v="51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6:51.628" v="52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6:51.659" v="53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6:51.690" v="54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7:00.347" v="56" actId="1076"/>
          <ac:spMkLst>
            <pc:docMk/>
            <pc:sldMk cId="0" sldId="262"/>
            <ac:spMk id="13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5:05.887" v="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5:37.280" v="38" actId="14100"/>
          <ac:spMkLst>
            <pc:docMk/>
            <pc:sldMk cId="0" sldId="262"/>
            <ac:spMk id="15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4:58.637" v="2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5:39.811" v="39" actId="14100"/>
          <ac:spMkLst>
            <pc:docMk/>
            <pc:sldMk cId="0" sldId="262"/>
            <ac:spMk id="24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4:58.637" v="27"/>
          <ac:spMkLst>
            <pc:docMk/>
            <pc:sldMk cId="0" sldId="262"/>
            <ac:spMk id="32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5:42.718" v="40" actId="14100"/>
          <ac:spMkLst>
            <pc:docMk/>
            <pc:sldMk cId="0" sldId="262"/>
            <ac:spMk id="34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5:00.121" v="29"/>
          <ac:spMkLst>
            <pc:docMk/>
            <pc:sldMk cId="0" sldId="262"/>
            <ac:spMk id="42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4:58.637" v="2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5:46.124" v="41" actId="14100"/>
          <ac:spMkLst>
            <pc:docMk/>
            <pc:sldMk cId="0" sldId="262"/>
            <ac:spMk id="44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5:00.762" v="30"/>
          <ac:spMkLst>
            <pc:docMk/>
            <pc:sldMk cId="0" sldId="262"/>
            <ac:spMk id="51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4:58.621" v="25"/>
          <ac:spMkLst>
            <pc:docMk/>
            <pc:sldMk cId="0" sldId="262"/>
            <ac:spMk id="52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5:49.202" v="42" actId="14100"/>
          <ac:spMkLst>
            <pc:docMk/>
            <pc:sldMk cId="0" sldId="262"/>
            <ac:spMk id="53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5:01.418" v="31"/>
          <ac:spMkLst>
            <pc:docMk/>
            <pc:sldMk cId="0" sldId="262"/>
            <ac:spMk id="61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4:58.621" v="24"/>
          <ac:spMkLst>
            <pc:docMk/>
            <pc:sldMk cId="0" sldId="262"/>
            <ac:spMk id="62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5:52.078" v="43" actId="14100"/>
          <ac:spMkLst>
            <pc:docMk/>
            <pc:sldMk cId="0" sldId="262"/>
            <ac:spMk id="63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5:02.012" v="32"/>
          <ac:spMkLst>
            <pc:docMk/>
            <pc:sldMk cId="0" sldId="262"/>
            <ac:spMk id="70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4:58.621" v="23"/>
          <ac:spMkLst>
            <pc:docMk/>
            <pc:sldMk cId="0" sldId="262"/>
            <ac:spMk id="71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9:04.508" v="58" actId="14100"/>
          <ac:spMkLst>
            <pc:docMk/>
            <pc:sldMk cId="0" sldId="262"/>
            <ac:spMk id="72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5:02.574" v="33"/>
          <ac:spMkLst>
            <pc:docMk/>
            <pc:sldMk cId="0" sldId="262"/>
            <ac:spMk id="79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4:58.621" v="22"/>
          <ac:spMkLst>
            <pc:docMk/>
            <pc:sldMk cId="0" sldId="262"/>
            <ac:spMk id="80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5:59.875" v="45" actId="14100"/>
          <ac:spMkLst>
            <pc:docMk/>
            <pc:sldMk cId="0" sldId="262"/>
            <ac:spMk id="81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5:03.168" v="34"/>
          <ac:spMkLst>
            <pc:docMk/>
            <pc:sldMk cId="0" sldId="262"/>
            <ac:spMk id="88" creationId="{00000000-0000-0000-0000-000000000000}"/>
          </ac:spMkLst>
        </pc:spChg>
        <pc:spChg chg="del">
          <ac:chgData name="Md Kamruzzaman Kamrul" userId="S::mkamrul@purdue.edu::877b4b6f-ca64-4eb3-b949-b6f9599ec1b0" providerId="AD" clId="Web-{512DC674-0E0B-45E6-9A20-7846E2D2CB5D}" dt="2026-04-28T16:44:58.621" v="21"/>
          <ac:spMkLst>
            <pc:docMk/>
            <pc:sldMk cId="0" sldId="262"/>
            <ac:spMk id="89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9:17.602" v="60" actId="1076"/>
          <ac:spMkLst>
            <pc:docMk/>
            <pc:sldMk cId="0" sldId="262"/>
            <ac:spMk id="90" creationId="{00000000-0000-0000-0000-000000000000}"/>
          </ac:spMkLst>
        </pc:spChg>
        <pc:grpChg chg="add mod">
          <ac:chgData name="Md Kamruzzaman Kamrul" userId="S::mkamrul@purdue.edu::877b4b6f-ca64-4eb3-b949-b6f9599ec1b0" providerId="AD" clId="Web-{512DC674-0E0B-45E6-9A20-7846E2D2CB5D}" dt="2026-04-28T16:46:51.924" v="55" actId="1076"/>
          <ac:grpSpMkLst>
            <pc:docMk/>
            <pc:sldMk cId="0" sldId="262"/>
            <ac:grpSpMk id="91" creationId="{E07C4CA1-351E-15FA-6B86-47FA47081777}"/>
          </ac:grpSpMkLst>
        </pc:grpChg>
      </pc:sldChg>
      <pc:sldChg chg="modSp">
        <pc:chgData name="Md Kamruzzaman Kamrul" userId="S::mkamrul@purdue.edu::877b4b6f-ca64-4eb3-b949-b6f9599ec1b0" providerId="AD" clId="Web-{512DC674-0E0B-45E6-9A20-7846E2D2CB5D}" dt="2026-04-28T16:42:57.439" v="20" actId="20577"/>
        <pc:sldMkLst>
          <pc:docMk/>
          <pc:sldMk cId="0" sldId="263"/>
        </pc:sldMkLst>
        <pc:spChg chg="mod">
          <ac:chgData name="Md Kamruzzaman Kamrul" userId="S::mkamrul@purdue.edu::877b4b6f-ca64-4eb3-b949-b6f9599ec1b0" providerId="AD" clId="Web-{512DC674-0E0B-45E6-9A20-7846E2D2CB5D}" dt="2026-04-28T16:42:22.826" v="1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2:35.890" v="13" actId="1076"/>
          <ac:spMkLst>
            <pc:docMk/>
            <pc:sldMk cId="0" sldId="263"/>
            <ac:spMk id="19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2:35.921" v="14" actId="107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2:42.891" v="15" actId="1076"/>
          <ac:spMkLst>
            <pc:docMk/>
            <pc:sldMk cId="0" sldId="263"/>
            <ac:spMk id="36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2:42.922" v="16" actId="1076"/>
          <ac:spMkLst>
            <pc:docMk/>
            <pc:sldMk cId="0" sldId="263"/>
            <ac:spMk id="37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2:50.876" v="17" actId="1076"/>
          <ac:spMkLst>
            <pc:docMk/>
            <pc:sldMk cId="0" sldId="263"/>
            <ac:spMk id="53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2:50.891" v="18" actId="1076"/>
          <ac:spMkLst>
            <pc:docMk/>
            <pc:sldMk cId="0" sldId="263"/>
            <ac:spMk id="54" creationId="{00000000-0000-0000-0000-000000000000}"/>
          </ac:spMkLst>
        </pc:spChg>
        <pc:spChg chg="mod">
          <ac:chgData name="Md Kamruzzaman Kamrul" userId="S::mkamrul@purdue.edu::877b4b6f-ca64-4eb3-b949-b6f9599ec1b0" providerId="AD" clId="Web-{512DC674-0E0B-45E6-9A20-7846E2D2CB5D}" dt="2026-04-28T16:42:57.439" v="20" actId="20577"/>
          <ac:spMkLst>
            <pc:docMk/>
            <pc:sldMk cId="0" sldId="263"/>
            <ac:spMk id="60" creationId="{00000000-0000-0000-0000-000000000000}"/>
          </ac:spMkLst>
        </pc:spChg>
      </pc:sldChg>
      <pc:sldChg chg="modSp">
        <pc:chgData name="Md Kamruzzaman Kamrul" userId="S::mkamrul@purdue.edu::877b4b6f-ca64-4eb3-b949-b6f9599ec1b0" providerId="AD" clId="Web-{512DC674-0E0B-45E6-9A20-7846E2D2CB5D}" dt="2026-04-28T16:41:58.246" v="2" actId="20577"/>
        <pc:sldMkLst>
          <pc:docMk/>
          <pc:sldMk cId="0" sldId="264"/>
        </pc:sldMkLst>
        <pc:spChg chg="mod">
          <ac:chgData name="Md Kamruzzaman Kamrul" userId="S::mkamrul@purdue.edu::877b4b6f-ca64-4eb3-b949-b6f9599ec1b0" providerId="AD" clId="Web-{512DC674-0E0B-45E6-9A20-7846E2D2CB5D}" dt="2026-04-28T16:41:58.246" v="2" actId="20577"/>
          <ac:spMkLst>
            <pc:docMk/>
            <pc:sldMk cId="0" sldId="264"/>
            <ac:spMk id="19" creationId="{00000000-0000-0000-0000-000000000000}"/>
          </ac:spMkLst>
        </pc:spChg>
      </pc:sldChg>
    </pc:docChg>
  </pc:docChgLst>
  <pc:docChgLst>
    <pc:chgData name="Md Kamruzzaman Kamrul" userId="S::mkamrul@purdue.edu::877b4b6f-ca64-4eb3-b949-b6f9599ec1b0" providerId="AD" clId="Web-{304F7562-6289-49E1-9E10-B72A50EA1CF6}"/>
    <pc:docChg chg="modSld">
      <pc:chgData name="Md Kamruzzaman Kamrul" userId="S::mkamrul@purdue.edu::877b4b6f-ca64-4eb3-b949-b6f9599ec1b0" providerId="AD" clId="Web-{304F7562-6289-49E1-9E10-B72A50EA1CF6}" dt="2026-04-28T16:39:57.497" v="152" actId="20577"/>
      <pc:docMkLst>
        <pc:docMk/>
      </pc:docMkLst>
      <pc:sldChg chg="addSp delSp modSp">
        <pc:chgData name="Md Kamruzzaman Kamrul" userId="S::mkamrul@purdue.edu::877b4b6f-ca64-4eb3-b949-b6f9599ec1b0" providerId="AD" clId="Web-{304F7562-6289-49E1-9E10-B72A50EA1CF6}" dt="2026-04-28T16:36:12.568" v="137" actId="14100"/>
        <pc:sldMkLst>
          <pc:docMk/>
          <pc:sldMk cId="0" sldId="258"/>
        </pc:sldMkLst>
        <pc:spChg chg="mod">
          <ac:chgData name="Md Kamruzzaman Kamrul" userId="S::mkamrul@purdue.edu::877b4b6f-ca64-4eb3-b949-b6f9599ec1b0" providerId="AD" clId="Web-{304F7562-6289-49E1-9E10-B72A50EA1CF6}" dt="2026-04-28T16:36:12.568" v="137" actId="14100"/>
          <ac:spMkLst>
            <pc:docMk/>
            <pc:sldMk cId="0" sldId="258"/>
            <ac:spMk id="4" creationId="{00000000-0000-0000-0000-000000000000}"/>
          </ac:spMkLst>
        </pc:spChg>
        <pc:spChg chg="add del">
          <ac:chgData name="Md Kamruzzaman Kamrul" userId="S::mkamrul@purdue.edu::877b4b6f-ca64-4eb3-b949-b6f9599ec1b0" providerId="AD" clId="Web-{304F7562-6289-49E1-9E10-B72A50EA1CF6}" dt="2026-04-28T16:28:28.330" v="30"/>
          <ac:spMkLst>
            <pc:docMk/>
            <pc:sldMk cId="0" sldId="258"/>
            <ac:spMk id="5" creationId="{00000000-0000-0000-0000-000000000000}"/>
          </ac:spMkLst>
        </pc:spChg>
        <pc:spChg chg="add del">
          <ac:chgData name="Md Kamruzzaman Kamrul" userId="S::mkamrul@purdue.edu::877b4b6f-ca64-4eb3-b949-b6f9599ec1b0" providerId="AD" clId="Web-{304F7562-6289-49E1-9E10-B72A50EA1CF6}" dt="2026-04-28T16:28:28.330" v="29"/>
          <ac:spMkLst>
            <pc:docMk/>
            <pc:sldMk cId="0" sldId="258"/>
            <ac:spMk id="8" creationId="{00000000-0000-0000-0000-000000000000}"/>
          </ac:spMkLst>
        </pc:spChg>
        <pc:spChg chg="add del">
          <ac:chgData name="Md Kamruzzaman Kamrul" userId="S::mkamrul@purdue.edu::877b4b6f-ca64-4eb3-b949-b6f9599ec1b0" providerId="AD" clId="Web-{304F7562-6289-49E1-9E10-B72A50EA1CF6}" dt="2026-04-28T16:28:28.330" v="28"/>
          <ac:spMkLst>
            <pc:docMk/>
            <pc:sldMk cId="0" sldId="258"/>
            <ac:spMk id="9" creationId="{00000000-0000-0000-0000-000000000000}"/>
          </ac:spMkLst>
        </pc:spChg>
        <pc:spChg chg="add del">
          <ac:chgData name="Md Kamruzzaman Kamrul" userId="S::mkamrul@purdue.edu::877b4b6f-ca64-4eb3-b949-b6f9599ec1b0" providerId="AD" clId="Web-{304F7562-6289-49E1-9E10-B72A50EA1CF6}" dt="2026-04-28T16:28:28.330" v="27"/>
          <ac:spMkLst>
            <pc:docMk/>
            <pc:sldMk cId="0" sldId="258"/>
            <ac:spMk id="10" creationId="{00000000-0000-0000-0000-000000000000}"/>
          </ac:spMkLst>
        </pc:spChg>
        <pc:spChg chg="add del">
          <ac:chgData name="Md Kamruzzaman Kamrul" userId="S::mkamrul@purdue.edu::877b4b6f-ca64-4eb3-b949-b6f9599ec1b0" providerId="AD" clId="Web-{304F7562-6289-49E1-9E10-B72A50EA1CF6}" dt="2026-04-28T16:28:28.330" v="26"/>
          <ac:spMkLst>
            <pc:docMk/>
            <pc:sldMk cId="0" sldId="258"/>
            <ac:spMk id="11" creationId="{00000000-0000-0000-0000-000000000000}"/>
          </ac:spMkLst>
        </pc:spChg>
        <pc:spChg chg="add del">
          <ac:chgData name="Md Kamruzzaman Kamrul" userId="S::mkamrul@purdue.edu::877b4b6f-ca64-4eb3-b949-b6f9599ec1b0" providerId="AD" clId="Web-{304F7562-6289-49E1-9E10-B72A50EA1CF6}" dt="2026-04-28T16:28:28.330" v="25"/>
          <ac:spMkLst>
            <pc:docMk/>
            <pc:sldMk cId="0" sldId="258"/>
            <ac:spMk id="12" creationId="{00000000-0000-0000-0000-000000000000}"/>
          </ac:spMkLst>
        </pc:spChg>
        <pc:spChg chg="add del">
          <ac:chgData name="Md Kamruzzaman Kamrul" userId="S::mkamrul@purdue.edu::877b4b6f-ca64-4eb3-b949-b6f9599ec1b0" providerId="AD" clId="Web-{304F7562-6289-49E1-9E10-B72A50EA1CF6}" dt="2026-04-28T16:28:28.330" v="24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4:19.953" v="101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4:19.984" v="102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4:20.016" v="103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4:20.047" v="104" actId="1076"/>
          <ac:spMkLst>
            <pc:docMk/>
            <pc:sldMk cId="0" sldId="258"/>
            <ac:spMk id="26" creationId="{00000000-0000-0000-0000-000000000000}"/>
          </ac:spMkLst>
        </pc:spChg>
        <pc:spChg chg="add del mod">
          <ac:chgData name="Md Kamruzzaman Kamrul" userId="S::mkamrul@purdue.edu::877b4b6f-ca64-4eb3-b949-b6f9599ec1b0" providerId="AD" clId="Web-{304F7562-6289-49E1-9E10-B72A50EA1CF6}" dt="2026-04-28T16:32:25.101" v="83" actId="14100"/>
          <ac:spMkLst>
            <pc:docMk/>
            <pc:sldMk cId="0" sldId="258"/>
            <ac:spMk id="27" creationId="{A4756346-FDEC-59E5-8F0C-128431FA927F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4:20.094" v="105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4:20.125" v="106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4:20.141" v="107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4:45.377" v="112" actId="1076"/>
          <ac:spMkLst>
            <pc:docMk/>
            <pc:sldMk cId="0" sldId="258"/>
            <ac:spMk id="31" creationId="{00000000-0000-0000-0000-000000000000}"/>
          </ac:spMkLst>
        </pc:spChg>
        <pc:spChg chg="add mod">
          <ac:chgData name="Md Kamruzzaman Kamrul" userId="S::mkamrul@purdue.edu::877b4b6f-ca64-4eb3-b949-b6f9599ec1b0" providerId="AD" clId="Web-{304F7562-6289-49E1-9E10-B72A50EA1CF6}" dt="2026-04-28T16:35:20.847" v="129" actId="14100"/>
          <ac:spMkLst>
            <pc:docMk/>
            <pc:sldMk cId="0" sldId="258"/>
            <ac:spMk id="32" creationId="{D449A516-9156-EEDA-5564-11E54D8B7273}"/>
          </ac:spMkLst>
        </pc:spChg>
        <pc:spChg chg="add mod ord">
          <ac:chgData name="Md Kamruzzaman Kamrul" userId="S::mkamrul@purdue.edu::877b4b6f-ca64-4eb3-b949-b6f9599ec1b0" providerId="AD" clId="Web-{304F7562-6289-49E1-9E10-B72A50EA1CF6}" dt="2026-04-28T16:35:49.286" v="133"/>
          <ac:spMkLst>
            <pc:docMk/>
            <pc:sldMk cId="0" sldId="258"/>
            <ac:spMk id="35" creationId="{4EEFEF1A-00F1-986E-9CD9-E725D856DF5E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6:05.365" v="135" actId="14100"/>
          <ac:spMkLst>
            <pc:docMk/>
            <pc:sldMk cId="0" sldId="258"/>
            <ac:spMk id="49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3:10.808" v="92" actId="1076"/>
          <ac:spMkLst>
            <pc:docMk/>
            <pc:sldMk cId="0" sldId="258"/>
            <ac:spMk id="50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3:10.839" v="93" actId="1076"/>
          <ac:spMkLst>
            <pc:docMk/>
            <pc:sldMk cId="0" sldId="258"/>
            <ac:spMk id="51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2.268" v="117" actId="20577"/>
          <ac:spMkLst>
            <pc:docMk/>
            <pc:sldMk cId="0" sldId="258"/>
            <ac:spMk id="52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7.847" v="118" actId="1076"/>
          <ac:spMkLst>
            <pc:docMk/>
            <pc:sldMk cId="0" sldId="258"/>
            <ac:spMk id="56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7.878" v="119" actId="1076"/>
          <ac:spMkLst>
            <pc:docMk/>
            <pc:sldMk cId="0" sldId="258"/>
            <ac:spMk id="57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7.909" v="120" actId="1076"/>
          <ac:spMkLst>
            <pc:docMk/>
            <pc:sldMk cId="0" sldId="258"/>
            <ac:spMk id="58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7.940" v="121" actId="1076"/>
          <ac:spMkLst>
            <pc:docMk/>
            <pc:sldMk cId="0" sldId="258"/>
            <ac:spMk id="60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7.987" v="122" actId="1076"/>
          <ac:spMkLst>
            <pc:docMk/>
            <pc:sldMk cId="0" sldId="258"/>
            <ac:spMk id="63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8.003" v="123" actId="1076"/>
          <ac:spMkLst>
            <pc:docMk/>
            <pc:sldMk cId="0" sldId="258"/>
            <ac:spMk id="64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8.034" v="124" actId="1076"/>
          <ac:spMkLst>
            <pc:docMk/>
            <pc:sldMk cId="0" sldId="258"/>
            <ac:spMk id="67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8.065" v="125" actId="1076"/>
          <ac:spMkLst>
            <pc:docMk/>
            <pc:sldMk cId="0" sldId="258"/>
            <ac:spMk id="68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8.097" v="126" actId="1076"/>
          <ac:spMkLst>
            <pc:docMk/>
            <pc:sldMk cId="0" sldId="258"/>
            <ac:spMk id="70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1:16.922" v="70" actId="1076"/>
          <ac:spMkLst>
            <pc:docMk/>
            <pc:sldMk cId="0" sldId="258"/>
            <ac:spMk id="72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5:08.128" v="127" actId="1076"/>
          <ac:spMkLst>
            <pc:docMk/>
            <pc:sldMk cId="0" sldId="258"/>
            <ac:spMk id="77" creationId="{34E5D012-2200-31C8-9368-90B92952CABA}"/>
          </ac:spMkLst>
        </pc:spChg>
        <pc:grpChg chg="add mod">
          <ac:chgData name="Md Kamruzzaman Kamrul" userId="S::mkamrul@purdue.edu::877b4b6f-ca64-4eb3-b949-b6f9599ec1b0" providerId="AD" clId="Web-{304F7562-6289-49E1-9E10-B72A50EA1CF6}" dt="2026-04-28T16:35:57.677" v="134" actId="14100"/>
          <ac:grpSpMkLst>
            <pc:docMk/>
            <pc:sldMk cId="0" sldId="258"/>
            <ac:grpSpMk id="33" creationId="{21B781C7-089C-C486-9025-719740202BD0}"/>
          </ac:grpSpMkLst>
        </pc:grpChg>
        <pc:grpChg chg="add mod">
          <ac:chgData name="Md Kamruzzaman Kamrul" userId="S::mkamrul@purdue.edu::877b4b6f-ca64-4eb3-b949-b6f9599ec1b0" providerId="AD" clId="Web-{304F7562-6289-49E1-9E10-B72A50EA1CF6}" dt="2026-04-28T16:34:03.140" v="100" actId="14100"/>
          <ac:grpSpMkLst>
            <pc:docMk/>
            <pc:sldMk cId="0" sldId="258"/>
            <ac:grpSpMk id="34" creationId="{013A3A3C-3191-FD8F-2169-7D00EF8D3815}"/>
          </ac:grpSpMkLst>
        </pc:grpChg>
      </pc:sldChg>
      <pc:sldChg chg="modSp">
        <pc:chgData name="Md Kamruzzaman Kamrul" userId="S::mkamrul@purdue.edu::877b4b6f-ca64-4eb3-b949-b6f9599ec1b0" providerId="AD" clId="Web-{304F7562-6289-49E1-9E10-B72A50EA1CF6}" dt="2026-04-28T16:39:57.497" v="152" actId="20577"/>
        <pc:sldMkLst>
          <pc:docMk/>
          <pc:sldMk cId="0" sldId="261"/>
        </pc:sldMkLst>
        <pc:spChg chg="mod">
          <ac:chgData name="Md Kamruzzaman Kamrul" userId="S::mkamrul@purdue.edu::877b4b6f-ca64-4eb3-b949-b6f9599ec1b0" providerId="AD" clId="Web-{304F7562-6289-49E1-9E10-B72A50EA1CF6}" dt="2026-04-28T16:39:57.497" v="152" actId="20577"/>
          <ac:spMkLst>
            <pc:docMk/>
            <pc:sldMk cId="0" sldId="261"/>
            <ac:spMk id="62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9:44.403" v="149" actId="20577"/>
          <ac:spMkLst>
            <pc:docMk/>
            <pc:sldMk cId="0" sldId="261"/>
            <ac:spMk id="64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6:42.085" v="141" actId="20577"/>
          <ac:spMkLst>
            <pc:docMk/>
            <pc:sldMk cId="0" sldId="261"/>
            <ac:spMk id="65" creationId="{00000000-0000-0000-0000-000000000000}"/>
          </ac:spMkLst>
        </pc:spChg>
        <pc:spChg chg="mod">
          <ac:chgData name="Md Kamruzzaman Kamrul" userId="S::mkamrul@purdue.edu::877b4b6f-ca64-4eb3-b949-b6f9599ec1b0" providerId="AD" clId="Web-{304F7562-6289-49E1-9E10-B72A50EA1CF6}" dt="2026-04-28T16:39:42.028" v="148" actId="20577"/>
          <ac:spMkLst>
            <pc:docMk/>
            <pc:sldMk cId="0" sldId="261"/>
            <ac:spMk id="6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429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347472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FaceXFormer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84048" y="1115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Transformer for Multi-Task Facial Analysis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84048" y="1536192"/>
            <a:ext cx="8375904" cy="182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6276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2025  ·  Narayan, VS, Chellappa, Patel  ·  Johns Hopkins University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9019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Preetom Saha Arko  &amp;  Md Kamruzzaman Kamrul  ·  Purdue University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2359152"/>
            <a:ext cx="201168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2395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Tasks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in paper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32888" y="2359152"/>
            <a:ext cx="201168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32888" y="2395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32888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(our scope)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81728" y="2359152"/>
            <a:ext cx="201168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81728" y="2395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127,735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81728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 evaluated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30568" y="2359152"/>
            <a:ext cx="201168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30568" y="2395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Datasets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30568" y="27980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tasks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" y="33832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as a first-class scientific contribution — rebuilding the full training pipeline from scratch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84048" y="3794760"/>
            <a:ext cx="837590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3794760"/>
            <a:ext cx="8375904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4048" y="3794760"/>
            <a:ext cx="8375904" cy="512064"/>
          </a:xfrm>
          <a:prstGeom prst="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38221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by original authors: weights + inference code only — no training loop, no dataloaders, no loss implementations, no multi-task sampler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4C72A0-326E-69BD-C62B-6D150013AECA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</a:rPr>
              <a:t>   Motivation and Related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5A806-315B-D6BF-58C7-445D57793A32}"/>
              </a:ext>
            </a:extLst>
          </p:cNvPr>
          <p:cNvSpPr txBox="1"/>
          <p:nvPr/>
        </p:nvSpPr>
        <p:spPr>
          <a:xfrm>
            <a:off x="340028" y="682358"/>
            <a:ext cx="827516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en-US" sz="1600" b="1" i="0" u="none" strike="noStrike" dirty="0">
                <a:solidFill>
                  <a:srgbClr val="595959"/>
                </a:solidFill>
                <a:effectLst/>
              </a:rPr>
              <a:t>Existing approach</a:t>
            </a:r>
            <a:r>
              <a:rPr lang="en-US" sz="1600" b="0" i="0" u="none" strike="noStrike" dirty="0">
                <a:solidFill>
                  <a:srgbClr val="595959"/>
                </a:solidFill>
                <a:effectLst/>
              </a:rPr>
              <a:t>: Different specialized models for different facial analysis tasks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595959"/>
                </a:solidFill>
                <a:effectLst/>
              </a:rPr>
              <a:t>Computationally intensive 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595959"/>
                </a:solidFill>
                <a:effectLst/>
              </a:rPr>
              <a:t>Impractical for real-time applications</a:t>
            </a:r>
          </a:p>
          <a:p>
            <a:pPr lvl="1" rtl="0" fontAlgn="base"/>
            <a:endParaRPr lang="en-US" sz="1600" dirty="0">
              <a:solidFill>
                <a:srgbClr val="595959"/>
              </a:solidFill>
            </a:endParaRPr>
          </a:p>
          <a:p>
            <a:pPr fontAlgn="base"/>
            <a:r>
              <a:rPr lang="en-US" sz="1600" b="0" i="0" u="none" strike="noStrike" dirty="0">
                <a:solidFill>
                  <a:srgbClr val="595959"/>
                </a:solidFill>
                <a:effectLst/>
              </a:rPr>
              <a:t>Even recent multi-task facial analysis models such as </a:t>
            </a:r>
            <a:r>
              <a:rPr lang="en-US" sz="1600" b="0" i="0" u="none" strike="noStrike" dirty="0" err="1">
                <a:solidFill>
                  <a:srgbClr val="595959"/>
                </a:solidFill>
                <a:effectLst/>
              </a:rPr>
              <a:t>Swin</a:t>
            </a:r>
            <a:r>
              <a:rPr lang="en-US" sz="1600" dirty="0" err="1">
                <a:solidFill>
                  <a:srgbClr val="595959"/>
                </a:solidFill>
              </a:rPr>
              <a:t>Face</a:t>
            </a:r>
            <a:r>
              <a:rPr lang="en-US" sz="1600" dirty="0">
                <a:solidFill>
                  <a:srgbClr val="595959"/>
                </a:solidFill>
              </a:rPr>
              <a:t> [1], </a:t>
            </a:r>
            <a:r>
              <a:rPr lang="en-US" sz="1600" dirty="0" err="1">
                <a:solidFill>
                  <a:srgbClr val="595959"/>
                </a:solidFill>
              </a:rPr>
              <a:t>Faceptor</a:t>
            </a:r>
            <a:r>
              <a:rPr lang="en-US" sz="1600" dirty="0">
                <a:solidFill>
                  <a:srgbClr val="595959"/>
                </a:solidFill>
              </a:rPr>
              <a:t> [2] and </a:t>
            </a:r>
            <a:r>
              <a:rPr lang="en-US" sz="1600" dirty="0" err="1">
                <a:solidFill>
                  <a:srgbClr val="595959"/>
                </a:solidFill>
              </a:rPr>
              <a:t>QFace</a:t>
            </a:r>
            <a:r>
              <a:rPr lang="en-US" sz="1600" dirty="0">
                <a:solidFill>
                  <a:srgbClr val="595959"/>
                </a:solidFill>
              </a:rPr>
              <a:t> [3] are 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not suited for real-time applications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don’t cover a wide range of tasks</a:t>
            </a:r>
            <a:endParaRPr lang="en-US" sz="1600" b="0" i="0" u="none" strike="noStrike" dirty="0">
              <a:solidFill>
                <a:srgbClr val="595959"/>
              </a:solidFill>
              <a:effectLst/>
            </a:endParaRPr>
          </a:p>
          <a:p>
            <a:pPr lvl="1" rtl="0" fontAlgn="base"/>
            <a:endParaRPr lang="en-US" sz="1600" b="0" i="0" u="none" strike="noStrike" dirty="0">
              <a:solidFill>
                <a:srgbClr val="595959"/>
              </a:solidFill>
              <a:effectLst/>
            </a:endParaRPr>
          </a:p>
          <a:p>
            <a:pPr rtl="0" fontAlgn="base"/>
            <a:r>
              <a:rPr lang="en-US" sz="1600" b="1" i="0" u="none" strike="noStrike" dirty="0">
                <a:solidFill>
                  <a:srgbClr val="595959"/>
                </a:solidFill>
                <a:effectLst/>
              </a:rPr>
              <a:t>Solution</a:t>
            </a:r>
            <a:r>
              <a:rPr lang="en-US" sz="1600" b="0" i="0" u="none" strike="noStrike" dirty="0">
                <a:solidFill>
                  <a:srgbClr val="595959"/>
                </a:solidFill>
                <a:effectLst/>
              </a:rPr>
              <a:t>: Single model capable of addressing multiple facial tasks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Learns a robust and generalized face representation capable of handling “in-the-wild” images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Learns task-invariant representation because of intra-task modeling</a:t>
            </a:r>
          </a:p>
          <a:p>
            <a:pPr marL="742950" lvl="1" indent="-28575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595959"/>
                </a:solidFill>
              </a:rPr>
              <a:t>Reduced computational overhead and faster inference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62D2E6-745E-FA38-BBEF-10858FAFF3D0}"/>
              </a:ext>
            </a:extLst>
          </p:cNvPr>
          <p:cNvSpPr txBox="1"/>
          <p:nvPr/>
        </p:nvSpPr>
        <p:spPr>
          <a:xfrm>
            <a:off x="1" y="4301923"/>
            <a:ext cx="901673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[1] Qin, </a:t>
            </a:r>
            <a:r>
              <a:rPr lang="en-US" sz="1000" dirty="0" err="1"/>
              <a:t>Lixiong</a:t>
            </a:r>
            <a:r>
              <a:rPr lang="en-US" sz="1000" dirty="0"/>
              <a:t>, et al. "</a:t>
            </a:r>
            <a:r>
              <a:rPr lang="en-US" sz="1000" dirty="0" err="1"/>
              <a:t>SwinFace</a:t>
            </a:r>
            <a:r>
              <a:rPr lang="en-US" sz="1000" dirty="0"/>
              <a:t>: A multi-task transformer for face recognition, expression recognition, age estimation and attribute estimation." </a:t>
            </a:r>
            <a:r>
              <a:rPr lang="en-US" sz="1000" i="1" dirty="0"/>
              <a:t>IEEE Transactions on Circuits and Systems for Video Technology</a:t>
            </a:r>
            <a:r>
              <a:rPr lang="en-US" sz="1000" dirty="0"/>
              <a:t> 34.4 (2023): 2223-2234.</a:t>
            </a:r>
          </a:p>
          <a:p>
            <a:r>
              <a:rPr lang="en-US" sz="1000" dirty="0"/>
              <a:t>[2] Qin, </a:t>
            </a:r>
            <a:r>
              <a:rPr lang="en-US" sz="1000" dirty="0" err="1"/>
              <a:t>Lixiong</a:t>
            </a:r>
            <a:r>
              <a:rPr lang="en-US" sz="1000" dirty="0"/>
              <a:t>, et al. "</a:t>
            </a:r>
            <a:r>
              <a:rPr lang="en-US" sz="1000" dirty="0" err="1"/>
              <a:t>Faceptor</a:t>
            </a:r>
            <a:r>
              <a:rPr lang="en-US" sz="1000" dirty="0"/>
              <a:t>: A generalist model for face perception." European Conference on Computer Vision. Cham: Springer Nature Switzerland, 2024.</a:t>
            </a:r>
          </a:p>
          <a:p>
            <a:r>
              <a:rPr lang="en-US" sz="1000" dirty="0"/>
              <a:t>[3] Sun, </a:t>
            </a:r>
            <a:r>
              <a:rPr lang="en-US" sz="1000" dirty="0" err="1"/>
              <a:t>Haomiao</a:t>
            </a:r>
            <a:r>
              <a:rPr lang="en-US" sz="1000" dirty="0"/>
              <a:t>, et al. "Task-adaptive q-face." </a:t>
            </a:r>
            <a:r>
              <a:rPr lang="en-US" sz="1000" dirty="0" err="1"/>
              <a:t>arXiv</a:t>
            </a:r>
            <a:r>
              <a:rPr lang="en-US" sz="1000" dirty="0"/>
              <a:t> preprint arXiv:2405.09059 (2024).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541458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Overview: FaceXFormer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0" y="3657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· What it claims · Why reproducing it is hard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566928"/>
            <a:ext cx="3803904" cy="43159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FaceXFormer Does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7472" y="950976"/>
            <a:ext cx="3685032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402336" y="950976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transformer model · 10 facial analysis tasks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508760"/>
            <a:ext cx="64008" cy="2103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475488" y="1518338"/>
            <a:ext cx="3785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Parsing: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level semantic face segmentation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1842079"/>
            <a:ext cx="64008" cy="204001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75488" y="1823359"/>
            <a:ext cx="3803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Detection: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facial structural key points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192024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2175401"/>
            <a:ext cx="64008" cy="23491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475488" y="2155585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Pose Estimation: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3D pitch, yaw, roll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" y="2514162"/>
            <a:ext cx="64008" cy="21945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75488" y="2483464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Prediction: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multiple binary facial traits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4873" y="2869252"/>
            <a:ext cx="64008" cy="20400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75487" y="2820265"/>
            <a:ext cx="3503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Estimation: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age of subject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7471" y="3169916"/>
            <a:ext cx="71409" cy="1767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475488" y="3111568"/>
            <a:ext cx="350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Estimation: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subject as male or female 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" y="3775381"/>
            <a:ext cx="64008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475488" y="3775381"/>
            <a:ext cx="3448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Visibility Prediction: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occlusion state of facial features 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7472" y="4163130"/>
            <a:ext cx="6400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75487" y="4181418"/>
            <a:ext cx="3913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 Recognition: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subject's current emotional state 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145494" y="539713"/>
            <a:ext cx="4861345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4295500" y="640080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Key Claims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49780" y="1005840"/>
            <a:ext cx="45720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4249780" y="1298448"/>
            <a:ext cx="45720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4249780" y="1678144"/>
            <a:ext cx="45720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4249780" y="2116399"/>
            <a:ext cx="45720" cy="2011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4359508" y="2079823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face pretraining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729148" y="2079823"/>
            <a:ext cx="32243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purely on multi-task co-training with ImageNet pretrained encoder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140051" y="2596896"/>
            <a:ext cx="4866788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295500" y="2670048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Reproduction Is Non-Trivial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249780" y="3044952"/>
            <a:ext cx="4572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4359508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loop released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83086" y="2999232"/>
            <a:ext cx="277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training pipeline (including loss functions) implemented from scratch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49780" y="3526321"/>
            <a:ext cx="4572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4359508" y="3453383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loaders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183086" y="3453383"/>
            <a:ext cx="2732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datasets downloaded, custom adapters per task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249780" y="3904272"/>
            <a:ext cx="4572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9" name="Text 57"/>
          <p:cNvSpPr/>
          <p:nvPr/>
        </p:nvSpPr>
        <p:spPr>
          <a:xfrm>
            <a:off x="4359508" y="3853109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inconsistencies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183086" y="3853109"/>
            <a:ext cx="2732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critical inconsistencies between the paper and the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repository</a:t>
            </a:r>
            <a:endParaRPr lang="en-US" sz="1200" dirty="0"/>
          </a:p>
        </p:txBody>
      </p:sp>
      <p:sp>
        <p:nvSpPr>
          <p:cNvPr id="70" name="Text 46">
            <a:extLst>
              <a:ext uri="{FF2B5EF4-FFF2-40B4-BE49-F238E27FC236}">
                <a16:creationId xmlns:a16="http://schemas.microsoft.com/office/drawing/2014/main" id="{A4F3CC45-5E12-B6FF-8904-4415C36C2130}"/>
              </a:ext>
            </a:extLst>
          </p:cNvPr>
          <p:cNvSpPr/>
          <p:nvPr/>
        </p:nvSpPr>
        <p:spPr>
          <a:xfrm>
            <a:off x="4359504" y="96947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200" dirty="0"/>
          </a:p>
        </p:txBody>
      </p:sp>
      <p:sp>
        <p:nvSpPr>
          <p:cNvPr id="71" name="Text 47">
            <a:extLst>
              <a:ext uri="{FF2B5EF4-FFF2-40B4-BE49-F238E27FC236}">
                <a16:creationId xmlns:a16="http://schemas.microsoft.com/office/drawing/2014/main" id="{166F5A25-369E-8EEE-81EB-B339E48EFAC5}"/>
              </a:ext>
            </a:extLst>
          </p:cNvPr>
          <p:cNvSpPr/>
          <p:nvPr/>
        </p:nvSpPr>
        <p:spPr>
          <a:xfrm>
            <a:off x="5745474" y="96947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at 33.21 fps</a:t>
            </a:r>
            <a:endParaRPr lang="en-US" sz="1200" dirty="0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C2C0F2B4-BA9D-66A8-6719-EB4BDB4313B5}"/>
              </a:ext>
            </a:extLst>
          </p:cNvPr>
          <p:cNvSpPr/>
          <p:nvPr/>
        </p:nvSpPr>
        <p:spPr>
          <a:xfrm>
            <a:off x="4359503" y="12688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CA</a:t>
            </a:r>
            <a:endParaRPr lang="en-US" sz="1200" dirty="0"/>
          </a:p>
        </p:txBody>
      </p:sp>
      <p:sp>
        <p:nvSpPr>
          <p:cNvPr id="73" name="Text 47">
            <a:extLst>
              <a:ext uri="{FF2B5EF4-FFF2-40B4-BE49-F238E27FC236}">
                <a16:creationId xmlns:a16="http://schemas.microsoft.com/office/drawing/2014/main" id="{EDBC303C-75C9-98A6-A901-0B0774FFCB5E}"/>
              </a:ext>
            </a:extLst>
          </p:cNvPr>
          <p:cNvSpPr/>
          <p:nvPr/>
        </p:nvSpPr>
        <p:spPr>
          <a:xfrm>
            <a:off x="5745472" y="1268836"/>
            <a:ext cx="3169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decoder with novel bi-directional cross attention</a:t>
            </a:r>
            <a:endParaRPr lang="en-US" sz="1200" dirty="0"/>
          </a:p>
        </p:txBody>
      </p:sp>
      <p:sp>
        <p:nvSpPr>
          <p:cNvPr id="74" name="Text 46">
            <a:extLst>
              <a:ext uri="{FF2B5EF4-FFF2-40B4-BE49-F238E27FC236}">
                <a16:creationId xmlns:a16="http://schemas.microsoft.com/office/drawing/2014/main" id="{581948E7-4F4D-0991-F23B-0B26722FCAAD}"/>
              </a:ext>
            </a:extLst>
          </p:cNvPr>
          <p:cNvSpPr/>
          <p:nvPr/>
        </p:nvSpPr>
        <p:spPr>
          <a:xfrm>
            <a:off x="4359504" y="1671605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performance</a:t>
            </a:r>
            <a:endParaRPr lang="en-US" sz="1200" dirty="0"/>
          </a:p>
        </p:txBody>
      </p:sp>
      <p:sp>
        <p:nvSpPr>
          <p:cNvPr id="75" name="Text 47">
            <a:extLst>
              <a:ext uri="{FF2B5EF4-FFF2-40B4-BE49-F238E27FC236}">
                <a16:creationId xmlns:a16="http://schemas.microsoft.com/office/drawing/2014/main" id="{9CE797B1-753E-C498-BF78-2B8AF2FE0DF5}"/>
              </a:ext>
            </a:extLst>
          </p:cNvPr>
          <p:cNvSpPr/>
          <p:nvPr/>
        </p:nvSpPr>
        <p:spPr>
          <a:xfrm>
            <a:off x="5745473" y="1671605"/>
            <a:ext cx="316992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or near SOTA performance on multiple facial analysis tasks</a:t>
            </a:r>
            <a:endParaRPr lang="en-US" sz="1200" dirty="0"/>
          </a:p>
        </p:txBody>
      </p:sp>
      <p:sp>
        <p:nvSpPr>
          <p:cNvPr id="76" name="Shape 10">
            <a:extLst>
              <a:ext uri="{FF2B5EF4-FFF2-40B4-BE49-F238E27FC236}">
                <a16:creationId xmlns:a16="http://schemas.microsoft.com/office/drawing/2014/main" id="{15D41E34-0695-6B16-DBA9-27AB69C4F47E}"/>
              </a:ext>
            </a:extLst>
          </p:cNvPr>
          <p:cNvSpPr/>
          <p:nvPr/>
        </p:nvSpPr>
        <p:spPr>
          <a:xfrm>
            <a:off x="347470" y="3469494"/>
            <a:ext cx="64008" cy="20400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7" name="Text 23">
            <a:extLst>
              <a:ext uri="{FF2B5EF4-FFF2-40B4-BE49-F238E27FC236}">
                <a16:creationId xmlns:a16="http://schemas.microsoft.com/office/drawing/2014/main" id="{70F179DB-A92E-0323-DAC2-47436C7900DB}"/>
              </a:ext>
            </a:extLst>
          </p:cNvPr>
          <p:cNvSpPr/>
          <p:nvPr/>
        </p:nvSpPr>
        <p:spPr>
          <a:xfrm>
            <a:off x="475488" y="3404176"/>
            <a:ext cx="350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Estimation: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subject into ethnic groups</a:t>
            </a:r>
            <a:endParaRPr lang="en-US" sz="1200" dirty="0"/>
          </a:p>
        </p:txBody>
      </p:sp>
      <p:sp>
        <p:nvSpPr>
          <p:cNvPr id="78" name="Shape 28">
            <a:extLst>
              <a:ext uri="{FF2B5EF4-FFF2-40B4-BE49-F238E27FC236}">
                <a16:creationId xmlns:a16="http://schemas.microsoft.com/office/drawing/2014/main" id="{DAF97560-861C-8D0A-0DC6-8B37599AB545}"/>
              </a:ext>
            </a:extLst>
          </p:cNvPr>
          <p:cNvSpPr/>
          <p:nvPr/>
        </p:nvSpPr>
        <p:spPr>
          <a:xfrm>
            <a:off x="342029" y="4522360"/>
            <a:ext cx="64008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9" name="Text 29">
            <a:extLst>
              <a:ext uri="{FF2B5EF4-FFF2-40B4-BE49-F238E27FC236}">
                <a16:creationId xmlns:a16="http://schemas.microsoft.com/office/drawing/2014/main" id="{FD413A12-5D0C-B0FC-BF8C-E45462C5092B}"/>
              </a:ext>
            </a:extLst>
          </p:cNvPr>
          <p:cNvSpPr/>
          <p:nvPr/>
        </p:nvSpPr>
        <p:spPr>
          <a:xfrm>
            <a:off x="470044" y="4540648"/>
            <a:ext cx="39136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Recognition: </a:t>
            </a: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person's identity</a:t>
            </a:r>
            <a:endParaRPr lang="en-US" sz="1200" dirty="0"/>
          </a:p>
        </p:txBody>
      </p:sp>
      <p:sp>
        <p:nvSpPr>
          <p:cNvPr id="80" name="Text 55">
            <a:extLst>
              <a:ext uri="{FF2B5EF4-FFF2-40B4-BE49-F238E27FC236}">
                <a16:creationId xmlns:a16="http://schemas.microsoft.com/office/drawing/2014/main" id="{D5AEE44B-EDF2-E9EC-DF41-DBD91A74B945}"/>
              </a:ext>
            </a:extLst>
          </p:cNvPr>
          <p:cNvSpPr/>
          <p:nvPr/>
        </p:nvSpPr>
        <p:spPr>
          <a:xfrm>
            <a:off x="4321616" y="4400442"/>
            <a:ext cx="45937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released pretrained weights and inference code only.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0" y="3657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FaceXFormer pipeline — encoder → decoder → unified head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201168" y="4882896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ImageNet-pretrained Swin-B  ·  33.21 FPS real-time inference  ·  No face-specific pretraining</a:t>
            </a:r>
            <a:endParaRPr lang="en-US" sz="10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F51F01B5-98A7-73DF-B0B5-364BA2B80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72" y="861666"/>
            <a:ext cx="8569968" cy="3652856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79FDEE37-AECE-16AD-E29D-9447C74BF1B9}"/>
              </a:ext>
            </a:extLst>
          </p:cNvPr>
          <p:cNvSpPr txBox="1"/>
          <p:nvPr/>
        </p:nvSpPr>
        <p:spPr>
          <a:xfrm rot="16200000">
            <a:off x="-545266" y="1631070"/>
            <a:ext cx="1634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Multi-scale encoder</a:t>
            </a:r>
          </a:p>
          <a:p>
            <a:r>
              <a:rPr lang="en-US" sz="1400" dirty="0"/>
              <a:t>(Swin Transformer)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6765137-6EB3-7912-16A3-A571A79A14FF}"/>
              </a:ext>
            </a:extLst>
          </p:cNvPr>
          <p:cNvSpPr txBox="1"/>
          <p:nvPr/>
        </p:nvSpPr>
        <p:spPr>
          <a:xfrm>
            <a:off x="1913653" y="489855"/>
            <a:ext cx="124874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Projection</a:t>
            </a:r>
          </a:p>
          <a:p>
            <a:pPr algn="ctr"/>
            <a:r>
              <a:rPr lang="en-US" sz="1400" dirty="0"/>
              <a:t>and</a:t>
            </a:r>
          </a:p>
          <a:p>
            <a:pPr algn="ctr"/>
            <a:r>
              <a:rPr lang="en-US" sz="1400" dirty="0"/>
              <a:t>Concatenation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47">
            <a:extLst>
              <a:ext uri="{FF2B5EF4-FFF2-40B4-BE49-F238E27FC236}">
                <a16:creationId xmlns:a16="http://schemas.microsoft.com/office/drawing/2014/main" id="{4EEFEF1A-00F1-986E-9CD9-E725D856DF5E}"/>
              </a:ext>
            </a:extLst>
          </p:cNvPr>
          <p:cNvSpPr/>
          <p:nvPr/>
        </p:nvSpPr>
        <p:spPr>
          <a:xfrm>
            <a:off x="228099" y="962313"/>
            <a:ext cx="5376136" cy="169622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— Full Pipeline Reconstruction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371724" y="36576"/>
            <a:ext cx="26702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· How we trained · What we tested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3190" y="611908"/>
            <a:ext cx="5361045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292608" y="612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Datasets (8 tasks · 11 sets)</a:t>
            </a:r>
            <a:endParaRPr lang="en-US" sz="12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13A3A3C-3191-FD8F-2169-7D00EF8D3815}"/>
              </a:ext>
            </a:extLst>
          </p:cNvPr>
          <p:cNvGrpSpPr/>
          <p:nvPr/>
        </p:nvGrpSpPr>
        <p:grpSpPr>
          <a:xfrm>
            <a:off x="5749627" y="613530"/>
            <a:ext cx="3290837" cy="1189362"/>
            <a:chOff x="5754640" y="603504"/>
            <a:chExt cx="2834640" cy="1389888"/>
          </a:xfrm>
        </p:grpSpPr>
        <p:sp>
          <p:nvSpPr>
            <p:cNvPr id="14" name="Shape 12"/>
            <p:cNvSpPr/>
            <p:nvPr/>
          </p:nvSpPr>
          <p:spPr>
            <a:xfrm>
              <a:off x="5754640" y="603504"/>
              <a:ext cx="2834640" cy="138988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5" name="Shape 13"/>
            <p:cNvSpPr/>
            <p:nvPr/>
          </p:nvSpPr>
          <p:spPr>
            <a:xfrm>
              <a:off x="5754640" y="603504"/>
              <a:ext cx="2834640" cy="27432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 14"/>
            <p:cNvSpPr/>
            <p:nvPr/>
          </p:nvSpPr>
          <p:spPr>
            <a:xfrm>
              <a:off x="5846080" y="612648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⚖  Loss Functions (all λᵢ = 1.0)</a:t>
              </a:r>
              <a:endParaRPr lang="en-US" sz="1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846080" y="914400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 Mean of Dice &amp; CE  → Segmentation</a:t>
              </a:r>
              <a:endParaRPr lang="en-US" sz="12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846080" y="1088136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 STARLoss  → Landmark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846080" y="1261872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 Geodesic  → Head pose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846080" y="1435608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 BCE  → Attribute &amp; Visibility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846080" y="1609344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 Mean of L1 &amp; CE (decade bins)  → Age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846080" y="1783080"/>
              <a:ext cx="26517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 Cross-Entropy  → Gender / Race</a:t>
              </a:r>
              <a:endParaRPr lang="en-US" sz="1200" dirty="0"/>
            </a:p>
          </p:txBody>
        </p:sp>
      </p:grpSp>
      <p:sp>
        <p:nvSpPr>
          <p:cNvPr id="23" name="Shape 21"/>
          <p:cNvSpPr/>
          <p:nvPr/>
        </p:nvSpPr>
        <p:spPr>
          <a:xfrm>
            <a:off x="5755918" y="1923261"/>
            <a:ext cx="3289681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55919" y="1923261"/>
            <a:ext cx="328968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5847359" y="1932405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Training Infrastructure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47358" y="2270733"/>
            <a:ext cx="3241783" cy="233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 × NVIDIA A100 GPUs or 8 x NVIDIA A6000 GPUs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47359" y="2494541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20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DDP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847359" y="2711821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Total batch size = 384 · AdamW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47359" y="290188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lr = 1e-4 · decay ×0.1 @ ep 6, 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47359" y="3102837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15 epochs + per-epoch checkpoints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43139" y="2750862"/>
            <a:ext cx="3372813" cy="109407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0" name="Shape 48"/>
          <p:cNvSpPr/>
          <p:nvPr/>
        </p:nvSpPr>
        <p:spPr>
          <a:xfrm>
            <a:off x="228100" y="2740836"/>
            <a:ext cx="3372812" cy="229203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364658" y="2744967"/>
            <a:ext cx="3594233" cy="25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Data Augmentation (per Appendix F)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19540" y="2996446"/>
            <a:ext cx="3228273" cy="797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Random rotation, random scaling, random translation, random horizontal flip, random gray, random Gaussian blur, random occlusion, random gamma adjustment, random resized crop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etc.</a:t>
            </a:r>
          </a:p>
        </p:txBody>
      </p:sp>
      <p:sp>
        <p:nvSpPr>
          <p:cNvPr id="56" name="Shape 54"/>
          <p:cNvSpPr/>
          <p:nvPr/>
        </p:nvSpPr>
        <p:spPr>
          <a:xfrm>
            <a:off x="241273" y="3952418"/>
            <a:ext cx="3369346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7" name="Shape 55"/>
          <p:cNvSpPr/>
          <p:nvPr/>
        </p:nvSpPr>
        <p:spPr>
          <a:xfrm>
            <a:off x="241273" y="3952418"/>
            <a:ext cx="3369346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8" name="Text 56"/>
          <p:cNvSpPr/>
          <p:nvPr/>
        </p:nvSpPr>
        <p:spPr>
          <a:xfrm>
            <a:off x="332713" y="37070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Ablations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42441" y="428160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vs. without data augmentation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32713" y="4537634"/>
            <a:ext cx="4572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4" name="Text 62"/>
          <p:cNvSpPr/>
          <p:nvPr/>
        </p:nvSpPr>
        <p:spPr>
          <a:xfrm>
            <a:off x="442441" y="450105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vs. standard cross-attention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32713" y="4757090"/>
            <a:ext cx="4572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8" name="Text 66"/>
          <p:cNvSpPr/>
          <p:nvPr/>
        </p:nvSpPr>
        <p:spPr>
          <a:xfrm>
            <a:off x="442441" y="472051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vs. unbalanced task sampling</a:t>
            </a:r>
            <a:endParaRPr lang="en-US" sz="1200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1B781C7-089C-C486-9025-719740202BD0}"/>
              </a:ext>
            </a:extLst>
          </p:cNvPr>
          <p:cNvGrpSpPr/>
          <p:nvPr/>
        </p:nvGrpSpPr>
        <p:grpSpPr>
          <a:xfrm>
            <a:off x="5754824" y="3395165"/>
            <a:ext cx="3288833" cy="1300448"/>
            <a:chOff x="4626864" y="3866401"/>
            <a:chExt cx="4316530" cy="1064830"/>
          </a:xfrm>
        </p:grpSpPr>
        <p:sp>
          <p:nvSpPr>
            <p:cNvPr id="71" name="Shape 69"/>
            <p:cNvSpPr/>
            <p:nvPr/>
          </p:nvSpPr>
          <p:spPr>
            <a:xfrm>
              <a:off x="4626864" y="3873357"/>
              <a:ext cx="4315968" cy="10578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2" name="Shape 70"/>
            <p:cNvSpPr/>
            <p:nvPr/>
          </p:nvSpPr>
          <p:spPr>
            <a:xfrm>
              <a:off x="4627426" y="3866401"/>
              <a:ext cx="4315968" cy="274320"/>
            </a:xfrm>
            <a:prstGeom prst="rect">
              <a:avLst/>
            </a:prstGeom>
            <a:solidFill>
              <a:srgbClr val="334155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73" name="Text 71"/>
            <p:cNvSpPr/>
            <p:nvPr/>
          </p:nvSpPr>
          <p:spPr>
            <a:xfrm>
              <a:off x="4718304" y="3887944"/>
              <a:ext cx="41148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⚖  Task-Balanced Sampler</a:t>
              </a:r>
              <a:endParaRPr lang="en-US" sz="1200" dirty="0"/>
            </a:p>
          </p:txBody>
        </p:sp>
        <p:sp>
          <p:nvSpPr>
            <p:cNvPr id="74" name="Text 72"/>
            <p:cNvSpPr/>
            <p:nvPr/>
          </p:nvSpPr>
          <p:spPr>
            <a:xfrm>
              <a:off x="4718304" y="4238683"/>
              <a:ext cx="41330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 </a:t>
              </a:r>
              <a:r>
                <a:rPr lang="en-US" sz="1200" dirty="0" err="1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Upsampling</a:t>
              </a: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Equalize the representation of each task’s samples in every batch through </a:t>
              </a:r>
              <a:r>
                <a:rPr lang="en-US" sz="1200" dirty="0" err="1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upsampling</a:t>
              </a: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 </a:t>
              </a:r>
              <a:endParaRPr lang="en-US" sz="1200" dirty="0"/>
            </a:p>
          </p:txBody>
        </p:sp>
        <p:sp>
          <p:nvSpPr>
            <p:cNvPr id="76" name="Text 74"/>
            <p:cNvSpPr/>
            <p:nvPr/>
          </p:nvSpPr>
          <p:spPr>
            <a:xfrm>
              <a:off x="4718304" y="4601393"/>
              <a:ext cx="413308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 Batch size 48/GPU across 8 GPUs or 96/GPU across 4 GPUs - every batch draws from all active tasks</a:t>
              </a:r>
              <a:endParaRPr lang="en-US" sz="1200" dirty="0"/>
            </a:p>
          </p:txBody>
        </p:sp>
      </p:grpSp>
      <p:sp>
        <p:nvSpPr>
          <p:cNvPr id="77" name="Shape 61">
            <a:extLst>
              <a:ext uri="{FF2B5EF4-FFF2-40B4-BE49-F238E27FC236}">
                <a16:creationId xmlns:a16="http://schemas.microsoft.com/office/drawing/2014/main" id="{34E5D012-2200-31C8-9368-90B92952CABA}"/>
              </a:ext>
            </a:extLst>
          </p:cNvPr>
          <p:cNvSpPr/>
          <p:nvPr/>
        </p:nvSpPr>
        <p:spPr>
          <a:xfrm>
            <a:off x="338153" y="4309035"/>
            <a:ext cx="4572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756346-FDEC-59E5-8F0C-128431FA927F}"/>
              </a:ext>
            </a:extLst>
          </p:cNvPr>
          <p:cNvSpPr txBox="1"/>
          <p:nvPr/>
        </p:nvSpPr>
        <p:spPr>
          <a:xfrm>
            <a:off x="245645" y="916453"/>
            <a:ext cx="2412905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Train: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 err="1">
                <a:ea typeface="+mn-lt"/>
                <a:cs typeface="+mn-lt"/>
              </a:rPr>
              <a:t>CelebAMaskHQ</a:t>
            </a:r>
            <a:r>
              <a:rPr lang="en-US" sz="1200" dirty="0">
                <a:ea typeface="+mn-lt"/>
                <a:cs typeface="+mn-lt"/>
              </a:rPr>
              <a:t> for Face Parsing, 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300W for Landmarks Detection,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300W-LP for Head Pose Estimation, 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 err="1">
                <a:ea typeface="+mn-lt"/>
                <a:cs typeface="+mn-lt"/>
              </a:rPr>
              <a:t>CelebA</a:t>
            </a:r>
            <a:r>
              <a:rPr lang="en-US" sz="1200" dirty="0">
                <a:ea typeface="+mn-lt"/>
                <a:cs typeface="+mn-lt"/>
              </a:rPr>
              <a:t> for Attributes Prediction, 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 err="1">
                <a:ea typeface="+mn-lt"/>
                <a:cs typeface="+mn-lt"/>
              </a:rPr>
              <a:t>UTKFace</a:t>
            </a:r>
            <a:r>
              <a:rPr lang="en-US" sz="1200" dirty="0">
                <a:ea typeface="+mn-lt"/>
                <a:cs typeface="+mn-lt"/>
              </a:rPr>
              <a:t> and </a:t>
            </a:r>
            <a:r>
              <a:rPr lang="en-US" sz="1200" dirty="0" err="1">
                <a:ea typeface="+mn-lt"/>
                <a:cs typeface="+mn-lt"/>
              </a:rPr>
              <a:t>FairFace</a:t>
            </a:r>
            <a:r>
              <a:rPr lang="en-US" sz="1200" dirty="0">
                <a:ea typeface="+mn-lt"/>
                <a:cs typeface="+mn-lt"/>
              </a:rPr>
              <a:t> for Age/Gender/Race estimation, 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COFW for Visibility Prediction.</a:t>
            </a:r>
          </a:p>
          <a:p>
            <a:pPr marL="171450" indent="-171450">
              <a:buFont typeface="Arial"/>
              <a:buChar char="•"/>
            </a:pPr>
            <a:endParaRPr lang="en-US" sz="1200" dirty="0">
              <a:ea typeface="Calibri"/>
              <a:cs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49A516-9156-EEDA-5564-11E54D8B7273}"/>
              </a:ext>
            </a:extLst>
          </p:cNvPr>
          <p:cNvSpPr txBox="1"/>
          <p:nvPr/>
        </p:nvSpPr>
        <p:spPr>
          <a:xfrm>
            <a:off x="2702091" y="886374"/>
            <a:ext cx="3000728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Test: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 err="1">
                <a:ea typeface="+mn-lt"/>
                <a:cs typeface="+mn-lt"/>
              </a:rPr>
              <a:t>CelebAMaskHQ</a:t>
            </a:r>
            <a:r>
              <a:rPr lang="en-US" sz="1200" dirty="0">
                <a:ea typeface="+mn-lt"/>
                <a:cs typeface="+mn-lt"/>
              </a:rPr>
              <a:t> for Face Parsing, 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300W and 300VW for Landmarks Detection, </a:t>
            </a:r>
            <a:endParaRPr lang="en-US" sz="1200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BIWI for Head Pose Estimation, 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 err="1">
                <a:ea typeface="+mn-lt"/>
                <a:cs typeface="+mn-lt"/>
              </a:rPr>
              <a:t>CelebA</a:t>
            </a:r>
            <a:r>
              <a:rPr lang="en-US" sz="1200" dirty="0">
                <a:ea typeface="+mn-lt"/>
                <a:cs typeface="+mn-lt"/>
              </a:rPr>
              <a:t> and LFWA for Attributes Prediction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 err="1">
                <a:ea typeface="+mn-lt"/>
                <a:cs typeface="+mn-lt"/>
              </a:rPr>
              <a:t>UTKFace</a:t>
            </a:r>
            <a:r>
              <a:rPr lang="en-US" sz="1200" dirty="0">
                <a:ea typeface="+mn-lt"/>
                <a:cs typeface="+mn-lt"/>
              </a:rPr>
              <a:t>, MORPH-II and </a:t>
            </a:r>
            <a:r>
              <a:rPr lang="en-US" sz="1200" dirty="0" err="1">
                <a:ea typeface="+mn-lt"/>
                <a:cs typeface="+mn-lt"/>
              </a:rPr>
              <a:t>FairFace</a:t>
            </a:r>
            <a:r>
              <a:rPr lang="en-US" sz="1200" dirty="0">
                <a:ea typeface="+mn-lt"/>
                <a:cs typeface="+mn-lt"/>
              </a:rPr>
              <a:t> for Age/Gender/Race Estimation, </a:t>
            </a:r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COFW for Visibility Prediction</a:t>
            </a:r>
          </a:p>
          <a:p>
            <a:pPr marL="171450" indent="-171450">
              <a:buFont typeface="Arial"/>
              <a:buChar char="•"/>
            </a:pPr>
            <a:endParaRPr lang="en-US" sz="1200" dirty="0">
              <a:ea typeface="Calibri"/>
              <a:cs typeface="Calibri"/>
            </a:endParaRPr>
          </a:p>
        </p:txBody>
      </p:sp>
      <p:sp>
        <p:nvSpPr>
          <p:cNvPr id="9" name="Text 49">
            <a:extLst>
              <a:ext uri="{FF2B5EF4-FFF2-40B4-BE49-F238E27FC236}">
                <a16:creationId xmlns:a16="http://schemas.microsoft.com/office/drawing/2014/main" id="{8378CE96-D1A8-2E50-7800-66FC6F642B75}"/>
              </a:ext>
            </a:extLst>
          </p:cNvPr>
          <p:cNvSpPr/>
          <p:nvPr/>
        </p:nvSpPr>
        <p:spPr>
          <a:xfrm>
            <a:off x="361517" y="3972025"/>
            <a:ext cx="3594233" cy="251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vs. Code: Gap Analysis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0" y="3657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critical reproducibility findings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48640"/>
            <a:ext cx="8714232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548640"/>
            <a:ext cx="173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064" y="548640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57984" y="548640"/>
            <a:ext cx="236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Claims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01142" y="54864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Reality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" y="868679"/>
            <a:ext cx="8732520" cy="90003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1168" y="868680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94183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Scope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39" y="923544"/>
            <a:ext cx="324503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tasks: parsing, landmark, headpose, attribute, age, gender, race, visibility, expression, face recognition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91998" y="923544"/>
            <a:ext cx="324110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tasks only - facial expression recognition and face recognition completely absent from released checkpoint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1168" y="1823577"/>
            <a:ext cx="873252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201168" y="1823577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1896729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Token Count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1878441"/>
            <a:ext cx="30817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seg tokens · 68 landmark tokens · 9 headpose tokens (3×3 rotation matrix) · 1 for each other task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91998" y="1878441"/>
            <a:ext cx="2532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11 seg tokens implemented. 1 token for each other task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01168" y="2759095"/>
            <a:ext cx="87325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201168" y="2696829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2759095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Head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48839" y="2740807"/>
            <a:ext cx="293478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Hourglass network on 68 task tokens - explicitly stated in Section 3.3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91998" y="2740807"/>
            <a:ext cx="2532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MLP head. No hourglass network anywhere in codebase.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01168" y="3570732"/>
            <a:ext cx="8732520" cy="740664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201168" y="3488436"/>
            <a:ext cx="228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356158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Coefficients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48840" y="3543300"/>
            <a:ext cx="29347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Σ λᵢLᵢ across all tasks. No λᵢ values given anywhere in paper or appendix.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91997" y="3543300"/>
            <a:ext cx="286075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loss implementation at all. Email to authors confirmed: all λᵢ = 1.0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01168" y="4261104"/>
            <a:ext cx="8732520" cy="45241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400"/>
          </a:p>
        </p:txBody>
      </p:sp>
      <p:sp>
        <p:nvSpPr>
          <p:cNvPr id="40" name="Text 38"/>
          <p:cNvSpPr/>
          <p:nvPr/>
        </p:nvSpPr>
        <p:spPr>
          <a:xfrm>
            <a:off x="329184" y="4330121"/>
            <a:ext cx="8503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Epoch ambiguity: paper states "3 extra epochs for some tasks" — those tasks never specified anywhere. We trained for 15 epochs for all tasks.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Verification — Released Checkpoint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0" y="3657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only on released weights · Results are FINAL ✓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0" y="566928"/>
            <a:ext cx="2075688" cy="256032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6858000" y="566928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FINAL RESULTS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548640"/>
            <a:ext cx="8714232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256032" y="548640"/>
            <a:ext cx="905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54864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88336" y="54864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9584" y="548640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Target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16552" y="548640"/>
            <a:ext cx="1014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Our Value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22976" y="548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28816" y="548640"/>
            <a:ext cx="859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" y="868680"/>
            <a:ext cx="8732520" cy="384048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56032" y="905256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61872" y="90525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CelebAMaskHQ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88336" y="90525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9584" y="90525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92.01%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16552" y="905256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91.77%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22976" y="90525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28816" y="923544"/>
            <a:ext cx="23317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528816" y="92354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01168" y="1252728"/>
            <a:ext cx="8732520" cy="384048"/>
          </a:xfrm>
          <a:prstGeom prst="rect">
            <a:avLst/>
          </a:prstGeom>
          <a:solidFill>
            <a:srgbClr val="FEF3C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256032" y="128930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61872" y="128930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88336" y="128930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NME (%)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9584" y="128930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16552" y="1289304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22976" y="128930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+3.7%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28816" y="1307592"/>
            <a:ext cx="2331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528816" y="13075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GAP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01168" y="1636776"/>
            <a:ext cx="8732520" cy="384048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256032" y="167335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Headpose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61872" y="167335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88336" y="1673352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(deg)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29584" y="167335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3.52°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16552" y="1673352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21.86°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22976" y="16733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+18.34°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528816" y="1691640"/>
            <a:ext cx="23317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6528816" y="16916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GAP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01168" y="2020824"/>
            <a:ext cx="8732520" cy="384048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256032" y="2057400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61872" y="205740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688336" y="2057400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(%)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529584" y="2057400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91.83%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16552" y="205740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91.74%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522976" y="20574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528816" y="2075688"/>
            <a:ext cx="23317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6528816" y="20756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01168" y="2404872"/>
            <a:ext cx="8732520" cy="384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256032" y="2441448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61872" y="2441448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UTKFace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688336" y="244144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(yrs)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529584" y="2441448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4.17yr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416552" y="2441448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4.73yr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522976" y="24414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+0.56yr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01168" y="2788920"/>
            <a:ext cx="8732520" cy="3840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61" name="Text 59"/>
          <p:cNvSpPr/>
          <p:nvPr/>
        </p:nvSpPr>
        <p:spPr>
          <a:xfrm>
            <a:off x="256032" y="2825496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261872" y="2825496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FairFace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688336" y="282549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(%)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529584" y="2825496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95.22%</a:t>
            </a:r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416552" y="2825496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93.07%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522976" y="282549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ea typeface="Calibri"/>
                <a:cs typeface="Calibri"/>
              </a:rPr>
              <a:t>-2.15%</a:t>
            </a:r>
          </a:p>
        </p:txBody>
      </p:sp>
      <p:sp>
        <p:nvSpPr>
          <p:cNvPr id="68" name="Text 66"/>
          <p:cNvSpPr/>
          <p:nvPr/>
        </p:nvSpPr>
        <p:spPr>
          <a:xfrm>
            <a:off x="6528816" y="28437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TARET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01168" y="3172968"/>
            <a:ext cx="8732520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0" name="Text 68"/>
          <p:cNvSpPr/>
          <p:nvPr/>
        </p:nvSpPr>
        <p:spPr>
          <a:xfrm>
            <a:off x="256032" y="32095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261872" y="3209544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UTKFace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2688336" y="3209544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(%)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529584" y="3209544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416552" y="3209544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97.95%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522976" y="32095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528816" y="3227832"/>
            <a:ext cx="233172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7" name="Text 75"/>
          <p:cNvSpPr/>
          <p:nvPr/>
        </p:nvSpPr>
        <p:spPr>
          <a:xfrm>
            <a:off x="6528816" y="3227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TARGET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01168" y="3557016"/>
            <a:ext cx="8732520" cy="384048"/>
          </a:xfrm>
          <a:prstGeom prst="rect">
            <a:avLst/>
          </a:prstGeom>
          <a:solidFill>
            <a:srgbClr val="EFF6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79" name="Text 77"/>
          <p:cNvSpPr/>
          <p:nvPr/>
        </p:nvSpPr>
        <p:spPr>
          <a:xfrm>
            <a:off x="256032" y="359359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1261872" y="359359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COFW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2596896" y="3593592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Recall@P80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3529584" y="3593592"/>
            <a:ext cx="795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72.56%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4416552" y="3593592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87.13%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5522976" y="359359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+14.57%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6528816" y="3611880"/>
            <a:ext cx="2331720" cy="274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 sz="1200"/>
          </a:p>
        </p:txBody>
      </p:sp>
      <p:sp>
        <p:nvSpPr>
          <p:cNvPr id="86" name="Text 84"/>
          <p:cNvSpPr/>
          <p:nvPr/>
        </p:nvSpPr>
        <p:spPr>
          <a:xfrm>
            <a:off x="6528816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PAPER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201168" y="4892040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Headpose gap likely a unit/normalization issue.</a:t>
            </a:r>
            <a:endParaRPr lang="en-US" sz="1000" dirty="0"/>
          </a:p>
        </p:txBody>
      </p:sp>
      <p:sp>
        <p:nvSpPr>
          <p:cNvPr id="89" name="Shape 56">
            <a:extLst>
              <a:ext uri="{FF2B5EF4-FFF2-40B4-BE49-F238E27FC236}">
                <a16:creationId xmlns:a16="http://schemas.microsoft.com/office/drawing/2014/main" id="{DE07A099-D371-A593-28AD-8A021678B6C9}"/>
              </a:ext>
            </a:extLst>
          </p:cNvPr>
          <p:cNvSpPr/>
          <p:nvPr/>
        </p:nvSpPr>
        <p:spPr>
          <a:xfrm>
            <a:off x="6534176" y="2851076"/>
            <a:ext cx="23317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GAP</a:t>
            </a:r>
            <a:endParaRPr lang="en-US" sz="1200" dirty="0"/>
          </a:p>
        </p:txBody>
      </p:sp>
      <p:sp>
        <p:nvSpPr>
          <p:cNvPr id="92" name="Text 84">
            <a:extLst>
              <a:ext uri="{FF2B5EF4-FFF2-40B4-BE49-F238E27FC236}">
                <a16:creationId xmlns:a16="http://schemas.microsoft.com/office/drawing/2014/main" id="{30353A5D-DBEA-37DF-5AA9-1E9E32DCD7DB}"/>
              </a:ext>
            </a:extLst>
          </p:cNvPr>
          <p:cNvSpPr/>
          <p:nvPr/>
        </p:nvSpPr>
        <p:spPr>
          <a:xfrm>
            <a:off x="6530390" y="246338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8" name="Shape 47">
            <a:extLst>
              <a:ext uri="{FF2B5EF4-FFF2-40B4-BE49-F238E27FC236}">
                <a16:creationId xmlns:a16="http://schemas.microsoft.com/office/drawing/2014/main" id="{A863C8E7-798B-AA9E-5D60-58E88C4DE138}"/>
              </a:ext>
            </a:extLst>
          </p:cNvPr>
          <p:cNvSpPr/>
          <p:nvPr/>
        </p:nvSpPr>
        <p:spPr>
          <a:xfrm>
            <a:off x="6534176" y="2478024"/>
            <a:ext cx="23317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36576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8-Task Training Results vs. Paper Targets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0" y="3657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trained model · 12 epochs · 8×A100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01168" y="548640"/>
            <a:ext cx="8732520" cy="347472"/>
          </a:xfrm>
          <a:prstGeom prst="rect">
            <a:avLst/>
          </a:prstGeom>
          <a:solidFill>
            <a:srgbClr val="FFF7ED"/>
          </a:solidFill>
          <a:ln w="9525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" y="557784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PRELIMINARY — Bug identified in training code for Landmark, Headpose, and Age tasks. These rows are under investigation. Retraining in progress. Other tasks will be mildly affected.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03346" y="1236726"/>
            <a:ext cx="6205983" cy="30153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35532" y="1236726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41372" y="1236726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86124" y="123672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27372" y="123672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Target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96052" y="1236726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Result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6476" y="125033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Gap</a:t>
            </a:r>
            <a:endParaRPr lang="en-US" sz="10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07C4CA1-351E-15FA-6B86-47FA47081777}"/>
              </a:ext>
            </a:extLst>
          </p:cNvPr>
          <p:cNvGrpSpPr/>
          <p:nvPr/>
        </p:nvGrpSpPr>
        <p:grpSpPr>
          <a:xfrm>
            <a:off x="1280669" y="1615585"/>
            <a:ext cx="8668439" cy="2377443"/>
            <a:chOff x="201168" y="1252728"/>
            <a:chExt cx="8659368" cy="2445283"/>
          </a:xfrm>
        </p:grpSpPr>
        <p:sp>
          <p:nvSpPr>
            <p:cNvPr id="15" name="Shape 13"/>
            <p:cNvSpPr/>
            <p:nvPr/>
          </p:nvSpPr>
          <p:spPr>
            <a:xfrm>
              <a:off x="223846" y="1252728"/>
              <a:ext cx="6206128" cy="347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292608" y="1289304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Segmentation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261872" y="1289304"/>
              <a:ext cx="13533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CelebAMaskHQ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706624" y="1289304"/>
              <a:ext cx="74980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F1 (%)</a:t>
              </a:r>
              <a:endParaRPr lang="en-US" sz="10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547872" y="1289304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92.01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416552" y="1289304"/>
              <a:ext cx="10149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85.91</a:t>
              </a:r>
              <a:endParaRPr lang="en-US" sz="11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522976" y="128930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−6.1%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528816" y="1298448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CLOSE</a:t>
              </a:r>
              <a:endParaRPr lang="en-US" sz="10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223846" y="1600200"/>
              <a:ext cx="6206128" cy="347472"/>
            </a:xfrm>
            <a:prstGeom prst="rect">
              <a:avLst/>
            </a:prstGeom>
            <a:solidFill>
              <a:srgbClr val="FFF7ED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3"/>
            <p:cNvSpPr/>
            <p:nvPr/>
          </p:nvSpPr>
          <p:spPr>
            <a:xfrm>
              <a:off x="201168" y="1600200"/>
              <a:ext cx="50292" cy="347472"/>
            </a:xfrm>
            <a:prstGeom prst="rect">
              <a:avLst/>
            </a:prstGeom>
            <a:solidFill>
              <a:srgbClr val="C2410C"/>
            </a:solidFill>
            <a:ln w="12700">
              <a:solidFill>
                <a:srgbClr val="C2410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292608" y="1636776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Landmark</a:t>
              </a:r>
              <a:endParaRPr lang="en-US" sz="11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261872" y="1636776"/>
              <a:ext cx="13533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300W</a:t>
              </a:r>
              <a:endParaRPr lang="en-US" sz="10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2706624" y="1636776"/>
              <a:ext cx="74980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NME (%)</a:t>
              </a:r>
              <a:endParaRPr lang="en-US" sz="1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547872" y="1636776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4.67</a:t>
              </a:r>
              <a:endParaRPr lang="en-US" sz="11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416552" y="1636776"/>
              <a:ext cx="10149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C241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0.0117</a:t>
              </a:r>
              <a:endParaRPr lang="en-US" sz="11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5522976" y="1636776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BUG</a:t>
              </a:r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528816" y="1645920"/>
              <a:ext cx="23317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BUG ⚠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223846" y="1947672"/>
              <a:ext cx="6201593" cy="347472"/>
            </a:xfrm>
            <a:prstGeom prst="rect">
              <a:avLst/>
            </a:prstGeom>
            <a:solidFill>
              <a:srgbClr val="FFF7ED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33"/>
            <p:cNvSpPr/>
            <p:nvPr/>
          </p:nvSpPr>
          <p:spPr>
            <a:xfrm>
              <a:off x="201168" y="1947672"/>
              <a:ext cx="50292" cy="347472"/>
            </a:xfrm>
            <a:prstGeom prst="rect">
              <a:avLst/>
            </a:prstGeom>
            <a:solidFill>
              <a:srgbClr val="C2410C"/>
            </a:solidFill>
            <a:ln w="12700">
              <a:solidFill>
                <a:srgbClr val="C2410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34"/>
            <p:cNvSpPr/>
            <p:nvPr/>
          </p:nvSpPr>
          <p:spPr>
            <a:xfrm>
              <a:off x="292608" y="1984248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Headpose</a:t>
              </a:r>
              <a:endParaRPr lang="en-US" sz="110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1261872" y="1984248"/>
              <a:ext cx="13533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BIWI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2706624" y="1984248"/>
              <a:ext cx="74980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MAE (deg)</a:t>
              </a:r>
              <a:endParaRPr lang="en-US" sz="100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3547872" y="1984248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3.52</a:t>
              </a:r>
              <a:endParaRPr lang="en-US" sz="11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4416552" y="1984248"/>
              <a:ext cx="10149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C241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0.379</a:t>
              </a:r>
              <a:endParaRPr lang="en-US" sz="11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5522976" y="1984248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BUG</a:t>
              </a:r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223846" y="2295144"/>
              <a:ext cx="6206128" cy="347472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 43"/>
            <p:cNvSpPr/>
            <p:nvPr/>
          </p:nvSpPr>
          <p:spPr>
            <a:xfrm>
              <a:off x="292608" y="2331720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Attribute</a:t>
              </a:r>
              <a:endParaRPr lang="en-US" sz="11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1261872" y="2331720"/>
              <a:ext cx="13533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CelebA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2706624" y="2331720"/>
              <a:ext cx="74980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 (%)</a:t>
              </a:r>
              <a:endParaRPr lang="en-US" sz="10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3547872" y="2331720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91.83</a:t>
              </a:r>
              <a:endParaRPr lang="en-US" sz="11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4416552" y="2331720"/>
              <a:ext cx="10149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91.27</a:t>
              </a:r>
              <a:endParaRPr lang="en-US" sz="11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5522976" y="2331720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−0.56%</a:t>
              </a:r>
              <a:endParaRPr lang="en-US" sz="110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223846" y="2642616"/>
              <a:ext cx="6206128" cy="347472"/>
            </a:xfrm>
            <a:prstGeom prst="rect">
              <a:avLst/>
            </a:prstGeom>
            <a:solidFill>
              <a:srgbClr val="FFF7ED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Shape 52"/>
            <p:cNvSpPr/>
            <p:nvPr/>
          </p:nvSpPr>
          <p:spPr>
            <a:xfrm>
              <a:off x="201168" y="2642616"/>
              <a:ext cx="50292" cy="347472"/>
            </a:xfrm>
            <a:prstGeom prst="rect">
              <a:avLst/>
            </a:prstGeom>
            <a:solidFill>
              <a:srgbClr val="C2410C"/>
            </a:solidFill>
            <a:ln w="12700">
              <a:solidFill>
                <a:srgbClr val="C2410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292608" y="267919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Age</a:t>
              </a:r>
              <a:endParaRPr lang="en-US" sz="11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261872" y="2679192"/>
              <a:ext cx="13533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UTKFace</a:t>
              </a:r>
              <a:endParaRPr lang="en-US" sz="10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2706624" y="2679192"/>
              <a:ext cx="74980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MAE (yrs)</a:t>
              </a:r>
              <a:endParaRPr lang="en-US" sz="10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3547872" y="2679192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4.17</a:t>
              </a:r>
              <a:endParaRPr lang="en-US" sz="11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4416552" y="2679192"/>
              <a:ext cx="10149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C2410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35.27</a:t>
              </a:r>
              <a:endParaRPr lang="en-US" sz="11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5522976" y="2679192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BUG</a:t>
              </a:r>
              <a:endParaRPr lang="en-US" sz="1100" dirty="0">
                <a:solidFill>
                  <a:srgbClr val="FF0000"/>
                </a:solidFill>
              </a:endParaRPr>
            </a:p>
          </p:txBody>
        </p:sp>
        <p:sp>
          <p:nvSpPr>
            <p:cNvPr id="63" name="Shape 61"/>
            <p:cNvSpPr/>
            <p:nvPr/>
          </p:nvSpPr>
          <p:spPr>
            <a:xfrm>
              <a:off x="223846" y="2990088"/>
              <a:ext cx="6201593" cy="347472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62"/>
            <p:cNvSpPr/>
            <p:nvPr/>
          </p:nvSpPr>
          <p:spPr>
            <a:xfrm>
              <a:off x="292608" y="3026664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Gender</a:t>
              </a:r>
              <a:endParaRPr lang="en-US" sz="11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1261872" y="3026664"/>
              <a:ext cx="13533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 err="1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FairFace</a:t>
              </a:r>
              <a:endParaRPr lang="en-US" sz="10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2706624" y="3026664"/>
              <a:ext cx="74980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 (%)</a:t>
              </a:r>
              <a:endParaRPr lang="en-US" sz="10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3547872" y="3026664"/>
              <a:ext cx="777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95.22</a:t>
              </a:r>
              <a:endParaRPr lang="en-US" sz="11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4416552" y="3026664"/>
              <a:ext cx="1014984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</a:t>
              </a:r>
              <a:endParaRPr lang="en-US" sz="11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5522976" y="3026664"/>
              <a:ext cx="914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+4.78%</a:t>
              </a:r>
              <a:endParaRPr lang="en-US" sz="1100" dirty="0"/>
            </a:p>
          </p:txBody>
        </p:sp>
        <p:sp>
          <p:nvSpPr>
            <p:cNvPr id="81" name="Shape 79"/>
            <p:cNvSpPr/>
            <p:nvPr/>
          </p:nvSpPr>
          <p:spPr>
            <a:xfrm>
              <a:off x="223846" y="3350538"/>
              <a:ext cx="6206128" cy="347473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80"/>
            <p:cNvSpPr/>
            <p:nvPr/>
          </p:nvSpPr>
          <p:spPr>
            <a:xfrm>
              <a:off x="292608" y="3387123"/>
              <a:ext cx="868680" cy="2743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Visibility</a:t>
              </a:r>
              <a:endParaRPr lang="en-US" sz="1100" dirty="0"/>
            </a:p>
          </p:txBody>
        </p:sp>
        <p:sp>
          <p:nvSpPr>
            <p:cNvPr id="83" name="Text 81"/>
            <p:cNvSpPr/>
            <p:nvPr/>
          </p:nvSpPr>
          <p:spPr>
            <a:xfrm>
              <a:off x="1261872" y="3387123"/>
              <a:ext cx="1353312" cy="2743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COFW</a:t>
              </a:r>
              <a:endParaRPr lang="en-US" sz="1000" dirty="0"/>
            </a:p>
          </p:txBody>
        </p:sp>
        <p:sp>
          <p:nvSpPr>
            <p:cNvPr id="84" name="Text 82"/>
            <p:cNvSpPr/>
            <p:nvPr/>
          </p:nvSpPr>
          <p:spPr>
            <a:xfrm>
              <a:off x="2706624" y="3387123"/>
              <a:ext cx="833846" cy="2743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Recall@P80 (%)</a:t>
              </a:r>
              <a:endParaRPr lang="en-US" sz="1000" dirty="0"/>
            </a:p>
          </p:txBody>
        </p:sp>
        <p:sp>
          <p:nvSpPr>
            <p:cNvPr id="85" name="Text 83"/>
            <p:cNvSpPr/>
            <p:nvPr/>
          </p:nvSpPr>
          <p:spPr>
            <a:xfrm>
              <a:off x="3547872" y="3387123"/>
              <a:ext cx="777240" cy="2743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72.56</a:t>
              </a:r>
              <a:endParaRPr lang="en-US" sz="1100" dirty="0"/>
            </a:p>
          </p:txBody>
        </p:sp>
        <p:sp>
          <p:nvSpPr>
            <p:cNvPr id="86" name="Text 84"/>
            <p:cNvSpPr/>
            <p:nvPr/>
          </p:nvSpPr>
          <p:spPr>
            <a:xfrm>
              <a:off x="4416552" y="3387123"/>
              <a:ext cx="1014984" cy="2743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99.25</a:t>
              </a:r>
              <a:endParaRPr lang="en-US" sz="1100" dirty="0"/>
            </a:p>
          </p:txBody>
        </p:sp>
        <p:sp>
          <p:nvSpPr>
            <p:cNvPr id="87" name="Text 85"/>
            <p:cNvSpPr/>
            <p:nvPr/>
          </p:nvSpPr>
          <p:spPr>
            <a:xfrm>
              <a:off x="5522976" y="3387123"/>
              <a:ext cx="914400" cy="2743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3341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+26.7%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Reveals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4048" y="14916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findings from end-to-end FaceXFormer reconstruction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839168"/>
            <a:ext cx="8357616" cy="9601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839168"/>
            <a:ext cx="50292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8940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9306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≠ Reproducibility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24150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Releasing pretrained weights alone is insufficient. No training loop, no dataloaders, no loss implementations, no multi-task sampler were provided. The unit of reproducibility is the complete training pipeline.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4425696"/>
            <a:ext cx="8357616" cy="42062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4425696"/>
            <a:ext cx="8357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FaceXFormer's architecture holds up. Its paper does not fully support independent reproduction.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1362</Words>
  <Application>Microsoft Office PowerPoint</Application>
  <PresentationFormat>On-screen Show (16:9)</PresentationFormat>
  <Paragraphs>266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Preetom Saha Arko</cp:lastModifiedBy>
  <cp:revision>145</cp:revision>
  <dcterms:created xsi:type="dcterms:W3CDTF">2026-04-28T03:27:29Z</dcterms:created>
  <dcterms:modified xsi:type="dcterms:W3CDTF">2026-04-30T19:01:57Z</dcterms:modified>
</cp:coreProperties>
</file>